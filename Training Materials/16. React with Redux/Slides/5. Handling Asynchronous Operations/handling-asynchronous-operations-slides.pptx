
<file path=[Content_Types].xml><?xml version="1.0" encoding="utf-8"?>
<Types xmlns="http://schemas.openxmlformats.org/package/2006/content-types"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60" r:id="rId5"/>
    <p:sldId id="272" r:id="rId6"/>
    <p:sldId id="259" r:id="rId7"/>
    <p:sldId id="264" r:id="rId8"/>
    <p:sldId id="263" r:id="rId9"/>
    <p:sldId id="271" r:id="rId10"/>
    <p:sldId id="268" r:id="rId11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36" d="100"/>
          <a:sy n="36" d="100"/>
        </p:scale>
        <p:origin x="1140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39AE41-6E72-4A24-A266-1879CE137EAD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6FD7A7-9EE9-43C4-AE8D-5516C6DA394F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bg object 17"/>
          <p:cNvSpPr/>
          <p:nvPr/>
        </p:nvSpPr>
        <p:spPr>
          <a:xfrm>
            <a:off x="6913880" y="703581"/>
            <a:ext cx="0" cy="8879840"/>
          </a:xfrm>
          <a:custGeom>
            <a:avLst/>
            <a:gdLst/>
            <a:ahLst/>
            <a:cxnLst/>
            <a:rect l="l" t="t" r="r" b="b"/>
            <a:pathLst>
              <a:path h="8879840">
                <a:moveTo>
                  <a:pt x="0" y="0"/>
                </a:moveTo>
                <a:lnTo>
                  <a:pt x="1" y="8879842"/>
                </a:lnTo>
              </a:path>
            </a:pathLst>
          </a:custGeom>
          <a:ln w="50800">
            <a:solidFill>
              <a:srgbClr val="F15B2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686040" y="3136899"/>
            <a:ext cx="5182870" cy="31222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15B2A"/>
                </a:solidFill>
                <a:latin typeface="Arial Black" panose="020B0A04020102020204"/>
                <a:cs typeface="Arial Black" panose="020B0A040201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51BD68-DA8D-4AA8-87F1-91C168BA370A}" type="datetime1">
              <a:rPr lang="en-US" smtClean="0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rgbClr val="F15B2A"/>
                </a:solidFill>
                <a:latin typeface="Arial Black" panose="020B0A04020102020204"/>
                <a:cs typeface="Arial Black" panose="020B0A040201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E994FB-CC5E-43BF-83B4-444AAB3E53DB}" type="datetime1">
              <a:rPr lang="en-US" smtClean="0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374A6C-E57C-46BA-8C72-6F4877181ADC}" type="datetime1">
              <a:rPr lang="en-US" smtClean="0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9C0C1F-3C31-4E53-87B9-BE35C2C9E1C0}" type="datetime1">
              <a:rPr lang="en-US" smtClean="0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88E0E2-AC2F-4AD5-BB1C-918015B6CAAF}" type="datetime1">
              <a:rPr lang="en-US" smtClean="0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6999"/>
                </a:lnTo>
                <a:lnTo>
                  <a:pt x="18288000" y="10286999"/>
                </a:lnTo>
                <a:lnTo>
                  <a:pt x="18288000" y="0"/>
                </a:lnTo>
                <a:close/>
              </a:path>
            </a:pathLst>
          </a:custGeom>
          <a:solidFill>
            <a:srgbClr val="2A9F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84505" y="3740403"/>
            <a:ext cx="11718988" cy="23930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454265" y="4331715"/>
            <a:ext cx="8665210" cy="24485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15B2A"/>
                </a:solidFill>
                <a:latin typeface="Arial Black" panose="020B0A04020102020204"/>
                <a:cs typeface="Arial Black" panose="020B0A040201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8991DE-1AD3-462C-A4DC-4EC4919A7E91}" type="datetime1">
              <a:rPr lang="en-US" smtClean="0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GI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92820" y="4510975"/>
            <a:ext cx="16066010" cy="5715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74876" y="3543046"/>
            <a:ext cx="12164924" cy="704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  <a:buClrTx/>
              <a:buSzTx/>
              <a:buFontTx/>
            </a:pPr>
            <a:r>
              <a:rPr lang="en-US" altLang="en-US" sz="450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Tahoma" panose="020B0604030504040204"/>
                <a:ea typeface="Arial" panose="020B0604020202020204" pitchFamily="34" charset="0"/>
                <a:cs typeface="Tahoma" panose="020B0604030504040204"/>
              </a:rPr>
              <a:t>Handling Asynchronous Operations</a:t>
            </a:r>
            <a:endParaRPr lang="en-US" altLang="en-US" sz="450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Tahoma" panose="020B0604030504040204"/>
              <a:ea typeface="Arial" panose="020B0604020202020204" pitchFamily="34" charset="0"/>
              <a:cs typeface="Tahoma" panose="020B0604030504040204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1600" y="4693285"/>
            <a:ext cx="6743065" cy="1612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en-US" sz="5200">
                <a:latin typeface="Tahoma" panose="020B0604030504040204"/>
                <a:cs typeface="Tahoma" panose="020B0604030504040204"/>
              </a:rPr>
              <a:t>Redux flow without Thunk </a:t>
            </a:r>
            <a:endParaRPr lang="en-US" altLang="en-US" sz="52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</a:fld>
            <a:endParaRPr lang="en-IN"/>
          </a:p>
        </p:txBody>
      </p:sp>
      <p:sp>
        <p:nvSpPr>
          <p:cNvPr id="4" name="Title 3"/>
          <p:cNvSpPr/>
          <p:nvPr>
            <p:ph type="ctrTitle"/>
          </p:nvPr>
        </p:nvSpPr>
        <p:spPr/>
        <p:txBody>
          <a:bodyPr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9000" y="3162300"/>
            <a:ext cx="10740390" cy="41205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1600" y="4693285"/>
            <a:ext cx="6743065" cy="1612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en-US" sz="5200">
                <a:latin typeface="Tahoma" panose="020B0604030504040204"/>
                <a:cs typeface="Tahoma" panose="020B0604030504040204"/>
              </a:rPr>
              <a:t>Redux Flow with Thunk</a:t>
            </a:r>
            <a:endParaRPr lang="en-US" altLang="en-US" sz="52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</a:fld>
            <a:endParaRPr lang="en-IN"/>
          </a:p>
        </p:txBody>
      </p:sp>
      <p:sp>
        <p:nvSpPr>
          <p:cNvPr id="4" name="Title 3"/>
          <p:cNvSpPr/>
          <p:nvPr>
            <p:ph type="ctrTitle"/>
          </p:nvPr>
        </p:nvSpPr>
        <p:spPr/>
        <p:txBody>
          <a:bodyPr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10600" y="571500"/>
            <a:ext cx="7441565" cy="9182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29285" y="114553"/>
            <a:ext cx="11718988" cy="1203325"/>
          </a:xfrm>
          <a:prstGeom prst="rect">
            <a:avLst/>
          </a:prstGeom>
        </p:spPr>
        <p:txBody>
          <a:bodyPr vert="horz" wrap="square" lIns="0" tIns="526796" rIns="0" bIns="0" rtlCol="0">
            <a:spAutoFit/>
          </a:bodyPr>
          <a:lstStyle/>
          <a:p>
            <a:pPr marL="464820" algn="ctr">
              <a:lnSpc>
                <a:spcPct val="100000"/>
              </a:lnSpc>
              <a:spcBef>
                <a:spcPts val="100"/>
              </a:spcBef>
            </a:pPr>
            <a:r>
              <a:rPr lang="en-US" altLang="en-US" sz="4400">
                <a:latin typeface="Tahoma" panose="020B0604030504040204"/>
                <a:cs typeface="Tahoma" panose="020B0604030504040204"/>
              </a:rPr>
              <a:t>Middleware and Redux Data Flow</a:t>
            </a:r>
            <a:endParaRPr lang="en-US" altLang="en-US" sz="44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</a:fld>
            <a:endParaRPr lang="en-IN"/>
          </a:p>
        </p:txBody>
      </p: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3796665" y="1711325"/>
            <a:ext cx="12014835" cy="83851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048000" y="3390900"/>
            <a:ext cx="14474825" cy="2380615"/>
          </a:xfrm>
          <a:prstGeom prst="rect">
            <a:avLst/>
          </a:prstGeom>
        </p:spPr>
        <p:txBody>
          <a:bodyPr vert="horz" wrap="square" lIns="0" tIns="349630" rIns="0" bIns="0" rtlCol="0" anchor="t" anchorCtr="0">
            <a:spAutoFit/>
          </a:bodyPr>
          <a:lstStyle>
            <a:lvl1pPr>
              <a:defRPr sz="4800" b="0" i="0">
                <a:solidFill>
                  <a:schemeClr val="bg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 lvl="0" algn="ctr">
              <a:spcBef>
                <a:spcPts val="100"/>
              </a:spcBef>
              <a:buClrTx/>
              <a:buSzTx/>
              <a:buFontTx/>
            </a:pPr>
            <a:r>
              <a:rPr lang="en-US" altLang="en-US" sz="4400">
                <a:gradFill>
                  <a:gsLst>
                    <a:gs pos="50000">
                      <a:schemeClr val="accent5"/>
                    </a:gs>
                    <a:gs pos="0">
                      <a:schemeClr val="accent5">
                        <a:lumMod val="25000"/>
                        <a:lumOff val="75000"/>
                      </a:schemeClr>
                    </a:gs>
                    <a:gs pos="100000">
                      <a:schemeClr val="accent5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cs typeface="Arial Black" panose="020B0A04020102020204"/>
                <a:sym typeface="+mn-ea"/>
              </a:rPr>
              <a:t>Handling asynchronous operations with </a:t>
            </a:r>
            <a:br>
              <a:rPr lang="en-US" altLang="en-US" sz="4400">
                <a:gradFill>
                  <a:gsLst>
                    <a:gs pos="50000">
                      <a:schemeClr val="accent5"/>
                    </a:gs>
                    <a:gs pos="0">
                      <a:schemeClr val="accent5">
                        <a:lumMod val="25000"/>
                        <a:lumOff val="75000"/>
                      </a:schemeClr>
                    </a:gs>
                    <a:gs pos="100000">
                      <a:schemeClr val="accent5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cs typeface="Arial Black" panose="020B0A04020102020204"/>
                <a:sym typeface="+mn-ea"/>
              </a:rPr>
            </a:br>
            <a:br>
              <a:rPr lang="en-US" altLang="en-US" sz="4400">
                <a:gradFill>
                  <a:gsLst>
                    <a:gs pos="50000">
                      <a:schemeClr val="accent5"/>
                    </a:gs>
                    <a:gs pos="0">
                      <a:schemeClr val="accent5">
                        <a:lumMod val="25000"/>
                        <a:lumOff val="75000"/>
                      </a:schemeClr>
                    </a:gs>
                    <a:gs pos="100000">
                      <a:schemeClr val="accent5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cs typeface="Arial Black" panose="020B0A04020102020204"/>
                <a:sym typeface="+mn-ea"/>
              </a:rPr>
            </a:br>
            <a:r>
              <a:rPr lang="en-US" altLang="en-US" sz="4400">
                <a:gradFill>
                  <a:gsLst>
                    <a:gs pos="50000">
                      <a:schemeClr val="accent5"/>
                    </a:gs>
                    <a:gs pos="0">
                      <a:schemeClr val="accent5">
                        <a:lumMod val="25000"/>
                        <a:lumOff val="75000"/>
                      </a:schemeClr>
                    </a:gs>
                    <a:gs pos="100000">
                      <a:schemeClr val="accent5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cs typeface="Arial Black" panose="020B0A04020102020204"/>
                <a:sym typeface="+mn-ea"/>
              </a:rPr>
              <a:t>createAsyncThunk</a:t>
            </a:r>
            <a:endParaRPr lang="en-US" altLang="en-US" sz="4400">
              <a:gradFill>
                <a:gsLst>
                  <a:gs pos="50000">
                    <a:schemeClr val="accent5"/>
                  </a:gs>
                  <a:gs pos="0">
                    <a:schemeClr val="accent5">
                      <a:lumMod val="25000"/>
                      <a:lumOff val="75000"/>
                    </a:schemeClr>
                  </a:gs>
                  <a:gs pos="100000">
                    <a:schemeClr val="accent5">
                      <a:lumMod val="85000"/>
                    </a:schemeClr>
                  </a:gs>
                </a:gsLst>
                <a:lin ang="5400000" scaled="1"/>
              </a:gradFill>
              <a:latin typeface="Arial Black" panose="020B0A04020102020204"/>
              <a:cs typeface="Arial Black" panose="020B0A04020102020204"/>
              <a:sym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</a:fld>
            <a:endParaRPr lang="en-IN"/>
          </a:p>
        </p:txBody>
      </p:sp>
      <p:sp>
        <p:nvSpPr>
          <p:cNvPr id="7" name="object 2"/>
          <p:cNvSpPr txBox="1">
            <a:spLocks noGrp="1"/>
          </p:cNvSpPr>
          <p:nvPr/>
        </p:nvSpPr>
        <p:spPr>
          <a:xfrm>
            <a:off x="914400" y="342900"/>
            <a:ext cx="14894560" cy="1026160"/>
          </a:xfrm>
          <a:prstGeom prst="rect">
            <a:avLst/>
          </a:prstGeom>
        </p:spPr>
        <p:txBody>
          <a:bodyPr vert="horz" wrap="square" lIns="0" tIns="349630" rIns="0" bIns="0" rtlCol="0" anchor="t" anchorCtr="0">
            <a:spAutoFit/>
          </a:bodyPr>
          <a:lstStyle>
            <a:lvl1pPr>
              <a:defRPr sz="4800" b="0" i="0">
                <a:solidFill>
                  <a:schemeClr val="bg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  <a:buClrTx/>
              <a:buSzTx/>
              <a:buFontTx/>
            </a:pPr>
            <a:r>
              <a:rPr lang="en-US" altLang="en-US" sz="4400">
                <a:gradFill>
                  <a:gsLst>
                    <a:gs pos="50000">
                      <a:schemeClr val="accent5"/>
                    </a:gs>
                    <a:gs pos="0">
                      <a:schemeClr val="accent5">
                        <a:lumMod val="25000"/>
                        <a:lumOff val="75000"/>
                      </a:schemeClr>
                    </a:gs>
                    <a:gs pos="100000">
                      <a:schemeClr val="accent5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cs typeface="Arial Black" panose="020B0A04020102020204"/>
              </a:rPr>
              <a:t>Hands-on Lab 3.1</a:t>
            </a:r>
            <a:endParaRPr lang="en-US" altLang="en-US" sz="4400">
              <a:gradFill>
                <a:gsLst>
                  <a:gs pos="50000">
                    <a:schemeClr val="accent5"/>
                  </a:gs>
                  <a:gs pos="0">
                    <a:schemeClr val="accent5">
                      <a:lumMod val="25000"/>
                      <a:lumOff val="75000"/>
                    </a:schemeClr>
                  </a:gs>
                  <a:gs pos="100000">
                    <a:schemeClr val="accent5">
                      <a:lumMod val="85000"/>
                    </a:schemeClr>
                  </a:gs>
                </a:gsLst>
                <a:lin ang="5400000" scaled="1"/>
              </a:gradFill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680845" y="7283450"/>
            <a:ext cx="1638490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 sz="2400" b="1">
                <a:solidFill>
                  <a:srgbClr val="92D050"/>
                </a:solidFill>
              </a:rPr>
              <a:t>The goal is to fetch a list of products from a mock API, and manage the loading, success, and error states.</a:t>
            </a:r>
            <a:endParaRPr lang="en-US" altLang="en-US" sz="2400" b="1">
              <a:solidFill>
                <a:srgbClr val="92D050"/>
              </a:solidFill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 altLang="en-US" sz="2400" b="1">
                <a:solidFill>
                  <a:srgbClr val="92D050"/>
                </a:solidFill>
              </a:rPr>
              <a:t> </a:t>
            </a:r>
            <a:endParaRPr lang="en-US" altLang="en-US" sz="2400" b="1">
              <a:solidFill>
                <a:srgbClr val="92D050"/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 sz="2400" b="1">
                <a:solidFill>
                  <a:srgbClr val="92D050"/>
                </a:solidFill>
              </a:rPr>
              <a:t>We'll create a new slice for products and a new component to display the data.</a:t>
            </a:r>
            <a:endParaRPr lang="en-US" altLang="en-US" sz="2400" b="1">
              <a:solidFill>
                <a:srgbClr val="92D05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0400" y="342900"/>
            <a:ext cx="14864080" cy="1374140"/>
          </a:xfrm>
          <a:prstGeom prst="rect">
            <a:avLst/>
          </a:prstGeom>
        </p:spPr>
        <p:txBody>
          <a:bodyPr vert="horz" wrap="square" lIns="0" tIns="349630" rIns="0" bIns="0" rtlCol="0">
            <a:spAutoFit/>
          </a:bodyPr>
          <a:lstStyle/>
          <a:p>
            <a:pPr marL="3072130" marR="5080" indent="-3015615" algn="ctr">
              <a:lnSpc>
                <a:spcPct val="101000"/>
              </a:lnSpc>
              <a:spcBef>
                <a:spcPts val="25"/>
              </a:spcBef>
            </a:pPr>
            <a:r>
              <a:rPr lang="en-US" altLang="en-US" sz="6600"/>
              <a:t>Advanced Async Patterns (RTK Query)</a:t>
            </a:r>
            <a:endParaRPr lang="en-US" altLang="en-US" sz="660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</a:fld>
            <a:endParaRPr lang="en-IN"/>
          </a:p>
        </p:txBody>
      </p:sp>
      <p:sp>
        <p:nvSpPr>
          <p:cNvPr id="4" name="Text Box 3"/>
          <p:cNvSpPr txBox="1"/>
          <p:nvPr/>
        </p:nvSpPr>
        <p:spPr>
          <a:xfrm>
            <a:off x="4038600" y="3162300"/>
            <a:ext cx="12066905" cy="3681730"/>
          </a:xfrm>
          <a:prstGeom prst="rect">
            <a:avLst/>
          </a:prstGeom>
        </p:spPr>
        <p:txBody>
          <a:bodyPr wrap="square">
            <a:spAutoFit/>
          </a:bodyPr>
          <a:p>
            <a:pPr marL="1371600" indent="-45720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en-US" sz="4000">
                <a:solidFill>
                  <a:schemeClr val="bg2"/>
                </a:solidFill>
                <a:latin typeface="Times New Roman" panose="02020603050405020304"/>
                <a:ea typeface="SimSun" panose="02010600030101010101" pitchFamily="2" charset="-122"/>
              </a:rPr>
              <a:t>Automatic Caching</a:t>
            </a:r>
            <a:endParaRPr lang="en-US" altLang="en-US" sz="4000">
              <a:solidFill>
                <a:schemeClr val="bg2"/>
              </a:solidFill>
              <a:latin typeface="Times New Roman" panose="02020603050405020304"/>
              <a:ea typeface="SimSun" panose="02010600030101010101" pitchFamily="2" charset="-122"/>
            </a:endParaRPr>
          </a:p>
          <a:p>
            <a:pPr marL="1371600" indent="-45720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altLang="en-US" sz="4000">
              <a:solidFill>
                <a:schemeClr val="bg2"/>
              </a:solidFill>
              <a:latin typeface="Times New Roman" panose="02020603050405020304"/>
              <a:ea typeface="SimSun" panose="02010600030101010101" pitchFamily="2" charset="-122"/>
            </a:endParaRPr>
          </a:p>
          <a:p>
            <a:pPr marL="1371600" indent="-45720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en-US" sz="4000">
                <a:solidFill>
                  <a:schemeClr val="bg2"/>
                </a:solidFill>
                <a:latin typeface="Times New Roman" panose="02020603050405020304"/>
                <a:ea typeface="SimSun" panose="02010600030101010101" pitchFamily="2" charset="-122"/>
              </a:rPr>
              <a:t>Boilerplate Reduction</a:t>
            </a:r>
            <a:endParaRPr lang="en-US" altLang="en-US" sz="4000">
              <a:solidFill>
                <a:schemeClr val="bg2"/>
              </a:solidFill>
              <a:latin typeface="Times New Roman" panose="02020603050405020304"/>
              <a:ea typeface="SimSun" panose="02010600030101010101" pitchFamily="2" charset="-122"/>
            </a:endParaRPr>
          </a:p>
          <a:p>
            <a:pPr marL="1371600" indent="-45720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altLang="en-US" sz="4000">
              <a:solidFill>
                <a:schemeClr val="bg2"/>
              </a:solidFill>
              <a:latin typeface="Times New Roman" panose="02020603050405020304"/>
              <a:ea typeface="SimSun" panose="02010600030101010101" pitchFamily="2" charset="-122"/>
            </a:endParaRPr>
          </a:p>
          <a:p>
            <a:pPr marL="1371600" indent="-45720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en-US" sz="4000">
                <a:solidFill>
                  <a:schemeClr val="bg2"/>
                </a:solidFill>
                <a:latin typeface="Times New Roman" panose="02020603050405020304"/>
                <a:ea typeface="SimSun" panose="02010600030101010101" pitchFamily="2" charset="-122"/>
              </a:rPr>
              <a:t>Server-Side Data Synchronization</a:t>
            </a:r>
            <a:endParaRPr lang="en-US" altLang="en-US" sz="4000">
              <a:solidFill>
                <a:schemeClr val="bg2"/>
              </a:solidFill>
              <a:latin typeface="Times New Roman" panose="02020603050405020304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958340" y="3390900"/>
            <a:ext cx="15564485" cy="1026160"/>
          </a:xfrm>
          <a:prstGeom prst="rect">
            <a:avLst/>
          </a:prstGeom>
        </p:spPr>
        <p:txBody>
          <a:bodyPr vert="horz" wrap="square" lIns="0" tIns="349630" rIns="0" bIns="0" rtlCol="0" anchor="t" anchorCtr="0">
            <a:spAutoFit/>
          </a:bodyPr>
          <a:lstStyle>
            <a:lvl1pPr>
              <a:defRPr sz="4800" b="0" i="0">
                <a:solidFill>
                  <a:schemeClr val="bg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 lvl="0" algn="ctr">
              <a:spcBef>
                <a:spcPts val="100"/>
              </a:spcBef>
              <a:buClrTx/>
              <a:buSzTx/>
              <a:buFontTx/>
            </a:pPr>
            <a:r>
              <a:rPr lang="en-US" altLang="en-US" sz="4400">
                <a:gradFill>
                  <a:gsLst>
                    <a:gs pos="50000">
                      <a:schemeClr val="accent5"/>
                    </a:gs>
                    <a:gs pos="0">
                      <a:schemeClr val="accent5">
                        <a:lumMod val="25000"/>
                        <a:lumOff val="75000"/>
                      </a:schemeClr>
                    </a:gs>
                    <a:gs pos="100000">
                      <a:schemeClr val="accent5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cs typeface="Arial Black" panose="020B0A04020102020204"/>
                <a:sym typeface="+mn-ea"/>
              </a:rPr>
              <a:t>Refactor the previous lab to use RTK Query.</a:t>
            </a:r>
            <a:endParaRPr lang="en-US" altLang="en-US" sz="4400">
              <a:gradFill>
                <a:gsLst>
                  <a:gs pos="50000">
                    <a:schemeClr val="accent5"/>
                  </a:gs>
                  <a:gs pos="0">
                    <a:schemeClr val="accent5">
                      <a:lumMod val="25000"/>
                      <a:lumOff val="75000"/>
                    </a:schemeClr>
                  </a:gs>
                  <a:gs pos="100000">
                    <a:schemeClr val="accent5">
                      <a:lumMod val="85000"/>
                    </a:schemeClr>
                  </a:gs>
                </a:gsLst>
                <a:lin ang="5400000" scaled="1"/>
              </a:gradFill>
              <a:latin typeface="Arial Black" panose="020B0A04020102020204"/>
              <a:cs typeface="Arial Black" panose="020B0A04020102020204"/>
              <a:sym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</a:fld>
            <a:endParaRPr lang="en-IN"/>
          </a:p>
        </p:txBody>
      </p:sp>
      <p:sp>
        <p:nvSpPr>
          <p:cNvPr id="7" name="object 2"/>
          <p:cNvSpPr txBox="1">
            <a:spLocks noGrp="1"/>
          </p:cNvSpPr>
          <p:nvPr/>
        </p:nvSpPr>
        <p:spPr>
          <a:xfrm>
            <a:off x="914400" y="342900"/>
            <a:ext cx="14894560" cy="1026160"/>
          </a:xfrm>
          <a:prstGeom prst="rect">
            <a:avLst/>
          </a:prstGeom>
        </p:spPr>
        <p:txBody>
          <a:bodyPr vert="horz" wrap="square" lIns="0" tIns="349630" rIns="0" bIns="0" rtlCol="0" anchor="t" anchorCtr="0">
            <a:spAutoFit/>
          </a:bodyPr>
          <a:lstStyle>
            <a:lvl1pPr>
              <a:defRPr sz="4800" b="0" i="0">
                <a:solidFill>
                  <a:schemeClr val="bg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  <a:buClrTx/>
              <a:buSzTx/>
              <a:buFontTx/>
            </a:pPr>
            <a:r>
              <a:rPr lang="en-US" altLang="en-US" sz="4400">
                <a:gradFill>
                  <a:gsLst>
                    <a:gs pos="50000">
                      <a:schemeClr val="accent5"/>
                    </a:gs>
                    <a:gs pos="0">
                      <a:schemeClr val="accent5">
                        <a:lumMod val="25000"/>
                        <a:lumOff val="75000"/>
                      </a:schemeClr>
                    </a:gs>
                    <a:gs pos="100000">
                      <a:schemeClr val="accent5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cs typeface="Arial Black" panose="020B0A04020102020204"/>
              </a:rPr>
              <a:t>Hands-on Lab 3.2</a:t>
            </a:r>
            <a:endParaRPr lang="en-US" altLang="en-US" sz="4400">
              <a:gradFill>
                <a:gsLst>
                  <a:gs pos="50000">
                    <a:schemeClr val="accent5"/>
                  </a:gs>
                  <a:gs pos="0">
                    <a:schemeClr val="accent5">
                      <a:lumMod val="25000"/>
                      <a:lumOff val="75000"/>
                    </a:schemeClr>
                  </a:gs>
                  <a:gs pos="100000">
                    <a:schemeClr val="accent5">
                      <a:lumMod val="85000"/>
                    </a:schemeClr>
                  </a:gs>
                </a:gsLst>
                <a:lin ang="5400000" scaled="1"/>
              </a:gradFill>
              <a:latin typeface="Arial Black" panose="020B0A04020102020204"/>
              <a:cs typeface="Arial Black" panose="020B0A040201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84220" y="3740150"/>
            <a:ext cx="14862175" cy="2255520"/>
          </a:xfrm>
          <a:prstGeom prst="rect">
            <a:avLst/>
          </a:prstGeom>
        </p:spPr>
        <p:txBody>
          <a:bodyPr vert="horz" wrap="square" lIns="0" tIns="508508" rIns="0" bIns="0" rtlCol="0">
            <a:spAutoFit/>
          </a:bodyPr>
          <a:lstStyle/>
          <a:p>
            <a:pPr algn="ctr">
              <a:lnSpc>
                <a:spcPts val="5735"/>
              </a:lnSpc>
              <a:spcBef>
                <a:spcPts val="100"/>
              </a:spcBef>
            </a:pPr>
            <a:r>
              <a:rPr dirty="0"/>
              <a:t>Next</a:t>
            </a:r>
            <a:r>
              <a:rPr spc="-140" dirty="0"/>
              <a:t> </a:t>
            </a:r>
            <a:r>
              <a:rPr spc="-25" dirty="0"/>
              <a:t>up:</a:t>
            </a:r>
            <a:endParaRPr spc="-25" dirty="0"/>
          </a:p>
          <a:p>
            <a:pPr algn="ctr">
              <a:lnSpc>
                <a:spcPts val="7895"/>
              </a:lnSpc>
            </a:pPr>
            <a:r>
              <a:rPr lang="en-US" altLang="en-US" sz="6600"/>
              <a:t>Advanced Concepts &amp; Best Practices</a:t>
            </a:r>
            <a:endParaRPr lang="en-US" altLang="en-US" sz="660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0404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580</Words>
  <Application>WPS Presentation</Application>
  <PresentationFormat>Custom</PresentationFormat>
  <Paragraphs>47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1" baseType="lpstr">
      <vt:lpstr>Arial</vt:lpstr>
      <vt:lpstr>SimSun</vt:lpstr>
      <vt:lpstr>Wingdings</vt:lpstr>
      <vt:lpstr>Arial MT</vt:lpstr>
      <vt:lpstr>Arial Black</vt:lpstr>
      <vt:lpstr>Tahoma</vt:lpstr>
      <vt:lpstr>Wingdings</vt:lpstr>
      <vt:lpstr>Times New Roman</vt:lpstr>
      <vt:lpstr>Microsoft YaHei</vt:lpstr>
      <vt:lpstr>Arial Unicode MS</vt:lpstr>
      <vt:lpstr>Aptos</vt:lpstr>
      <vt:lpstr>Segoe UI</vt:lpstr>
      <vt:lpstr>Office Theme</vt:lpstr>
      <vt:lpstr>Handling Asynchronous Operations</vt:lpstr>
      <vt:lpstr>PowerPoint 演示文稿</vt:lpstr>
      <vt:lpstr>PowerPoint 演示文稿</vt:lpstr>
      <vt:lpstr>Middleware and Redux Data Flow</vt:lpstr>
      <vt:lpstr>Handling asynchronous operations with   createAsyncThunk</vt:lpstr>
      <vt:lpstr>2.2 Interacting with the Store (Hooks)</vt:lpstr>
      <vt:lpstr>Connect the user profile slice to a React component to display and update user information.</vt:lpstr>
      <vt:lpstr>Handling Asynchronous Operations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Steve Sam</cp:lastModifiedBy>
  <cp:revision>19</cp:revision>
  <dcterms:created xsi:type="dcterms:W3CDTF">2024-10-25T14:24:00Z</dcterms:created>
  <dcterms:modified xsi:type="dcterms:W3CDTF">2025-09-20T17:00:48Z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2022-08-29T22:00:00Z</vt:filetime>
  </property>
  <property fmtid="{D5CDD505-2E9C-101B-9397-08002B2CF9AE}" pid="3" name="LastSaved">
    <vt:filetime>2024-10-25T22:00:00Z</vt:filetime>
  </property>
  <property fmtid="{D5CDD505-2E9C-101B-9397-08002B2CF9AE}" pid="4" name="Producer">
    <vt:lpwstr>macOS Version 11.6.8 (Build 20G730) Quartz PDFContext</vt:lpwstr>
  </property>
  <property fmtid="{D5CDD505-2E9C-101B-9397-08002B2CF9AE}" pid="5" name="ICV">
    <vt:lpwstr>8FC22B2F2FB2404283AF29D55C84BB11_12</vt:lpwstr>
  </property>
  <property fmtid="{D5CDD505-2E9C-101B-9397-08002B2CF9AE}" pid="6" name="KSOProductBuildVer">
    <vt:lpwstr>1033-12.2.0.22549</vt:lpwstr>
  </property>
</Properties>
</file>