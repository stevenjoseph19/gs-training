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47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7B646-E19B-4900-B6F7-BBCF4CA123A8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28649-8DAD-4F20-B376-FA78BEEA7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34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C6BF-13F9-4E22-B0BC-01AC7B5B03BC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65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7DE3-E3FD-44DC-B002-FADD6E8169EB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98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C9E7-9385-48D8-BFB9-3259DA514E88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2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FA60E-247F-4B72-AB0A-C8175C34C368}" type="datetime1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15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24D90-5D80-40BD-83A2-9F9EA68E4B1A}" type="datetime1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4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DCBF-2B56-46B4-AE67-70EFC318F4BD}" type="datetime1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4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8942-964E-4D1F-981B-F3DDA2786F4D}" type="datetime1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47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A9C31-2F26-498F-97D6-4C262C7EBEA1}" type="datetime1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17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5501A-855D-44FC-8F7D-086CA6480E99}" type="datetime1">
              <a:rPr lang="en-IN" smtClean="0"/>
              <a:t>10-02-2026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75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CC07-813C-4900-8E09-2D436ACBEE7B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48406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CC07-813C-4900-8E09-2D436ACBEE7B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707331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CC07-813C-4900-8E09-2D436ACBEE7B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85758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CC07-813C-4900-8E09-2D436ACBEE7B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297428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CC07-813C-4900-8E09-2D436ACBEE7B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58714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076E1-6749-4376-8344-7E28FC200358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463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CD04F-5DA7-41C7-9CAC-A7E660A321BD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11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BCC07-813C-4900-8E09-2D436ACBEE7B}" type="datetime1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00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2988-9B75-E6CC-B453-10CFBB4C7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Phase 1: Memory Architecture &amp; In-Place Mutation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D4AB7-419E-685E-1C4B-08FA870C0C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35DD4-6528-EA91-8E97-C904CA35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44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43E6-06B9-7411-55D8-3320B7CFC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Overview &amp; Objectives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7F1D6A-10EB-18AB-F1B0-80BEE05865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4658" y="2084527"/>
            <a:ext cx="980268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Transition from "Coding" to "Data Engineering.“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Requirement: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Passing the Goldman Sachs "In-Place" challenge.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Concept: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Understanding the Pointer Pattern.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33D88-6CEC-3EA1-4DCB-D2DD1973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396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6558-C12E-2160-1FA4-B7C3433F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The Mental Model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285AF0B-8832-BF92-CEEA-9095497E6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011234" y="1570792"/>
            <a:ext cx="797096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4FE71-1256-3CD4-9555-6B1B90DC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17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7DE4A-7636-EFE0-22E5-40451A27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2523001" cy="614060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"If I have </a:t>
            </a:r>
            <a:r>
              <a:rPr lang="en-US" sz="2000" dirty="0" err="1">
                <a:solidFill>
                  <a:srgbClr val="0070C0"/>
                </a:solidFill>
              </a:rPr>
              <a:t>objA</a:t>
            </a:r>
            <a:r>
              <a:rPr lang="en-US" sz="2000" dirty="0">
                <a:solidFill>
                  <a:srgbClr val="0070C0"/>
                </a:solidFill>
              </a:rPr>
              <a:t> = {x: 1} and I set </a:t>
            </a:r>
            <a:r>
              <a:rPr lang="en-US" sz="2000" dirty="0" err="1">
                <a:solidFill>
                  <a:srgbClr val="0070C0"/>
                </a:solidFill>
              </a:rPr>
              <a:t>objB</a:t>
            </a:r>
            <a:r>
              <a:rPr lang="en-US" sz="2000" dirty="0">
                <a:solidFill>
                  <a:srgbClr val="0070C0"/>
                </a:solidFill>
              </a:rPr>
              <a:t> = </a:t>
            </a:r>
            <a:r>
              <a:rPr lang="en-US" sz="2000" dirty="0" err="1">
                <a:solidFill>
                  <a:srgbClr val="0070C0"/>
                </a:solidFill>
              </a:rPr>
              <a:t>objA</a:t>
            </a:r>
            <a:r>
              <a:rPr lang="en-US" sz="2000" dirty="0">
                <a:solidFill>
                  <a:srgbClr val="0070C0"/>
                </a:solidFill>
              </a:rPr>
              <a:t>, then I change 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 err="1">
                <a:solidFill>
                  <a:srgbClr val="0070C0"/>
                </a:solidFill>
              </a:rPr>
              <a:t>objB.x</a:t>
            </a:r>
            <a:r>
              <a:rPr lang="en-US" sz="2000" dirty="0">
                <a:solidFill>
                  <a:srgbClr val="0070C0"/>
                </a:solidFill>
              </a:rPr>
              <a:t> = 2, 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what is the value of </a:t>
            </a:r>
            <a:r>
              <a:rPr lang="en-US" sz="2000" dirty="0" err="1">
                <a:solidFill>
                  <a:srgbClr val="0070C0"/>
                </a:solidFill>
              </a:rPr>
              <a:t>objA.x</a:t>
            </a:r>
            <a:r>
              <a:rPr lang="en-US" sz="2000" dirty="0">
                <a:solidFill>
                  <a:srgbClr val="0070C0"/>
                </a:solidFill>
              </a:rPr>
              <a:t>?"</a:t>
            </a:r>
            <a:endParaRPr lang="en-IN" sz="2000" dirty="0">
              <a:solidFill>
                <a:srgbClr val="0070C0"/>
              </a:solidFill>
            </a:endParaRPr>
          </a:p>
        </p:txBody>
      </p:sp>
      <p:pic>
        <p:nvPicPr>
          <p:cNvPr id="1026" name="Picture 2" descr="PlantUML diagram">
            <a:extLst>
              <a:ext uri="{FF2B5EF4-FFF2-40B4-BE49-F238E27FC236}">
                <a16:creationId xmlns:a16="http://schemas.microsoft.com/office/drawing/2014/main" id="{006320C4-A463-D7F6-CF87-436A3E158C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" t="4982" r="-383" b="-6130"/>
          <a:stretch>
            <a:fillRect/>
          </a:stretch>
        </p:blipFill>
        <p:spPr bwMode="auto">
          <a:xfrm>
            <a:off x="2523001" y="136525"/>
            <a:ext cx="9409169" cy="655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27194-893B-6F45-142B-208C6A7A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85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96A55-B54C-A104-5436-C0B286A21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4333"/>
            <a:ext cx="4705350" cy="5249334"/>
          </a:xfrm>
        </p:spPr>
        <p:txBody>
          <a:bodyPr>
            <a:normAutofit/>
          </a:bodyPr>
          <a:lstStyle/>
          <a:p>
            <a:pPr algn="ctr"/>
            <a:br>
              <a:rPr lang="en-US" sz="4000" dirty="0">
                <a:solidFill>
                  <a:srgbClr val="00B0F0"/>
                </a:solidFill>
              </a:rPr>
            </a:br>
            <a:br>
              <a:rPr lang="en-US" sz="4000" dirty="0">
                <a:solidFill>
                  <a:srgbClr val="00B0F0"/>
                </a:solidFill>
              </a:rPr>
            </a:br>
            <a:br>
              <a:rPr lang="en-US" sz="4000" dirty="0">
                <a:solidFill>
                  <a:srgbClr val="00B0F0"/>
                </a:solidFill>
              </a:rPr>
            </a:br>
            <a:r>
              <a:rPr lang="en-US" sz="4000" dirty="0">
                <a:solidFill>
                  <a:srgbClr val="00B0F0"/>
                </a:solidFill>
              </a:rPr>
              <a:t>Technical Red Flags              (Interview Pitfalls)</a:t>
            </a:r>
            <a:endParaRPr lang="en-IN" sz="4000" dirty="0">
              <a:solidFill>
                <a:srgbClr val="00B0F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2224586-16C4-AB0D-10FF-BC05D8D54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1048" y="804333"/>
            <a:ext cx="6306003" cy="5249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The historical JS bug that crashes recursive functions.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The Array Paradox: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[] is also "object".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The Reference Leak: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obj2 = obj1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Reference Equality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Why {} === {} is false and what that means for state management.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Mutation vs. Cloning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When to change the "House" and when to build a new 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35667-4836-0BD8-E7D3-A816954A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223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50553-E351-FF5D-9893-1A306D4F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E500-8D2F-4CCF-5D44-041CB8D9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4333"/>
            <a:ext cx="4951048" cy="5249334"/>
          </a:xfrm>
        </p:spPr>
        <p:txBody>
          <a:bodyPr>
            <a:normAutofit/>
          </a:bodyPr>
          <a:lstStyle/>
          <a:p>
            <a:pPr algn="ctr"/>
            <a:br>
              <a:rPr lang="en-IN" sz="4000" dirty="0">
                <a:solidFill>
                  <a:srgbClr val="00B0F0"/>
                </a:solidFill>
              </a:rPr>
            </a:br>
            <a:br>
              <a:rPr lang="en-IN" sz="4000" dirty="0">
                <a:solidFill>
                  <a:srgbClr val="00B0F0"/>
                </a:solidFill>
              </a:rPr>
            </a:br>
            <a:br>
              <a:rPr lang="en-IN" sz="4000" dirty="0">
                <a:solidFill>
                  <a:srgbClr val="00B0F0"/>
                </a:solidFill>
              </a:rPr>
            </a:br>
            <a:r>
              <a:rPr lang="en-IN" sz="4000" dirty="0">
                <a:solidFill>
                  <a:srgbClr val="00B0F0"/>
                </a:solidFill>
              </a:rPr>
              <a:t>Code-Along                        (The Asset Updater)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82D43A1-11C3-F1DB-A81E-2CC8CEE9FA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1048" y="804333"/>
            <a:ext cx="6306003" cy="5249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Problem:</a:t>
            </a:r>
            <a:r>
              <a:rPr lang="en-US" altLang="en-US" sz="4000" dirty="0">
                <a:latin typeface="Arial" panose="020B0604020202020204" pitchFamily="34" charset="0"/>
              </a:rPr>
              <a:t> Update </a:t>
            </a:r>
            <a:r>
              <a:rPr lang="en-US" altLang="en-US" sz="1800" dirty="0" err="1">
                <a:latin typeface="Arial Unicode MS"/>
              </a:rPr>
              <a:t>risk.rating.score</a:t>
            </a:r>
            <a:r>
              <a:rPr lang="en-US" altLang="en-US" sz="2400" dirty="0"/>
              <a:t> inside a complex asset.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4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Constraint:</a:t>
            </a:r>
            <a:r>
              <a:rPr lang="en-US" altLang="en-US" sz="4000" dirty="0">
                <a:latin typeface="Arial" panose="020B0604020202020204" pitchFamily="34" charset="0"/>
              </a:rPr>
              <a:t> No </a:t>
            </a:r>
            <a:r>
              <a:rPr lang="en-US" altLang="en-US" sz="1800" dirty="0">
                <a:latin typeface="Arial Unicode MS"/>
              </a:rPr>
              <a:t>return</a:t>
            </a:r>
            <a:r>
              <a:rPr lang="en-US" altLang="en-US" sz="2400" dirty="0"/>
              <a:t> statement allowed.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4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Logic: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 Unicode MS"/>
              </a:rPr>
              <a:t>split('.')</a:t>
            </a:r>
            <a:r>
              <a:rPr lang="en-US" altLang="en-US" sz="2400" dirty="0"/>
              <a:t>, loop, and "pointer sliding."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7D7C5-654B-8D40-BE62-6A97A48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802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838C-FA1A-905D-62C8-CEFD34CA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Takeaways – Memory &amp; Reference Mastery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001A3C-46C0-5780-F980-259086ABEC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735377"/>
            <a:ext cx="12252072" cy="460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The Reference Rule</a:t>
            </a:r>
            <a:r>
              <a:rPr lang="en-US" sz="2000" dirty="0"/>
              <a:t>: Variables assigned to objects do not store the data; </a:t>
            </a:r>
          </a:p>
          <a:p>
            <a:pPr marL="0" indent="0">
              <a:buNone/>
            </a:pPr>
            <a:r>
              <a:rPr lang="en-US" sz="2000" dirty="0"/>
              <a:t>     they store a </a:t>
            </a:r>
            <a:r>
              <a:rPr lang="en-US" sz="2000" b="1" dirty="0"/>
              <a:t>Pointer</a:t>
            </a:r>
            <a:r>
              <a:rPr lang="en-US" sz="2000" dirty="0"/>
              <a:t> (Memory Address).</a:t>
            </a:r>
          </a:p>
          <a:p>
            <a:r>
              <a:rPr lang="en-US" sz="2000" b="1" dirty="0"/>
              <a:t>Reference Equality (===)</a:t>
            </a:r>
            <a:r>
              <a:rPr lang="en-US" sz="2000" dirty="0"/>
              <a:t>: Comparison checks the </a:t>
            </a:r>
            <a:r>
              <a:rPr lang="en-US" sz="2000" b="1" dirty="0"/>
              <a:t>Address</a:t>
            </a:r>
            <a:r>
              <a:rPr lang="en-US" sz="2000" dirty="0"/>
              <a:t>, not the </a:t>
            </a:r>
            <a:r>
              <a:rPr lang="en-US" sz="2000" b="1" dirty="0"/>
              <a:t>Values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     Two identical-looking objects {} are never equal because they occupy different locations in the Heap.</a:t>
            </a:r>
          </a:p>
          <a:p>
            <a:r>
              <a:rPr lang="en-US" sz="2000" b="1" dirty="0"/>
              <a:t>In-Place Mutation</a:t>
            </a:r>
            <a:r>
              <a:rPr lang="en-US" sz="2000" dirty="0"/>
              <a:t>: Modifying an object via a pointer changes the original "House" in memory.</a:t>
            </a:r>
          </a:p>
          <a:p>
            <a:pPr marL="0" indent="0">
              <a:buNone/>
            </a:pPr>
            <a:r>
              <a:rPr lang="en-US" sz="2000" dirty="0"/>
              <a:t>     No return value is needed to persist these changes.</a:t>
            </a:r>
          </a:p>
          <a:p>
            <a:r>
              <a:rPr lang="en-US" sz="2000" b="1" dirty="0"/>
              <a:t>The Pointer Sliding Pattern</a:t>
            </a:r>
            <a:r>
              <a:rPr lang="en-US" sz="2000" dirty="0"/>
              <a:t>: To reach deep nested data, </a:t>
            </a:r>
          </a:p>
          <a:p>
            <a:pPr marL="0" indent="0">
              <a:buNone/>
            </a:pPr>
            <a:r>
              <a:rPr lang="en-US" sz="2000" dirty="0"/>
              <a:t>      move a temporary "current" variable level-by-level through the object tree.</a:t>
            </a:r>
          </a:p>
          <a:p>
            <a:r>
              <a:rPr lang="en-US" sz="2000" b="1" dirty="0"/>
              <a:t>Defensive Engineering</a:t>
            </a:r>
            <a:r>
              <a:rPr lang="en-US" sz="2000" dirty="0"/>
              <a:t>: Always validate the path during traversal; </a:t>
            </a:r>
          </a:p>
          <a:p>
            <a:pPr marL="0" indent="0">
              <a:buNone/>
            </a:pPr>
            <a:r>
              <a:rPr lang="en-US" sz="2000" dirty="0"/>
              <a:t>    remember that </a:t>
            </a:r>
            <a:r>
              <a:rPr lang="en-US" sz="2000" dirty="0" err="1"/>
              <a:t>typeof</a:t>
            </a:r>
            <a:r>
              <a:rPr lang="en-US" sz="2000" dirty="0"/>
              <a:t> null is "object" and can crash your logic if not handled.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48173-BC01-732F-E223-28793A62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6419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</TotalTime>
  <Words>354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Arial Unicode MS</vt:lpstr>
      <vt:lpstr>Trebuchet MS</vt:lpstr>
      <vt:lpstr>Wingdings 3</vt:lpstr>
      <vt:lpstr>Facet</vt:lpstr>
      <vt:lpstr>Phase 1: Memory Architecture &amp; In-Place Mutation</vt:lpstr>
      <vt:lpstr>Overview &amp; Objectives</vt:lpstr>
      <vt:lpstr>The Mental Model </vt:lpstr>
      <vt:lpstr>"If I have objA = {x: 1} and I set objB = objA, then I change  objB.x = 2,  what is the value of objA.x?"</vt:lpstr>
      <vt:lpstr>   Technical Red Flags              (Interview Pitfalls)</vt:lpstr>
      <vt:lpstr>   Code-Along                        (The Asset Updater)</vt:lpstr>
      <vt:lpstr>Key Takeaways – Memory &amp; Reference Mastery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Joseph Samuels</dc:creator>
  <cp:lastModifiedBy>Stephen Joseph Samuels</cp:lastModifiedBy>
  <cp:revision>6</cp:revision>
  <dcterms:created xsi:type="dcterms:W3CDTF">2026-02-09T07:07:36Z</dcterms:created>
  <dcterms:modified xsi:type="dcterms:W3CDTF">2026-02-09T23:20:46Z</dcterms:modified>
</cp:coreProperties>
</file>