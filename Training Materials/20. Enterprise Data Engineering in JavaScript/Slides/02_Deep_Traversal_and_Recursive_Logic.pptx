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3" r:id="rId6"/>
    <p:sldId id="264" r:id="rId7"/>
    <p:sldId id="262" r:id="rId8"/>
    <p:sldId id="265" r:id="rId9"/>
    <p:sldId id="266" r:id="rId10"/>
    <p:sldId id="267" r:id="rId11"/>
    <p:sldId id="268" r:id="rId12"/>
    <p:sldId id="270" r:id="rId13"/>
    <p:sldId id="271" r:id="rId14"/>
    <p:sldId id="26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7B646-E19B-4900-B6F7-BBCF4CA123A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28649-8DAD-4F20-B376-FA78BEEA76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4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84F25-93CA-4083-91F6-44CD5E538C60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65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952D2-2ACB-4F04-961A-2002AF374DCD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98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0A2B5-705A-4377-AD51-0E64CB165C50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52884-E373-49C8-9271-98304C4E9A78}" type="datetime1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15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56A54-3F66-4E14-AEB4-09A5EE83B80D}" type="datetime1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91D8D-9340-4A58-BBB0-1FC1A260ABBC}" type="datetime1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8AD7-9BCA-4D05-BAE8-D726A2DDC3A2}" type="datetime1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47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35B08-9571-416C-8DEA-0FD1B2A7F3C3}" type="datetime1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7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17D46-0F71-4BCA-B6A1-0FCBBD18435F}" type="datetime1">
              <a:rPr lang="en-IN" smtClean="0"/>
              <a:t>11-02-2026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5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B7436-2F6D-4A54-BB5F-1B1A7D5F97C6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48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2C07-5C92-4389-910E-83425E69B4D2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7073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F8045-3960-47D5-8923-156FD8E34DC8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44393-8762-49EE-A09D-C6718B772424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2974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A155-BABA-4042-AE3F-48DDD43C4338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58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8DB0-FF17-4873-B285-6F3AA300A01E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63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2F982-93BC-4EAF-AD77-434B6A325E06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1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A09EB-E0D8-48BA-B146-187B10F18B5C}" type="datetime1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C3D416-06CF-4992-9B82-1CD609DB64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0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2988-9B75-E6CC-B453-10CFBB4C7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2: Deep Traversal &amp; The Recursive Mindset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D4AB7-419E-685E-1C4B-08FA870C0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35DD4-6528-EA91-8E97-C904CA3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44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43E6-06B9-7411-55D8-3320B7CFC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22" y="189875"/>
            <a:ext cx="11074955" cy="1320800"/>
          </a:xfrm>
        </p:spPr>
        <p:txBody>
          <a:bodyPr/>
          <a:lstStyle/>
          <a:p>
            <a:pPr algn="ctr"/>
            <a:r>
              <a:rPr lang="en-US" dirty="0"/>
              <a:t>The Mental Model:</a:t>
            </a:r>
            <a:br>
              <a:rPr lang="en-US" dirty="0"/>
            </a:br>
            <a:r>
              <a:rPr lang="en-US" dirty="0"/>
              <a:t> "The Russian Matryoshka Doll"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33D88-6CEC-3EA1-4DCB-D2DD1973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2</a:t>
            </a:fld>
            <a:endParaRPr lang="en-IN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38DF9DD-1F68-F59C-0267-1D63949EC9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373974" cy="537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4D5CF5BF-7487-B917-0A4C-07F89A8FFA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2433" y="3429000"/>
            <a:ext cx="3685082" cy="368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7CEA4-2B36-DF49-194B-7DCDACD33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89" y="1696367"/>
            <a:ext cx="9212762" cy="420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96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436558-C12E-2160-1FA4-B7C3433F6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076" y="140224"/>
            <a:ext cx="8051540" cy="108765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IN" b="1" dirty="0"/>
              <a:t>Common Interview Pitfalls                          (The "Recursion Killers")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FE71-1256-3CD4-9555-6B1B90DC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023" y="6352651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05AE7FE-0853-90CB-D87A-2CF8D738C4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98CBCD-8E64-4A05-A2B2-12FBD3BED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71024"/>
              </p:ext>
            </p:extLst>
          </p:nvPr>
        </p:nvGraphicFramePr>
        <p:xfrm>
          <a:off x="739776" y="1663907"/>
          <a:ext cx="9138742" cy="3822492"/>
        </p:xfrm>
        <a:graphic>
          <a:graphicData uri="http://schemas.openxmlformats.org/drawingml/2006/table">
            <a:tbl>
              <a:tblPr>
                <a:solidFill>
                  <a:schemeClr val="accent1">
                    <a:lumMod val="20000"/>
                    <a:lumOff val="80000"/>
                  </a:schemeClr>
                </a:solidFill>
              </a:tblPr>
              <a:tblGrid>
                <a:gridCol w="2964076">
                  <a:extLst>
                    <a:ext uri="{9D8B030D-6E8A-4147-A177-3AD203B41FA5}">
                      <a16:colId xmlns:a16="http://schemas.microsoft.com/office/drawing/2014/main" val="119739137"/>
                    </a:ext>
                  </a:extLst>
                </a:gridCol>
                <a:gridCol w="3102418">
                  <a:extLst>
                    <a:ext uri="{9D8B030D-6E8A-4147-A177-3AD203B41FA5}">
                      <a16:colId xmlns:a16="http://schemas.microsoft.com/office/drawing/2014/main" val="2473379172"/>
                    </a:ext>
                  </a:extLst>
                </a:gridCol>
                <a:gridCol w="3072248">
                  <a:extLst>
                    <a:ext uri="{9D8B030D-6E8A-4147-A177-3AD203B41FA5}">
                      <a16:colId xmlns:a16="http://schemas.microsoft.com/office/drawing/2014/main" val="2185432610"/>
                    </a:ext>
                  </a:extLst>
                </a:gridCol>
              </a:tblGrid>
              <a:tr h="3743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Pitfall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The "Red Flag" Detail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Engineering Impact / Solution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28937"/>
                  </a:ext>
                </a:extLst>
              </a:tr>
              <a:tr h="8076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The null Collision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typeof null returns "object".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Crash Risk: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Attempting to access keys of null throws a </a:t>
                      </a:r>
                      <a:r>
                        <a:rPr lang="en-US" sz="1300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TypeError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. Always check if (</a:t>
                      </a:r>
                      <a:r>
                        <a:rPr lang="en-US" sz="1300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val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=== null) first.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609094"/>
                  </a:ext>
                </a:extLst>
              </a:tr>
              <a:tr h="102508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The Array Paradox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typeof</a:t>
                      </a:r>
                      <a:r>
                        <a:rPr lang="en-IN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[] returns "object".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Structure Loss:</a:t>
                      </a: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Standard object iteration treats indices as string keys. Requires Array.isArray() to preserve order.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76374"/>
                  </a:ext>
                </a:extLst>
              </a:tr>
              <a:tr h="8076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Context Loss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this binding disappears during traversal.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Logic Failure:</a:t>
                      </a: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Calling methods without .call(obj) points this to undefined (Lab R-16 fix).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344514"/>
                  </a:ext>
                </a:extLst>
              </a:tr>
              <a:tr h="8076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3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Circular References</a:t>
                      </a:r>
                      <a:endParaRPr lang="en-IN" sz="13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 "Remote" (Pointer) points back to a parent "House."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3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Infinite Loop:</a:t>
                      </a:r>
                      <a:r>
                        <a:rPr lang="en-US" sz="13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Recursion will never hit a base case, leading to a Stack Overflow crash.</a:t>
                      </a:r>
                    </a:p>
                  </a:txBody>
                  <a:tcPr marL="58108" marR="58108" marT="38739" marB="7154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84426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5DB758B-7254-EF50-FDA9-F15F93797954}"/>
              </a:ext>
            </a:extLst>
          </p:cNvPr>
          <p:cNvSpPr txBox="1"/>
          <p:nvPr/>
        </p:nvSpPr>
        <p:spPr>
          <a:xfrm>
            <a:off x="4846545" y="5690205"/>
            <a:ext cx="7342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7030A0"/>
                </a:solidFill>
              </a:rPr>
              <a:t>const</a:t>
            </a:r>
            <a:r>
              <a:rPr lang="en-IN" b="1" dirty="0">
                <a:solidFill>
                  <a:srgbClr val="7030A0"/>
                </a:solidFill>
              </a:rPr>
              <a:t> house = {};</a:t>
            </a:r>
          </a:p>
          <a:p>
            <a:r>
              <a:rPr lang="en-IN" b="1" dirty="0" err="1">
                <a:solidFill>
                  <a:srgbClr val="7030A0"/>
                </a:solidFill>
              </a:rPr>
              <a:t>house.itself</a:t>
            </a:r>
            <a:r>
              <a:rPr lang="en-IN" b="1" dirty="0">
                <a:solidFill>
                  <a:srgbClr val="7030A0"/>
                </a:solidFill>
              </a:rPr>
              <a:t> = house; // The "Remote" points back to the "House"</a:t>
            </a:r>
          </a:p>
          <a:p>
            <a:r>
              <a:rPr lang="en-IN" b="1" dirty="0" err="1">
                <a:solidFill>
                  <a:srgbClr val="7030A0"/>
                </a:solidFill>
              </a:rPr>
              <a:t>deepClone</a:t>
            </a:r>
            <a:r>
              <a:rPr lang="en-IN" b="1" dirty="0">
                <a:solidFill>
                  <a:srgbClr val="7030A0"/>
                </a:solidFill>
              </a:rPr>
              <a:t>(house);    // ERROR: Infinite Loop!</a:t>
            </a:r>
          </a:p>
        </p:txBody>
      </p:sp>
    </p:spTree>
    <p:extLst>
      <p:ext uri="{BB962C8B-B14F-4D97-AF65-F5344CB8AC3E}">
        <p14:creationId xmlns:p14="http://schemas.microsoft.com/office/powerpoint/2010/main" val="312217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7" name="Group 4166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156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4157" name="Straight Connector 4156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157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59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0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1" name="Isosceles Triangle 4160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2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3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4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65" name="Isosceles Triangle 4164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125" name="Title 5">
            <a:extLst>
              <a:ext uri="{FF2B5EF4-FFF2-40B4-BE49-F238E27FC236}">
                <a16:creationId xmlns:a16="http://schemas.microsoft.com/office/drawing/2014/main" id="{D74CB609-2271-BDD3-30FC-A81844599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788" y="716230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 dirty="0"/>
              <a:t>The Recursion Matryoshka:                              "The Exit Strategy"</a:t>
            </a:r>
          </a:p>
        </p:txBody>
      </p:sp>
      <p:pic>
        <p:nvPicPr>
          <p:cNvPr id="4100" name="Picture 4" descr="PlantUML diagram">
            <a:extLst>
              <a:ext uri="{FF2B5EF4-FFF2-40B4-BE49-F238E27FC236}">
                <a16:creationId xmlns:a16="http://schemas.microsoft.com/office/drawing/2014/main" id="{683F5C49-31FF-D26D-1D34-1F4EAB7B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5968" y="3011187"/>
            <a:ext cx="9983717" cy="253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27194-893B-6F45-142B-208C6A7A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2023" y="6352651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5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5E0BF1-0602-DD43-FA4B-B8A18BD1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Title 5">
            <a:extLst>
              <a:ext uri="{FF2B5EF4-FFF2-40B4-BE49-F238E27FC236}">
                <a16:creationId xmlns:a16="http://schemas.microsoft.com/office/drawing/2014/main" id="{E6022167-7ABC-8985-787D-E13D3AB6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961341" cy="132080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Shallow vs. Deep Clone: "Address Isolation"</a:t>
            </a:r>
            <a:endParaRPr lang="en-IN" dirty="0"/>
          </a:p>
        </p:txBody>
      </p:sp>
      <p:pic>
        <p:nvPicPr>
          <p:cNvPr id="4098" name="Picture 2" descr="PlantUML diagram">
            <a:extLst>
              <a:ext uri="{FF2B5EF4-FFF2-40B4-BE49-F238E27FC236}">
                <a16:creationId xmlns:a16="http://schemas.microsoft.com/office/drawing/2014/main" id="{F6CB370F-CC6D-3711-DA30-BABB04DF9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31088" y="2357340"/>
            <a:ext cx="6311662" cy="389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1BAC1-439F-4A11-3C04-922EDFF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78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E0FF1-5F71-ED3F-B118-AB0EE4CD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Title 5">
            <a:extLst>
              <a:ext uri="{FF2B5EF4-FFF2-40B4-BE49-F238E27FC236}">
                <a16:creationId xmlns:a16="http://schemas.microsoft.com/office/drawing/2014/main" id="{2B266B8C-F9E8-25DE-7298-2D08DCB4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81264" cy="1320800"/>
          </a:xfrm>
        </p:spPr>
        <p:txBody>
          <a:bodyPr anchor="t">
            <a:normAutofit/>
          </a:bodyPr>
          <a:lstStyle/>
          <a:p>
            <a:pPr lvl="0" algn="ctr"/>
            <a:r>
              <a:rPr lang="en-IN" dirty="0"/>
              <a:t>Recursive Call Stack vs. Heap Allocation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55C1D-9CAF-CB03-9729-5696C8D0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6</a:t>
            </a:fld>
            <a:endParaRPr lang="en-IN"/>
          </a:p>
        </p:txBody>
      </p:sp>
      <p:pic>
        <p:nvPicPr>
          <p:cNvPr id="5122" name="Picture 2" descr="PlantUML diagram">
            <a:extLst>
              <a:ext uri="{FF2B5EF4-FFF2-40B4-BE49-F238E27FC236}">
                <a16:creationId xmlns:a16="http://schemas.microsoft.com/office/drawing/2014/main" id="{20B03657-B505-D2BE-CD93-6434B025D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7913"/>
            <a:ext cx="12192000" cy="286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04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50553-E351-FF5D-9893-1A306D4F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E500-8D2F-4CCF-5D44-041CB8D9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(</a:t>
            </a:r>
            <a:r>
              <a:rPr lang="en-IN" b="1" dirty="0"/>
              <a:t>The Recursive Shadow Clone</a:t>
            </a:r>
            <a:r>
              <a:rPr lang="en-IN" sz="4000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2D43A1-11C3-F1DB-A81E-2CC8CEE9F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7240952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Deeply </a:t>
            </a:r>
            <a:r>
              <a:rPr lang="en-US" sz="2000" dirty="0"/>
              <a:t>duplicate an object so the clone and original are 100% isolated.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Constraint:</a:t>
            </a:r>
            <a:r>
              <a:rPr lang="en-US" altLang="en-US" sz="4000" dirty="0">
                <a:latin typeface="Arial" panose="020B0604020202020204" pitchFamily="34" charset="0"/>
              </a:rPr>
              <a:t> Reference Integrity: </a:t>
            </a:r>
            <a:r>
              <a:rPr lang="en-US" altLang="en-US" sz="2000" dirty="0">
                <a:latin typeface="Arial" panose="020B0604020202020204" pitchFamily="34" charset="0"/>
              </a:rPr>
              <a:t>clone === original must be false. No "Remote" Leaks: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Logic: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</a:rPr>
              <a:t>"Open</a:t>
            </a:r>
            <a:r>
              <a:rPr lang="en-US" dirty="0"/>
              <a:t> the doll" (Recurse) until you hit a primitive.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7D7C5-654B-8D40-BE62-6A97A48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80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CF96E-AF05-DD4C-D086-7402EE44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DD48BB-E43C-07EB-BBBD-E1C70F6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666" y="54219"/>
            <a:ext cx="8706314" cy="1465547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4400" dirty="0"/>
              <a:t>Context Control (The Solution)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6E918B1-FA59-42EF-8A8E-B0F3D1E5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84BA-D78A-1D6A-500C-20B16406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FC7A780C-7D9A-A9B8-C9B5-B17AD63F41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782FF5-4C84-6183-819E-D510C2D5E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04871"/>
              </p:ext>
            </p:extLst>
          </p:nvPr>
        </p:nvGraphicFramePr>
        <p:xfrm>
          <a:off x="1263042" y="1174164"/>
          <a:ext cx="7269848" cy="42048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05503">
                  <a:extLst>
                    <a:ext uri="{9D8B030D-6E8A-4147-A177-3AD203B41FA5}">
                      <a16:colId xmlns:a16="http://schemas.microsoft.com/office/drawing/2014/main" val="552904688"/>
                    </a:ext>
                  </a:extLst>
                </a:gridCol>
                <a:gridCol w="2644633">
                  <a:extLst>
                    <a:ext uri="{9D8B030D-6E8A-4147-A177-3AD203B41FA5}">
                      <a16:colId xmlns:a16="http://schemas.microsoft.com/office/drawing/2014/main" val="4029110174"/>
                    </a:ext>
                  </a:extLst>
                </a:gridCol>
                <a:gridCol w="2419712">
                  <a:extLst>
                    <a:ext uri="{9D8B030D-6E8A-4147-A177-3AD203B41FA5}">
                      <a16:colId xmlns:a16="http://schemas.microsoft.com/office/drawing/2014/main" val="1026319175"/>
                    </a:ext>
                  </a:extLst>
                </a:gridCol>
              </a:tblGrid>
              <a:tr h="73023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Scenario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Code Execution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this Binding</a:t>
                      </a:r>
                      <a:endParaRPr lang="en-IN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606981"/>
                  </a:ext>
                </a:extLst>
              </a:tr>
              <a:tr h="10512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Direct Call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asset.priceFn</a:t>
                      </a:r>
                      <a:r>
                        <a:rPr lang="en-IN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()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Points to asset (Works)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387627"/>
                  </a:ext>
                </a:extLst>
              </a:tr>
              <a:tr h="10512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Extracted Call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const fn = asset.priceFn; fn()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Lost!</a:t>
                      </a:r>
                      <a:r>
                        <a:rPr lang="en-IN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 Points to undefined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866664"/>
                  </a:ext>
                </a:extLst>
              </a:tr>
              <a:tr h="13722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Restored Call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207372" marR="124423" marT="124423" marB="12442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fn.call(asset)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5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Fixed:</a:t>
                      </a:r>
                      <a:r>
                        <a:rPr lang="en-US" sz="15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Google Sans Text"/>
                        </a:rPr>
                        <a:t> Manually points this back to asset</a:t>
                      </a:r>
                    </a:p>
                  </a:txBody>
                  <a:tcPr marL="207372" marR="124423" marT="124423" marB="12442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330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58C2D2-6642-BCAD-E0B1-9510BE574043}"/>
              </a:ext>
            </a:extLst>
          </p:cNvPr>
          <p:cNvSpPr txBox="1"/>
          <p:nvPr/>
        </p:nvSpPr>
        <p:spPr>
          <a:xfrm>
            <a:off x="4897966" y="5425300"/>
            <a:ext cx="61009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// During traversal, if we find a function:</a:t>
            </a:r>
          </a:p>
          <a:p>
            <a:r>
              <a:rPr lang="en-IN" b="1" dirty="0">
                <a:solidFill>
                  <a:srgbClr val="7030A0"/>
                </a:solidFill>
              </a:rPr>
              <a:t>if (</a:t>
            </a:r>
            <a:r>
              <a:rPr lang="en-IN" b="1" dirty="0" err="1">
                <a:solidFill>
                  <a:srgbClr val="7030A0"/>
                </a:solidFill>
              </a:rPr>
              <a:t>typeof</a:t>
            </a:r>
            <a:r>
              <a:rPr lang="en-IN" b="1" dirty="0">
                <a:solidFill>
                  <a:srgbClr val="7030A0"/>
                </a:solidFill>
              </a:rPr>
              <a:t> </a:t>
            </a:r>
            <a:r>
              <a:rPr lang="en-IN" b="1" dirty="0" err="1">
                <a:solidFill>
                  <a:srgbClr val="7030A0"/>
                </a:solidFill>
              </a:rPr>
              <a:t>val</a:t>
            </a:r>
            <a:r>
              <a:rPr lang="en-IN" b="1" dirty="0">
                <a:solidFill>
                  <a:srgbClr val="7030A0"/>
                </a:solidFill>
              </a:rPr>
              <a:t> === 'function') {</a:t>
            </a:r>
          </a:p>
          <a:p>
            <a:r>
              <a:rPr lang="en-IN" b="1" dirty="0">
                <a:solidFill>
                  <a:srgbClr val="7030A0"/>
                </a:solidFill>
              </a:rPr>
              <a:t>  // Use .call(</a:t>
            </a:r>
            <a:r>
              <a:rPr lang="en-IN" b="1" dirty="0" err="1">
                <a:solidFill>
                  <a:srgbClr val="7030A0"/>
                </a:solidFill>
              </a:rPr>
              <a:t>parentObj</a:t>
            </a:r>
            <a:r>
              <a:rPr lang="en-IN" b="1" dirty="0">
                <a:solidFill>
                  <a:srgbClr val="7030A0"/>
                </a:solidFill>
              </a:rPr>
              <a:t>) to ensure 'this' is preserved</a:t>
            </a:r>
          </a:p>
          <a:p>
            <a:r>
              <a:rPr lang="en-IN" b="1" dirty="0">
                <a:solidFill>
                  <a:srgbClr val="7030A0"/>
                </a:solidFill>
              </a:rPr>
              <a:t>  return </a:t>
            </a:r>
            <a:r>
              <a:rPr lang="en-IN" b="1" dirty="0" err="1">
                <a:solidFill>
                  <a:srgbClr val="7030A0"/>
                </a:solidFill>
              </a:rPr>
              <a:t>val.call</a:t>
            </a:r>
            <a:r>
              <a:rPr lang="en-IN" b="1" dirty="0">
                <a:solidFill>
                  <a:srgbClr val="7030A0"/>
                </a:solidFill>
              </a:rPr>
              <a:t>(</a:t>
            </a:r>
            <a:r>
              <a:rPr lang="en-IN" b="1" dirty="0" err="1">
                <a:solidFill>
                  <a:srgbClr val="7030A0"/>
                </a:solidFill>
              </a:rPr>
              <a:t>parentObj</a:t>
            </a:r>
            <a:r>
              <a:rPr lang="en-IN" b="1" dirty="0">
                <a:solidFill>
                  <a:srgbClr val="7030A0"/>
                </a:solidFill>
              </a:rPr>
              <a:t>); </a:t>
            </a:r>
          </a:p>
          <a:p>
            <a:r>
              <a:rPr lang="en-IN" b="1" dirty="0">
                <a:solidFill>
                  <a:srgbClr val="7030A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6916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75AC-7B67-1210-7585-023DFA3F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5E8F-D985-75D2-2B62-A89ED994E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4333"/>
            <a:ext cx="4951048" cy="5249334"/>
          </a:xfrm>
        </p:spPr>
        <p:txBody>
          <a:bodyPr>
            <a:normAutofit/>
          </a:bodyPr>
          <a:lstStyle/>
          <a:p>
            <a:pPr algn="ctr"/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br>
              <a:rPr lang="en-IN" sz="4000" dirty="0">
                <a:solidFill>
                  <a:srgbClr val="00B0F0"/>
                </a:solidFill>
              </a:rPr>
            </a:br>
            <a:r>
              <a:rPr lang="en-IN" sz="4000" dirty="0">
                <a:solidFill>
                  <a:srgbClr val="00B0F0"/>
                </a:solidFill>
              </a:rPr>
              <a:t>Code-Along                        (</a:t>
            </a:r>
            <a:r>
              <a:rPr lang="en-IN" dirty="0"/>
              <a:t>Context Control</a:t>
            </a:r>
            <a:r>
              <a:rPr lang="en-IN" sz="4000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9095C7-39FE-E666-5C6A-AD74B315D7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1048" y="804333"/>
            <a:ext cx="7240952" cy="52493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Problem: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US" sz="4000" dirty="0"/>
              <a:t>The Pricing Crash (Context Loss)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b="1" dirty="0">
                <a:latin typeface="Arial" panose="020B0604020202020204" pitchFamily="34" charset="0"/>
              </a:rPr>
              <a:t>The Solution:</a:t>
            </a:r>
            <a:r>
              <a:rPr lang="en-US" altLang="en-US" sz="4000" dirty="0">
                <a:latin typeface="Arial" panose="020B0604020202020204" pitchFamily="34" charset="0"/>
              </a:rPr>
              <a:t> </a:t>
            </a:r>
            <a:r>
              <a:rPr lang="en-IN" sz="4000" dirty="0"/>
              <a:t>The Pricing Extractor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25E7-6265-D183-F6FB-F2DBD1C1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84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9" name="Group 7198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01" name="Straight Connector 7200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7" name="Straight Connector 7176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8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2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3" name="Isosceles Triangle 7202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4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5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6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7" name="Isosceles Triangle 7206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208" name="Isosceles Triangle 7207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190" name="Straight Connector 7189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91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2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3" name="Isosceles Triangle 7192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4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5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6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7" name="Isosceles Triangle 7196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198" name="Isosceles Triangle 7197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7200" name="Rectangle 7199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PlantUML diagram">
            <a:extLst>
              <a:ext uri="{FF2B5EF4-FFF2-40B4-BE49-F238E27FC236}">
                <a16:creationId xmlns:a16="http://schemas.microsoft.com/office/drawing/2014/main" id="{C3F74044-ED49-CE34-87AA-60D8257D40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846" y="2105985"/>
            <a:ext cx="9941259" cy="265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E0683-7959-EAFB-CA9C-5CE8B030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5194" y="6411619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10893-2876-93A0-A922-BC5ABC4C099F}"/>
              </a:ext>
            </a:extLst>
          </p:cNvPr>
          <p:cNvSpPr txBox="1"/>
          <p:nvPr/>
        </p:nvSpPr>
        <p:spPr>
          <a:xfrm>
            <a:off x="3050498" y="3248081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Context Control</a:t>
            </a:r>
            <a:r>
              <a:rPr lang="en-IN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E6E1E-CF58-1A30-445B-3AD68F6B64C3}"/>
              </a:ext>
            </a:extLst>
          </p:cNvPr>
          <p:cNvSpPr txBox="1"/>
          <p:nvPr/>
        </p:nvSpPr>
        <p:spPr>
          <a:xfrm>
            <a:off x="3819417" y="573149"/>
            <a:ext cx="6100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Context Control </a:t>
            </a:r>
          </a:p>
        </p:txBody>
      </p:sp>
    </p:spTree>
    <p:extLst>
      <p:ext uri="{BB962C8B-B14F-4D97-AF65-F5344CB8AC3E}">
        <p14:creationId xmlns:p14="http://schemas.microsoft.com/office/powerpoint/2010/main" val="1593129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3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6B2D83-59FE-A465-0A45-181035A2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6459" y="1131994"/>
            <a:ext cx="5980959" cy="45903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6AE0B-6C97-C8FE-B0B9-5339970F0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5194" y="6411619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39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99C2B-79E8-25B2-2BC7-A632F00E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N" dirty="0"/>
              <a:t>Lab R-05 (Prototype Bridge)</a:t>
            </a:r>
            <a:endParaRPr lang="en-IN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C8088-445E-E6FA-2FFC-0ECAEB68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12</a:t>
            </a:fld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D34711-6ED9-66B8-47E8-7F6A6B8378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531800"/>
              </p:ext>
            </p:extLst>
          </p:nvPr>
        </p:nvGraphicFramePr>
        <p:xfrm>
          <a:off x="1286933" y="2281271"/>
          <a:ext cx="9618135" cy="3428028"/>
        </p:xfrm>
        <a:graphic>
          <a:graphicData uri="http://schemas.openxmlformats.org/drawingml/2006/table">
            <a:tbl>
              <a:tblPr/>
              <a:tblGrid>
                <a:gridCol w="1939031">
                  <a:extLst>
                    <a:ext uri="{9D8B030D-6E8A-4147-A177-3AD203B41FA5}">
                      <a16:colId xmlns:a16="http://schemas.microsoft.com/office/drawing/2014/main" val="3728825512"/>
                    </a:ext>
                  </a:extLst>
                </a:gridCol>
                <a:gridCol w="2249731">
                  <a:extLst>
                    <a:ext uri="{9D8B030D-6E8A-4147-A177-3AD203B41FA5}">
                      <a16:colId xmlns:a16="http://schemas.microsoft.com/office/drawing/2014/main" val="1323985404"/>
                    </a:ext>
                  </a:extLst>
                </a:gridCol>
                <a:gridCol w="2527610">
                  <a:extLst>
                    <a:ext uri="{9D8B030D-6E8A-4147-A177-3AD203B41FA5}">
                      <a16:colId xmlns:a16="http://schemas.microsoft.com/office/drawing/2014/main" val="685791004"/>
                    </a:ext>
                  </a:extLst>
                </a:gridCol>
                <a:gridCol w="2901763">
                  <a:extLst>
                    <a:ext uri="{9D8B030D-6E8A-4147-A177-3AD203B41FA5}">
                      <a16:colId xmlns:a16="http://schemas.microsoft.com/office/drawing/2014/main" val="3581100102"/>
                    </a:ext>
                  </a:extLst>
                </a:gridCol>
              </a:tblGrid>
              <a:tr h="6385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Level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Analogous to...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 Properties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127381"/>
                  </a:ext>
                </a:extLst>
              </a:tr>
              <a:tr h="10166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Instrument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Blueprint</a:t>
                      </a: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(Prototype)</a:t>
                      </a: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Superclass</a:t>
                      </a: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calculateValue()</a:t>
                      </a: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validate()</a:t>
                      </a: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5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getRisk()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177298"/>
                  </a:ext>
                </a:extLst>
              </a:tr>
              <a:tr h="17728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Asset</a:t>
                      </a:r>
                      <a:endParaRPr lang="en-IN" sz="2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Instance</a:t>
                      </a: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(Object)</a:t>
                      </a: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5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Subclass/Object</a:t>
                      </a: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5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ticker: "GS"</a:t>
                      </a:r>
                      <a:r>
                        <a:rPr lang="en-US" sz="2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5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notional: 1000000</a:t>
                      </a:r>
                      <a:r>
                        <a:rPr lang="en-US" sz="25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5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notionalCurrency</a:t>
                      </a:r>
                      <a:r>
                        <a:rPr lang="en-US" sz="25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: "USD"</a:t>
                      </a:r>
                      <a:endParaRPr lang="en-US" sz="2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7538" marR="157538" marT="105025" marB="10502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56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28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8270F-AA83-75FE-2060-91CAB4BD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The Engineering Architecture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AAAC0-787A-ABE0-A87D-49ECE03F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C3D416-06CF-4992-9B82-1CD609DB644E}" type="slidenum">
              <a:rPr lang="en-IN" smtClean="0"/>
              <a:pPr>
                <a:spcAft>
                  <a:spcPts val="600"/>
                </a:spcAft>
              </a:pPr>
              <a:t>13</a:t>
            </a:fld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85E02C-D617-4BF3-5AB5-0B33FF07A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571625"/>
              </p:ext>
            </p:extLst>
          </p:nvPr>
        </p:nvGraphicFramePr>
        <p:xfrm>
          <a:off x="1813755" y="1948543"/>
          <a:ext cx="8564491" cy="4093485"/>
        </p:xfrm>
        <a:graphic>
          <a:graphicData uri="http://schemas.openxmlformats.org/drawingml/2006/table">
            <a:tbl>
              <a:tblPr/>
              <a:tblGrid>
                <a:gridCol w="2919831">
                  <a:extLst>
                    <a:ext uri="{9D8B030D-6E8A-4147-A177-3AD203B41FA5}">
                      <a16:colId xmlns:a16="http://schemas.microsoft.com/office/drawing/2014/main" val="1225959432"/>
                    </a:ext>
                  </a:extLst>
                </a:gridCol>
                <a:gridCol w="2927260">
                  <a:extLst>
                    <a:ext uri="{9D8B030D-6E8A-4147-A177-3AD203B41FA5}">
                      <a16:colId xmlns:a16="http://schemas.microsoft.com/office/drawing/2014/main" val="1246462308"/>
                    </a:ext>
                  </a:extLst>
                </a:gridCol>
                <a:gridCol w="2717400">
                  <a:extLst>
                    <a:ext uri="{9D8B030D-6E8A-4147-A177-3AD203B41FA5}">
                      <a16:colId xmlns:a16="http://schemas.microsoft.com/office/drawing/2014/main" val="407900061"/>
                    </a:ext>
                  </a:extLst>
                </a:gridCol>
              </a:tblGrid>
              <a:tr h="5419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Role in Lab R-05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Memory Impact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609251"/>
                  </a:ext>
                </a:extLst>
              </a:tr>
              <a:tr h="1183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InstrumentPrototype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"Superclass" holding shared pricing logic.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Low:</a:t>
                      </a: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One copy in the Heap.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3719"/>
                  </a:ext>
                </a:extLst>
              </a:tr>
              <a:tr h="1183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buildBridge()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logic that connects raw API data to the blueprint.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Efficient:</a:t>
                      </a:r>
                      <a:r>
                        <a:rPr lang="en-IN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 data is copied.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918975"/>
                  </a:ext>
                </a:extLst>
              </a:tr>
              <a:tr h="118383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Object.setPrototypeOf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mechanism that creates the inheritance chain.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Fast:</a:t>
                      </a: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Updates the hidden </a:t>
                      </a:r>
                      <a:r>
                        <a:rPr lang="en-US" sz="21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[[Prototype]]</a:t>
                      </a: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pointer.</a:t>
                      </a:r>
                    </a:p>
                  </a:txBody>
                  <a:tcPr marL="133716" marR="133716" marT="89144" marB="8914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776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507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838C-FA1A-905D-62C8-CEFD34CA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001A3C-46C0-5780-F980-259086ABEC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25799" y="1490007"/>
            <a:ext cx="714040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Recursion over Iteration</a:t>
            </a:r>
          </a:p>
          <a:p>
            <a:pPr lvl="0"/>
            <a:endParaRPr lang="en-IN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IN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Exit Early</a:t>
            </a:r>
          </a:p>
          <a:p>
            <a:pPr lvl="0"/>
            <a:endParaRPr lang="en-IN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IN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Memory Isolation</a:t>
            </a:r>
          </a:p>
          <a:p>
            <a:pPr lvl="0"/>
            <a:endParaRPr lang="en-IN" sz="280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lvl="0"/>
            <a:r>
              <a:rPr lang="en-IN" sz="2800" dirty="0">
                <a:ln w="0"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Context Control</a:t>
            </a:r>
            <a:endParaRPr kumimoji="0" lang="en-US" altLang="en-US" sz="2800" i="0" u="none" strike="noStrike" normalizeH="0" baseline="0" dirty="0">
              <a:ln w="0"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48173-BC01-732F-E223-28793A62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3D416-06CF-4992-9B82-1CD609DB64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6419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245</TotalTime>
  <Words>555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Google Sans Text</vt:lpstr>
      <vt:lpstr>Trebuchet MS</vt:lpstr>
      <vt:lpstr>Wingdings 3</vt:lpstr>
      <vt:lpstr>Facet</vt:lpstr>
      <vt:lpstr>Phase 2: Deep Traversal &amp; The Recursive Mindset</vt:lpstr>
      <vt:lpstr>The Mental Model:  "The Russian Matryoshka Doll"</vt:lpstr>
      <vt:lpstr>Common Interview Pitfalls                          (The "Recursion Killers")</vt:lpstr>
      <vt:lpstr>The Recursion Matryoshka:                              "The Exit Strategy"</vt:lpstr>
      <vt:lpstr>Shallow vs. Deep Clone: "Address Isolation"</vt:lpstr>
      <vt:lpstr>Recursive Call Stack vs. Heap Allocation</vt:lpstr>
      <vt:lpstr>   Code-Along                        (The Recursive Shadow Clone)</vt:lpstr>
      <vt:lpstr>Context Control (The Solution)</vt:lpstr>
      <vt:lpstr>   Code-Along                        (Context Control)</vt:lpstr>
      <vt:lpstr>PowerPoint Presentation</vt:lpstr>
      <vt:lpstr>PowerPoint Presentation</vt:lpstr>
      <vt:lpstr>Lab R-05 (Prototype Bridge)</vt:lpstr>
      <vt:lpstr>The Engineering Architecture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Joseph Samuels</dc:creator>
  <cp:lastModifiedBy>Stephen Joseph Samuels</cp:lastModifiedBy>
  <cp:revision>12</cp:revision>
  <dcterms:created xsi:type="dcterms:W3CDTF">2026-02-09T07:07:36Z</dcterms:created>
  <dcterms:modified xsi:type="dcterms:W3CDTF">2026-02-11T07:32:21Z</dcterms:modified>
</cp:coreProperties>
</file>