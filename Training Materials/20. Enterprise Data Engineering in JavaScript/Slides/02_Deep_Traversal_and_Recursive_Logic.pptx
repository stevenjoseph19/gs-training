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1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3" r:id="rId6"/>
    <p:sldId id="264" r:id="rId7"/>
    <p:sldId id="262" r:id="rId8"/>
    <p:sldId id="265" r:id="rId9"/>
    <p:sldId id="266" r:id="rId10"/>
    <p:sldId id="267" r:id="rId11"/>
    <p:sldId id="268" r:id="rId12"/>
    <p:sldId id="270" r:id="rId13"/>
    <p:sldId id="271" r:id="rId14"/>
    <p:sldId id="261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7B646-E19B-4900-B6F7-BBCF4CA123A8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428649-8DAD-4F20-B376-FA78BEEA76B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0348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184F25-93CA-4083-91F6-44CD5E538C60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7658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52D2-2ACB-4F04-961A-2002AF374DCD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6980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0A2B5-705A-4377-AD51-0E64CB165C50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92478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52884-E373-49C8-9271-98304C4E9A78}" type="datetime1">
              <a:rPr lang="en-IN" smtClean="0"/>
              <a:t>11-02-2026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01559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056A54-3F66-4E14-AEB4-09A5EE83B80D}" type="datetime1">
              <a:rPr lang="en-IN" smtClean="0"/>
              <a:t>11-02-2026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7342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D91D8D-9340-4A58-BBB0-1FC1A260ABBC}" type="datetime1">
              <a:rPr lang="en-IN" smtClean="0"/>
              <a:t>11-02-2026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2407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58AD7-9BCA-4D05-BAE8-D726A2DDC3A2}" type="datetime1">
              <a:rPr lang="en-IN" smtClean="0"/>
              <a:t>11-02-2026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7471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135B08-9571-416C-8DEA-0FD1B2A7F3C3}" type="datetime1">
              <a:rPr lang="en-IN" smtClean="0"/>
              <a:t>11-02-2026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6173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17D46-0F71-4BCA-B6A1-0FCBBD18435F}" type="datetime1">
              <a:rPr lang="en-IN" smtClean="0"/>
              <a:t>11-02-2026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4753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B7436-2F6D-4A54-BB5F-1B1A7D5F97C6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8484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42C07-5C92-4389-910E-83425E69B4D2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970733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8045-3960-47D5-8923-156FD8E34DC8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48575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44393-8762-49EE-A09D-C6718B772424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129742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DA155-BABA-4042-AE3F-48DDD43C4338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7587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68DB0-FF17-4873-B285-6F3AA300A01E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54639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2F982-93BC-4EAF-AD77-434B6A325E06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8114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BA09EB-E0D8-48BA-B146-187B10F18B5C}" type="datetime1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ADC3D416-06CF-4992-9B82-1CD609DB64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6007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2" r:id="rId1"/>
    <p:sldLayoutId id="2147483763" r:id="rId2"/>
    <p:sldLayoutId id="2147483764" r:id="rId3"/>
    <p:sldLayoutId id="2147483765" r:id="rId4"/>
    <p:sldLayoutId id="2147483766" r:id="rId5"/>
    <p:sldLayoutId id="2147483767" r:id="rId6"/>
    <p:sldLayoutId id="2147483768" r:id="rId7"/>
    <p:sldLayoutId id="2147483769" r:id="rId8"/>
    <p:sldLayoutId id="2147483770" r:id="rId9"/>
    <p:sldLayoutId id="2147483771" r:id="rId10"/>
    <p:sldLayoutId id="2147483772" r:id="rId11"/>
    <p:sldLayoutId id="2147483773" r:id="rId12"/>
    <p:sldLayoutId id="2147483774" r:id="rId13"/>
    <p:sldLayoutId id="2147483775" r:id="rId14"/>
    <p:sldLayoutId id="2147483776" r:id="rId15"/>
    <p:sldLayoutId id="2147483777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B2988-9B75-E6CC-B453-10CFBB4C72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Phase 2: Deep Traversal &amp; The Recursive Mindset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FD4AB7-419E-685E-1C4B-08FA870C0C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735DD4-6528-EA91-8E97-C904CA35E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3442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B43E6-06B9-7411-55D8-3320B7CFC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522" y="189875"/>
            <a:ext cx="11074955" cy="1320800"/>
          </a:xfrm>
        </p:spPr>
        <p:txBody>
          <a:bodyPr/>
          <a:lstStyle/>
          <a:p>
            <a:pPr algn="ctr"/>
            <a:r>
              <a:rPr lang="en-US" dirty="0"/>
              <a:t>The Mental Model:</a:t>
            </a:r>
            <a:br>
              <a:rPr lang="en-US" dirty="0"/>
            </a:br>
            <a:r>
              <a:rPr lang="en-US" dirty="0"/>
              <a:t> "The Russian Matryoshka Doll"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E33D88-6CEC-3EA1-4DCB-D2DD19739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2</a:t>
            </a:fld>
            <a:endParaRPr lang="en-IN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838DF9DD-1F68-F59C-0267-1D63949EC9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5373974" cy="5373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" name="AutoShape 4">
            <a:extLst>
              <a:ext uri="{FF2B5EF4-FFF2-40B4-BE49-F238E27FC236}">
                <a16:creationId xmlns:a16="http://schemas.microsoft.com/office/drawing/2014/main" id="{4D5CF5BF-7487-B917-0A4C-07F89A8FFA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12433" y="3429000"/>
            <a:ext cx="3685082" cy="3685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1E7CEA4-2B36-DF49-194B-7DCDACD33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089" y="1696367"/>
            <a:ext cx="9212762" cy="4201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396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4815A7B4-532E-48C9-AC24-D78ACF3339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27" name="Freeform 14">
              <a:extLst>
                <a:ext uri="{FF2B5EF4-FFF2-40B4-BE49-F238E27FC236}">
                  <a16:creationId xmlns:a16="http://schemas.microsoft.com/office/drawing/2014/main" id="{D40109F4-CE5C-45F4-856E-F3F69C9FD4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CBAA4DE-3D7B-460B-AE98-D9F9990C0B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F1ED3E-4F80-4AF6-A41B-44F53DDE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3">
              <a:extLst>
                <a:ext uri="{FF2B5EF4-FFF2-40B4-BE49-F238E27FC236}">
                  <a16:creationId xmlns:a16="http://schemas.microsoft.com/office/drawing/2014/main" id="{C0B2D747-3E31-45C5-9A98-A9710A585F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9" name="Rectangle 25">
              <a:extLst>
                <a:ext uri="{FF2B5EF4-FFF2-40B4-BE49-F238E27FC236}">
                  <a16:creationId xmlns:a16="http://schemas.microsoft.com/office/drawing/2014/main" id="{A15FD4BA-3020-462D-8BE8-B3A65B8E49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A304284A-7318-4DD5-898C-2F6B23C778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31" name="Rectangle 27">
              <a:extLst>
                <a:ext uri="{FF2B5EF4-FFF2-40B4-BE49-F238E27FC236}">
                  <a16:creationId xmlns:a16="http://schemas.microsoft.com/office/drawing/2014/main" id="{9DF48E66-B635-4509-B115-E0987C014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32" name="Rectangle 28">
              <a:extLst>
                <a:ext uri="{FF2B5EF4-FFF2-40B4-BE49-F238E27FC236}">
                  <a16:creationId xmlns:a16="http://schemas.microsoft.com/office/drawing/2014/main" id="{E3B96D94-5F5A-4F4C-810C-917BF4D266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33" name="Rectangle 29">
              <a:extLst>
                <a:ext uri="{FF2B5EF4-FFF2-40B4-BE49-F238E27FC236}">
                  <a16:creationId xmlns:a16="http://schemas.microsoft.com/office/drawing/2014/main" id="{7F3782D6-BFF8-4389-9D39-A023ADAA92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34" name="Isosceles Triangle 33">
              <a:extLst>
                <a:ext uri="{FF2B5EF4-FFF2-40B4-BE49-F238E27FC236}">
                  <a16:creationId xmlns:a16="http://schemas.microsoft.com/office/drawing/2014/main" id="{ECE162D4-FCAE-441B-B5E9-C91DE6212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7436558-C12E-2160-1FA4-B7C3433F6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7076" y="140224"/>
            <a:ext cx="8051540" cy="1087656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IN" b="1" dirty="0"/>
              <a:t>Common Interview Pitfalls                          (The "Recursion Killers")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4FE71-1256-3CD4-9555-6B1B90DC0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2023" y="6352651"/>
            <a:ext cx="68333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DC3D416-06CF-4992-9B82-1CD609DB644E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305AE7FE-0853-90CB-D87A-2CF8D738C49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C98CBCD-8E64-4A05-A2B2-12FBD3BEDC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571024"/>
              </p:ext>
            </p:extLst>
          </p:nvPr>
        </p:nvGraphicFramePr>
        <p:xfrm>
          <a:off x="739776" y="1663907"/>
          <a:ext cx="9138742" cy="3822492"/>
        </p:xfrm>
        <a:graphic>
          <a:graphicData uri="http://schemas.openxmlformats.org/drawingml/2006/table">
            <a:tbl>
              <a:tblPr>
                <a:solidFill>
                  <a:schemeClr val="accent1">
                    <a:lumMod val="20000"/>
                    <a:lumOff val="80000"/>
                  </a:schemeClr>
                </a:solidFill>
              </a:tblPr>
              <a:tblGrid>
                <a:gridCol w="2964076">
                  <a:extLst>
                    <a:ext uri="{9D8B030D-6E8A-4147-A177-3AD203B41FA5}">
                      <a16:colId xmlns:a16="http://schemas.microsoft.com/office/drawing/2014/main" val="119739137"/>
                    </a:ext>
                  </a:extLst>
                </a:gridCol>
                <a:gridCol w="3102418">
                  <a:extLst>
                    <a:ext uri="{9D8B030D-6E8A-4147-A177-3AD203B41FA5}">
                      <a16:colId xmlns:a16="http://schemas.microsoft.com/office/drawing/2014/main" val="2473379172"/>
                    </a:ext>
                  </a:extLst>
                </a:gridCol>
                <a:gridCol w="3072248">
                  <a:extLst>
                    <a:ext uri="{9D8B030D-6E8A-4147-A177-3AD203B41FA5}">
                      <a16:colId xmlns:a16="http://schemas.microsoft.com/office/drawing/2014/main" val="2185432610"/>
                    </a:ext>
                  </a:extLst>
                </a:gridCol>
              </a:tblGrid>
              <a:tr h="37437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3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Pitfall</a:t>
                      </a:r>
                      <a:endParaRPr lang="en-IN" sz="13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58108" marR="58108" marT="38739" marB="7154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3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The "Red Flag" Detail</a:t>
                      </a:r>
                      <a:endParaRPr lang="en-IN" sz="13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58108" marR="58108" marT="38739" marB="7154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3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Engineering Impact / Solution</a:t>
                      </a:r>
                      <a:endParaRPr lang="en-IN" sz="13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58108" marR="58108" marT="38739" marB="7154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1928937"/>
                  </a:ext>
                </a:extLst>
              </a:tr>
              <a:tr h="80767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3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The null Collision</a:t>
                      </a:r>
                      <a:endParaRPr lang="en-IN" sz="13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58108" marR="58108" marT="38739" marB="7154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3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typeof null returns "object".</a:t>
                      </a:r>
                    </a:p>
                  </a:txBody>
                  <a:tcPr marL="58108" marR="58108" marT="38739" marB="7154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300" b="1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Crash Risk:</a:t>
                      </a:r>
                      <a:r>
                        <a:rPr lang="en-US" sz="13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Attempting to access keys of null throws a </a:t>
                      </a:r>
                      <a:r>
                        <a:rPr lang="en-US" sz="13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TypeError</a:t>
                      </a:r>
                      <a:r>
                        <a:rPr lang="en-US" sz="13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. Always check if (</a:t>
                      </a:r>
                      <a:r>
                        <a:rPr lang="en-US" sz="13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val</a:t>
                      </a:r>
                      <a:r>
                        <a:rPr lang="en-US" sz="13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=== null) first.</a:t>
                      </a:r>
                    </a:p>
                  </a:txBody>
                  <a:tcPr marL="58108" marR="58108" marT="38739" marB="7154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7609094"/>
                  </a:ext>
                </a:extLst>
              </a:tr>
              <a:tr h="102508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3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The Array Paradox</a:t>
                      </a:r>
                      <a:endParaRPr lang="en-IN" sz="13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58108" marR="58108" marT="38739" marB="7154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300" cap="none" spc="0" dirty="0" err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typeof</a:t>
                      </a:r>
                      <a:r>
                        <a:rPr lang="en-IN" sz="13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[] returns "object".</a:t>
                      </a:r>
                    </a:p>
                  </a:txBody>
                  <a:tcPr marL="58108" marR="58108" marT="38739" marB="7154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3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Structure Loss:</a:t>
                      </a:r>
                      <a:r>
                        <a:rPr lang="en-US" sz="13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Standard object iteration treats indices as string keys. Requires Array.isArray() to preserve order.</a:t>
                      </a:r>
                    </a:p>
                  </a:txBody>
                  <a:tcPr marL="58108" marR="58108" marT="38739" marB="7154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0276374"/>
                  </a:ext>
                </a:extLst>
              </a:tr>
              <a:tr h="80767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3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Context Loss</a:t>
                      </a:r>
                      <a:endParaRPr lang="en-IN" sz="13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58108" marR="58108" marT="38739" marB="7154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3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this binding disappears during traversal.</a:t>
                      </a:r>
                    </a:p>
                  </a:txBody>
                  <a:tcPr marL="58108" marR="58108" marT="38739" marB="7154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3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Logic Failure:</a:t>
                      </a:r>
                      <a:r>
                        <a:rPr lang="en-US" sz="13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Calling methods without .call(obj) points this to undefined (Lab R-16 fix).</a:t>
                      </a:r>
                    </a:p>
                  </a:txBody>
                  <a:tcPr marL="58108" marR="58108" marT="38739" marB="7154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4344514"/>
                  </a:ext>
                </a:extLst>
              </a:tr>
              <a:tr h="80767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300" b="1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Circular References</a:t>
                      </a:r>
                      <a:endParaRPr lang="en-IN" sz="13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58108" marR="58108" marT="38739" marB="7154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300" cap="none" spc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A "Remote" (Pointer) points back to a parent "House."</a:t>
                      </a:r>
                    </a:p>
                  </a:txBody>
                  <a:tcPr marL="58108" marR="58108" marT="38739" marB="7154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300" b="1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Infinite Loop:</a:t>
                      </a:r>
                      <a:r>
                        <a:rPr lang="en-US" sz="1300" cap="none" spc="0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 Recursion will never hit a base case, leading to a Stack Overflow crash.</a:t>
                      </a:r>
                    </a:p>
                  </a:txBody>
                  <a:tcPr marL="58108" marR="58108" marT="38739" marB="71549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584426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5DB758B-7254-EF50-FDA9-F15F93797954}"/>
              </a:ext>
            </a:extLst>
          </p:cNvPr>
          <p:cNvSpPr txBox="1"/>
          <p:nvPr/>
        </p:nvSpPr>
        <p:spPr>
          <a:xfrm>
            <a:off x="4846545" y="5690205"/>
            <a:ext cx="73422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 err="1">
                <a:solidFill>
                  <a:srgbClr val="7030A0"/>
                </a:solidFill>
              </a:rPr>
              <a:t>const</a:t>
            </a:r>
            <a:r>
              <a:rPr lang="en-IN" b="1" dirty="0">
                <a:solidFill>
                  <a:srgbClr val="7030A0"/>
                </a:solidFill>
              </a:rPr>
              <a:t> house = {};</a:t>
            </a:r>
          </a:p>
          <a:p>
            <a:r>
              <a:rPr lang="en-IN" b="1" dirty="0" err="1">
                <a:solidFill>
                  <a:srgbClr val="7030A0"/>
                </a:solidFill>
              </a:rPr>
              <a:t>house.itself</a:t>
            </a:r>
            <a:r>
              <a:rPr lang="en-IN" b="1" dirty="0">
                <a:solidFill>
                  <a:srgbClr val="7030A0"/>
                </a:solidFill>
              </a:rPr>
              <a:t> = house; // The "Remote" points back to the "House"</a:t>
            </a:r>
          </a:p>
          <a:p>
            <a:r>
              <a:rPr lang="en-IN" b="1" dirty="0" err="1">
                <a:solidFill>
                  <a:srgbClr val="7030A0"/>
                </a:solidFill>
              </a:rPr>
              <a:t>deepClone</a:t>
            </a:r>
            <a:r>
              <a:rPr lang="en-IN" b="1" dirty="0">
                <a:solidFill>
                  <a:srgbClr val="7030A0"/>
                </a:solidFill>
              </a:rPr>
              <a:t>(house);    // ERROR: Infinite Loop!</a:t>
            </a:r>
          </a:p>
        </p:txBody>
      </p:sp>
    </p:spTree>
    <p:extLst>
      <p:ext uri="{BB962C8B-B14F-4D97-AF65-F5344CB8AC3E}">
        <p14:creationId xmlns:p14="http://schemas.microsoft.com/office/powerpoint/2010/main" val="31221776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67" name="Group 4166">
            <a:extLst>
              <a:ext uri="{FF2B5EF4-FFF2-40B4-BE49-F238E27FC236}">
                <a16:creationId xmlns:a16="http://schemas.microsoft.com/office/drawing/2014/main" id="{4815A7B4-532E-48C9-AC24-D78ACF3339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4156" name="Freeform 14">
              <a:extLst>
                <a:ext uri="{FF2B5EF4-FFF2-40B4-BE49-F238E27FC236}">
                  <a16:creationId xmlns:a16="http://schemas.microsoft.com/office/drawing/2014/main" id="{D40109F4-CE5C-45F4-856E-F3F69C9FD4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cxnSp>
          <p:nvCxnSpPr>
            <p:cNvPr id="4157" name="Straight Connector 4156">
              <a:extLst>
                <a:ext uri="{FF2B5EF4-FFF2-40B4-BE49-F238E27FC236}">
                  <a16:creationId xmlns:a16="http://schemas.microsoft.com/office/drawing/2014/main" id="{3CBAA4DE-3D7B-460B-AE98-D9F9990C0B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8" name="Straight Connector 4157">
              <a:extLst>
                <a:ext uri="{FF2B5EF4-FFF2-40B4-BE49-F238E27FC236}">
                  <a16:creationId xmlns:a16="http://schemas.microsoft.com/office/drawing/2014/main" id="{7BF1ED3E-4F80-4AF6-A41B-44F53DDE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59" name="Rectangle 23">
              <a:extLst>
                <a:ext uri="{FF2B5EF4-FFF2-40B4-BE49-F238E27FC236}">
                  <a16:creationId xmlns:a16="http://schemas.microsoft.com/office/drawing/2014/main" id="{C0B2D747-3E31-45C5-9A98-A9710A585F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4160" name="Rectangle 25">
              <a:extLst>
                <a:ext uri="{FF2B5EF4-FFF2-40B4-BE49-F238E27FC236}">
                  <a16:creationId xmlns:a16="http://schemas.microsoft.com/office/drawing/2014/main" id="{A15FD4BA-3020-462D-8BE8-B3A65B8E49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4161" name="Isosceles Triangle 4160">
              <a:extLst>
                <a:ext uri="{FF2B5EF4-FFF2-40B4-BE49-F238E27FC236}">
                  <a16:creationId xmlns:a16="http://schemas.microsoft.com/office/drawing/2014/main" id="{A304284A-7318-4DD5-898C-2F6B23C778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4162" name="Rectangle 27">
              <a:extLst>
                <a:ext uri="{FF2B5EF4-FFF2-40B4-BE49-F238E27FC236}">
                  <a16:creationId xmlns:a16="http://schemas.microsoft.com/office/drawing/2014/main" id="{9DF48E66-B635-4509-B115-E0987C014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4163" name="Rectangle 28">
              <a:extLst>
                <a:ext uri="{FF2B5EF4-FFF2-40B4-BE49-F238E27FC236}">
                  <a16:creationId xmlns:a16="http://schemas.microsoft.com/office/drawing/2014/main" id="{E3B96D94-5F5A-4F4C-810C-917BF4D266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4164" name="Rectangle 29">
              <a:extLst>
                <a:ext uri="{FF2B5EF4-FFF2-40B4-BE49-F238E27FC236}">
                  <a16:creationId xmlns:a16="http://schemas.microsoft.com/office/drawing/2014/main" id="{7F3782D6-BFF8-4389-9D39-A023ADAA92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4165" name="Isosceles Triangle 4164">
              <a:extLst>
                <a:ext uri="{FF2B5EF4-FFF2-40B4-BE49-F238E27FC236}">
                  <a16:creationId xmlns:a16="http://schemas.microsoft.com/office/drawing/2014/main" id="{ECE162D4-FCAE-441B-B5E9-C91DE6212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4125" name="Title 5">
            <a:extLst>
              <a:ext uri="{FF2B5EF4-FFF2-40B4-BE49-F238E27FC236}">
                <a16:creationId xmlns:a16="http://schemas.microsoft.com/office/drawing/2014/main" id="{D74CB609-2271-BDD3-30FC-A81844599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1788" y="716230"/>
            <a:ext cx="8288032" cy="109631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3400" dirty="0"/>
              <a:t>The Recursion Matryoshka:                              "The Exit Strategy"</a:t>
            </a:r>
          </a:p>
        </p:txBody>
      </p:sp>
      <p:pic>
        <p:nvPicPr>
          <p:cNvPr id="4100" name="Picture 4" descr="PlantUML diagram">
            <a:extLst>
              <a:ext uri="{FF2B5EF4-FFF2-40B4-BE49-F238E27FC236}">
                <a16:creationId xmlns:a16="http://schemas.microsoft.com/office/drawing/2014/main" id="{683F5C49-31FF-D26D-1D34-1F4EAB7B4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85968" y="3011187"/>
            <a:ext cx="9983717" cy="2535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27194-893B-6F45-142B-208C6A7AC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2023" y="6352651"/>
            <a:ext cx="68333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DC3D416-06CF-4992-9B82-1CD609DB644E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855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5E0BF1-0602-DD43-FA4B-B8A18BD18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5" name="Title 5">
            <a:extLst>
              <a:ext uri="{FF2B5EF4-FFF2-40B4-BE49-F238E27FC236}">
                <a16:creationId xmlns:a16="http://schemas.microsoft.com/office/drawing/2014/main" id="{E6022167-7ABC-8985-787D-E13D3AB65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8961341" cy="1320800"/>
          </a:xfrm>
        </p:spPr>
        <p:txBody>
          <a:bodyPr anchor="t">
            <a:normAutofit/>
          </a:bodyPr>
          <a:lstStyle/>
          <a:p>
            <a:pPr algn="ctr"/>
            <a:r>
              <a:rPr lang="en-US" dirty="0"/>
              <a:t>Shallow vs. Deep Clone: "Address Isolation"</a:t>
            </a:r>
            <a:endParaRPr lang="en-IN" dirty="0"/>
          </a:p>
        </p:txBody>
      </p:sp>
      <p:pic>
        <p:nvPicPr>
          <p:cNvPr id="4098" name="Picture 2" descr="PlantUML diagram">
            <a:extLst>
              <a:ext uri="{FF2B5EF4-FFF2-40B4-BE49-F238E27FC236}">
                <a16:creationId xmlns:a16="http://schemas.microsoft.com/office/drawing/2014/main" id="{F6CB370F-CC6D-3711-DA30-BABB04DF97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931088" y="2357340"/>
            <a:ext cx="6311662" cy="3891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1BAC1-439F-4A11-3C04-922EDFFCD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90663" y="6041362"/>
            <a:ext cx="68333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DC3D416-06CF-4992-9B82-1CD609DB644E}" type="slidenum">
              <a:rPr lang="en-IN" smtClean="0"/>
              <a:pPr>
                <a:spcAft>
                  <a:spcPts val="600"/>
                </a:spcAft>
              </a:pPr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3783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2E0FF1-5F71-ED3F-B118-AB0EE4CD3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5" name="Title 5">
            <a:extLst>
              <a:ext uri="{FF2B5EF4-FFF2-40B4-BE49-F238E27FC236}">
                <a16:creationId xmlns:a16="http://schemas.microsoft.com/office/drawing/2014/main" id="{2B266B8C-F9E8-25DE-7298-2D08DCB42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081264" cy="1320800"/>
          </a:xfrm>
        </p:spPr>
        <p:txBody>
          <a:bodyPr anchor="t">
            <a:normAutofit/>
          </a:bodyPr>
          <a:lstStyle/>
          <a:p>
            <a:pPr lvl="0" algn="ctr"/>
            <a:r>
              <a:rPr lang="en-IN" dirty="0"/>
              <a:t>Recursive Call Stack vs. Heap Allocation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55C1D-9CAF-CB03-9729-5696C8D0F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90663" y="6041362"/>
            <a:ext cx="68333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DC3D416-06CF-4992-9B82-1CD609DB644E}" type="slidenum">
              <a:rPr lang="en-IN" smtClean="0"/>
              <a:pPr>
                <a:spcAft>
                  <a:spcPts val="600"/>
                </a:spcAft>
              </a:pPr>
              <a:t>6</a:t>
            </a:fld>
            <a:endParaRPr lang="en-IN"/>
          </a:p>
        </p:txBody>
      </p:sp>
      <p:pic>
        <p:nvPicPr>
          <p:cNvPr id="5122" name="Picture 2" descr="PlantUML diagram">
            <a:extLst>
              <a:ext uri="{FF2B5EF4-FFF2-40B4-BE49-F238E27FC236}">
                <a16:creationId xmlns:a16="http://schemas.microsoft.com/office/drawing/2014/main" id="{20B03657-B505-D2BE-CD93-6434B025D7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347913"/>
            <a:ext cx="12192000" cy="2868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40417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E50553-E351-FF5D-9893-1A306D4F3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4E500-8D2F-4CCF-5D44-041CB8D9F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04333"/>
            <a:ext cx="4951048" cy="5249334"/>
          </a:xfrm>
        </p:spPr>
        <p:txBody>
          <a:bodyPr>
            <a:normAutofit/>
          </a:bodyPr>
          <a:lstStyle/>
          <a:p>
            <a:pPr algn="ctr"/>
            <a:br>
              <a:rPr lang="en-IN" sz="4000" dirty="0">
                <a:solidFill>
                  <a:srgbClr val="00B0F0"/>
                </a:solidFill>
              </a:rPr>
            </a:br>
            <a:br>
              <a:rPr lang="en-IN" sz="4000" dirty="0">
                <a:solidFill>
                  <a:srgbClr val="00B0F0"/>
                </a:solidFill>
              </a:rPr>
            </a:br>
            <a:br>
              <a:rPr lang="en-IN" sz="4000" dirty="0">
                <a:solidFill>
                  <a:srgbClr val="00B0F0"/>
                </a:solidFill>
              </a:rPr>
            </a:br>
            <a:r>
              <a:rPr lang="en-IN" sz="4000" dirty="0">
                <a:solidFill>
                  <a:srgbClr val="00B0F0"/>
                </a:solidFill>
              </a:rPr>
              <a:t>Code-Along                        (</a:t>
            </a:r>
            <a:r>
              <a:rPr lang="en-IN" b="1" dirty="0"/>
              <a:t>The Recursive Shadow Clone</a:t>
            </a:r>
            <a:r>
              <a:rPr lang="en-IN" sz="4000" dirty="0">
                <a:solidFill>
                  <a:srgbClr val="00B0F0"/>
                </a:solidFill>
              </a:rPr>
              <a:t>)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82D43A1-11C3-F1DB-A81E-2CC8CEE9FA4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951048" y="804333"/>
            <a:ext cx="7240952" cy="524933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4000" b="1" dirty="0">
                <a:latin typeface="Arial" panose="020B0604020202020204" pitchFamily="34" charset="0"/>
              </a:rPr>
              <a:t>The Problem:</a:t>
            </a:r>
            <a:r>
              <a:rPr lang="en-US" altLang="en-US" sz="4000" dirty="0">
                <a:latin typeface="Arial" panose="020B0604020202020204" pitchFamily="34" charset="0"/>
              </a:rPr>
              <a:t> </a:t>
            </a:r>
            <a:r>
              <a:rPr lang="en-US" sz="4000" dirty="0"/>
              <a:t>Deeply </a:t>
            </a:r>
            <a:r>
              <a:rPr lang="en-US" sz="2000" dirty="0"/>
              <a:t>duplicate an object so the clone and original are 100% isolated.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4000" b="1" dirty="0">
                <a:latin typeface="Arial" panose="020B0604020202020204" pitchFamily="34" charset="0"/>
              </a:rPr>
              <a:t>The Constraint:</a:t>
            </a:r>
            <a:r>
              <a:rPr lang="en-US" altLang="en-US" sz="4000" dirty="0">
                <a:latin typeface="Arial" panose="020B0604020202020204" pitchFamily="34" charset="0"/>
              </a:rPr>
              <a:t> Reference Integrity: </a:t>
            </a:r>
            <a:r>
              <a:rPr lang="en-US" altLang="en-US" sz="2000" dirty="0">
                <a:latin typeface="Arial" panose="020B0604020202020204" pitchFamily="34" charset="0"/>
              </a:rPr>
              <a:t>clone === original must be false. No "Remote" Leaks: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4000" b="1" dirty="0">
                <a:latin typeface="Arial" panose="020B0604020202020204" pitchFamily="34" charset="0"/>
              </a:rPr>
              <a:t>The Logic:</a:t>
            </a:r>
            <a:r>
              <a:rPr lang="en-US" altLang="en-US" sz="4000" dirty="0">
                <a:latin typeface="Arial" panose="020B0604020202020204" pitchFamily="34" charset="0"/>
              </a:rPr>
              <a:t> </a:t>
            </a:r>
            <a:r>
              <a:rPr lang="en-US" sz="4000" dirty="0">
                <a:latin typeface="Arial" panose="020B0604020202020204" pitchFamily="34" charset="0"/>
              </a:rPr>
              <a:t>"Open</a:t>
            </a:r>
            <a:r>
              <a:rPr lang="en-US" dirty="0"/>
              <a:t> the doll" (Recurse) until you hit a primitive. </a:t>
            </a:r>
            <a:endParaRPr lang="en-US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</a:pP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67D7C5-654B-8D40-BE62-6A97A4890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DC3D416-06CF-4992-9B82-1CD609DB644E}" type="slidenum">
              <a:rPr lang="en-IN" smtClean="0"/>
              <a:pPr>
                <a:spcAft>
                  <a:spcPts val="600"/>
                </a:spcAft>
              </a:pPr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48028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4CF96E-AF05-DD4C-D086-7402EE446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815A7B4-532E-48C9-AC24-D78ACF3339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1" name="Freeform 14">
              <a:extLst>
                <a:ext uri="{FF2B5EF4-FFF2-40B4-BE49-F238E27FC236}">
                  <a16:creationId xmlns:a16="http://schemas.microsoft.com/office/drawing/2014/main" id="{D40109F4-CE5C-45F4-856E-F3F69C9FD4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BAA4DE-3D7B-460B-AE98-D9F9990C0B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BF1ED3E-4F80-4AF6-A41B-44F53DDE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23">
              <a:extLst>
                <a:ext uri="{FF2B5EF4-FFF2-40B4-BE49-F238E27FC236}">
                  <a16:creationId xmlns:a16="http://schemas.microsoft.com/office/drawing/2014/main" id="{C0B2D747-3E31-45C5-9A98-A9710A585F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5" name="Rectangle 25">
              <a:extLst>
                <a:ext uri="{FF2B5EF4-FFF2-40B4-BE49-F238E27FC236}">
                  <a16:creationId xmlns:a16="http://schemas.microsoft.com/office/drawing/2014/main" id="{A15FD4BA-3020-462D-8BE8-B3A65B8E49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A304284A-7318-4DD5-898C-2F6B23C778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7" name="Rectangle 27">
              <a:extLst>
                <a:ext uri="{FF2B5EF4-FFF2-40B4-BE49-F238E27FC236}">
                  <a16:creationId xmlns:a16="http://schemas.microsoft.com/office/drawing/2014/main" id="{9DF48E66-B635-4509-B115-E0987C014E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8" name="Rectangle 28">
              <a:extLst>
                <a:ext uri="{FF2B5EF4-FFF2-40B4-BE49-F238E27FC236}">
                  <a16:creationId xmlns:a16="http://schemas.microsoft.com/office/drawing/2014/main" id="{E3B96D94-5F5A-4F4C-810C-917BF4D266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19" name="Rectangle 29">
              <a:extLst>
                <a:ext uri="{FF2B5EF4-FFF2-40B4-BE49-F238E27FC236}">
                  <a16:creationId xmlns:a16="http://schemas.microsoft.com/office/drawing/2014/main" id="{7F3782D6-BFF8-4389-9D39-A023ADAA92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ECE162D4-FCAE-441B-B5E9-C91DE6212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5DD48BB-E43C-07EB-BBBD-E1C70F65A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5666" y="54219"/>
            <a:ext cx="8706314" cy="1465547"/>
          </a:xfr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 sz="4400" dirty="0"/>
              <a:t>Context Control (The Solution)</a:t>
            </a:r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F6E918B1-FA59-42EF-8A8E-B0F3D1E540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174" y="1270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484BA-D78A-1D6A-500C-20B164062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90663" y="6041362"/>
            <a:ext cx="68333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DC3D416-06CF-4992-9B82-1CD609DB644E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FC7A780C-7D9A-A9B8-C9B5-B17AD63F41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0782FF5-4C84-6183-819E-D510C2D5E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04871"/>
              </p:ext>
            </p:extLst>
          </p:nvPr>
        </p:nvGraphicFramePr>
        <p:xfrm>
          <a:off x="1263042" y="1174164"/>
          <a:ext cx="7269848" cy="4204872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205503">
                  <a:extLst>
                    <a:ext uri="{9D8B030D-6E8A-4147-A177-3AD203B41FA5}">
                      <a16:colId xmlns:a16="http://schemas.microsoft.com/office/drawing/2014/main" val="552904688"/>
                    </a:ext>
                  </a:extLst>
                </a:gridCol>
                <a:gridCol w="2644633">
                  <a:extLst>
                    <a:ext uri="{9D8B030D-6E8A-4147-A177-3AD203B41FA5}">
                      <a16:colId xmlns:a16="http://schemas.microsoft.com/office/drawing/2014/main" val="4029110174"/>
                    </a:ext>
                  </a:extLst>
                </a:gridCol>
                <a:gridCol w="2419712">
                  <a:extLst>
                    <a:ext uri="{9D8B030D-6E8A-4147-A177-3AD203B41FA5}">
                      <a16:colId xmlns:a16="http://schemas.microsoft.com/office/drawing/2014/main" val="1026319175"/>
                    </a:ext>
                  </a:extLst>
                </a:gridCol>
              </a:tblGrid>
              <a:tr h="73023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5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Scenario</a:t>
                      </a:r>
                      <a:endParaRPr lang="en-IN" sz="15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207372" marR="124423" marT="124423" marB="124423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5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Code Execution</a:t>
                      </a:r>
                      <a:endParaRPr lang="en-IN" sz="15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207372" marR="124423" marT="124423" marB="124423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500" b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this Binding</a:t>
                      </a:r>
                      <a:endParaRPr lang="en-IN" sz="15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207372" marR="124423" marT="124423" marB="124423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7606981"/>
                  </a:ext>
                </a:extLst>
              </a:tr>
              <a:tr h="105121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5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Direct Call</a:t>
                      </a:r>
                      <a:endParaRPr lang="en-IN" sz="15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207372" marR="124423" marT="124423" marB="124423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50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asset.priceFn</a:t>
                      </a:r>
                      <a:r>
                        <a:rPr lang="en-IN" sz="15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()</a:t>
                      </a:r>
                    </a:p>
                  </a:txBody>
                  <a:tcPr marL="207372" marR="124423" marT="124423" marB="124423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5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Points to asset (Works)</a:t>
                      </a:r>
                    </a:p>
                  </a:txBody>
                  <a:tcPr marL="207372" marR="124423" marT="124423" marB="124423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2387627"/>
                  </a:ext>
                </a:extLst>
              </a:tr>
              <a:tr h="105121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5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Extracted Call</a:t>
                      </a:r>
                      <a:endParaRPr lang="en-IN" sz="15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207372" marR="124423" marT="124423" marB="124423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50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const</a:t>
                      </a:r>
                      <a:r>
                        <a:rPr lang="en-IN" sz="15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IN" sz="150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fn</a:t>
                      </a:r>
                      <a:r>
                        <a:rPr lang="en-IN" sz="15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 = </a:t>
                      </a:r>
                      <a:r>
                        <a:rPr lang="en-IN" sz="150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asset.priceFn</a:t>
                      </a:r>
                      <a:r>
                        <a:rPr lang="en-IN" sz="15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; </a:t>
                      </a:r>
                      <a:r>
                        <a:rPr lang="en-IN" sz="150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fn</a:t>
                      </a:r>
                      <a:r>
                        <a:rPr lang="en-IN" sz="15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()</a:t>
                      </a:r>
                    </a:p>
                  </a:txBody>
                  <a:tcPr marL="207372" marR="124423" marT="124423" marB="124423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5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Lost!</a:t>
                      </a:r>
                      <a:r>
                        <a:rPr lang="en-IN" sz="15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 Points to undefined</a:t>
                      </a:r>
                    </a:p>
                  </a:txBody>
                  <a:tcPr marL="207372" marR="124423" marT="124423" marB="124423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866664"/>
                  </a:ext>
                </a:extLst>
              </a:tr>
              <a:tr h="137220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5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Restored Call</a:t>
                      </a:r>
                      <a:endParaRPr lang="en-IN" sz="150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effectLst/>
                        <a:latin typeface="Google Sans Text"/>
                      </a:endParaRPr>
                    </a:p>
                  </a:txBody>
                  <a:tcPr marL="207372" marR="124423" marT="124423" marB="124423" anchor="ctr">
                    <a:lnL w="12700" cmpd="sng">
                      <a:noFill/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50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fn.call</a:t>
                      </a:r>
                      <a:r>
                        <a:rPr lang="en-IN" sz="15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(asset)</a:t>
                      </a:r>
                    </a:p>
                  </a:txBody>
                  <a:tcPr marL="207372" marR="124423" marT="124423" marB="124423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5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Fixed:</a:t>
                      </a:r>
                      <a:r>
                        <a:rPr lang="en-US" sz="150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effectLst/>
                          <a:latin typeface="Google Sans Text"/>
                        </a:rPr>
                        <a:t> Manually points this back to asset</a:t>
                      </a:r>
                    </a:p>
                  </a:txBody>
                  <a:tcPr marL="207372" marR="124423" marT="124423" marB="124423" anchor="ctr">
                    <a:lnL w="38100" cap="flat" cmpd="sng" algn="ctr">
                      <a:solidFill>
                        <a:srgbClr val="FFFFFF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878E8B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413302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358C2D2-6642-BCAD-E0B1-9510BE574043}"/>
              </a:ext>
            </a:extLst>
          </p:cNvPr>
          <p:cNvSpPr txBox="1"/>
          <p:nvPr/>
        </p:nvSpPr>
        <p:spPr>
          <a:xfrm>
            <a:off x="4897966" y="5425300"/>
            <a:ext cx="610099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rgbClr val="7030A0"/>
                </a:solidFill>
              </a:rPr>
              <a:t>// During traversal, if we find a function:</a:t>
            </a:r>
          </a:p>
          <a:p>
            <a:r>
              <a:rPr lang="en-IN" b="1" dirty="0">
                <a:solidFill>
                  <a:srgbClr val="7030A0"/>
                </a:solidFill>
              </a:rPr>
              <a:t>if (</a:t>
            </a:r>
            <a:r>
              <a:rPr lang="en-IN" b="1" dirty="0" err="1">
                <a:solidFill>
                  <a:srgbClr val="7030A0"/>
                </a:solidFill>
              </a:rPr>
              <a:t>typeof</a:t>
            </a:r>
            <a:r>
              <a:rPr lang="en-IN" b="1" dirty="0">
                <a:solidFill>
                  <a:srgbClr val="7030A0"/>
                </a:solidFill>
              </a:rPr>
              <a:t> </a:t>
            </a:r>
            <a:r>
              <a:rPr lang="en-IN" b="1" dirty="0" err="1">
                <a:solidFill>
                  <a:srgbClr val="7030A0"/>
                </a:solidFill>
              </a:rPr>
              <a:t>val</a:t>
            </a:r>
            <a:r>
              <a:rPr lang="en-IN" b="1" dirty="0">
                <a:solidFill>
                  <a:srgbClr val="7030A0"/>
                </a:solidFill>
              </a:rPr>
              <a:t> === 'function') {</a:t>
            </a:r>
          </a:p>
          <a:p>
            <a:r>
              <a:rPr lang="en-IN" b="1" dirty="0">
                <a:solidFill>
                  <a:srgbClr val="7030A0"/>
                </a:solidFill>
              </a:rPr>
              <a:t>  // Use .call(</a:t>
            </a:r>
            <a:r>
              <a:rPr lang="en-IN" b="1" dirty="0" err="1">
                <a:solidFill>
                  <a:srgbClr val="7030A0"/>
                </a:solidFill>
              </a:rPr>
              <a:t>parentObj</a:t>
            </a:r>
            <a:r>
              <a:rPr lang="en-IN" b="1" dirty="0">
                <a:solidFill>
                  <a:srgbClr val="7030A0"/>
                </a:solidFill>
              </a:rPr>
              <a:t>) to ensure 'this' is preserved</a:t>
            </a:r>
          </a:p>
          <a:p>
            <a:r>
              <a:rPr lang="en-IN" b="1" dirty="0">
                <a:solidFill>
                  <a:srgbClr val="7030A0"/>
                </a:solidFill>
              </a:rPr>
              <a:t>  return </a:t>
            </a:r>
            <a:r>
              <a:rPr lang="en-IN" b="1" dirty="0" err="1">
                <a:solidFill>
                  <a:srgbClr val="7030A0"/>
                </a:solidFill>
              </a:rPr>
              <a:t>val.call</a:t>
            </a:r>
            <a:r>
              <a:rPr lang="en-IN" b="1" dirty="0">
                <a:solidFill>
                  <a:srgbClr val="7030A0"/>
                </a:solidFill>
              </a:rPr>
              <a:t>(</a:t>
            </a:r>
            <a:r>
              <a:rPr lang="en-IN" b="1" dirty="0" err="1">
                <a:solidFill>
                  <a:srgbClr val="7030A0"/>
                </a:solidFill>
              </a:rPr>
              <a:t>parentObj</a:t>
            </a:r>
            <a:r>
              <a:rPr lang="en-IN" b="1" dirty="0">
                <a:solidFill>
                  <a:srgbClr val="7030A0"/>
                </a:solidFill>
              </a:rPr>
              <a:t>); </a:t>
            </a:r>
          </a:p>
          <a:p>
            <a:r>
              <a:rPr lang="en-IN" b="1" dirty="0">
                <a:solidFill>
                  <a:srgbClr val="7030A0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76916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775AC-7B67-1210-7585-023DFA3F0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15E8F-D985-75D2-2B62-A89ED994E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04333"/>
            <a:ext cx="4951048" cy="5249334"/>
          </a:xfrm>
        </p:spPr>
        <p:txBody>
          <a:bodyPr>
            <a:normAutofit/>
          </a:bodyPr>
          <a:lstStyle/>
          <a:p>
            <a:pPr algn="ctr"/>
            <a:br>
              <a:rPr lang="en-IN" sz="4000" dirty="0">
                <a:solidFill>
                  <a:srgbClr val="00B0F0"/>
                </a:solidFill>
              </a:rPr>
            </a:br>
            <a:br>
              <a:rPr lang="en-IN" sz="4000" dirty="0">
                <a:solidFill>
                  <a:srgbClr val="00B0F0"/>
                </a:solidFill>
              </a:rPr>
            </a:br>
            <a:br>
              <a:rPr lang="en-IN" sz="4000" dirty="0">
                <a:solidFill>
                  <a:srgbClr val="00B0F0"/>
                </a:solidFill>
              </a:rPr>
            </a:br>
            <a:r>
              <a:rPr lang="en-IN" sz="4000" dirty="0">
                <a:solidFill>
                  <a:srgbClr val="00B0F0"/>
                </a:solidFill>
              </a:rPr>
              <a:t>Code-Along                        (</a:t>
            </a:r>
            <a:r>
              <a:rPr lang="en-IN" dirty="0"/>
              <a:t>Context Control</a:t>
            </a:r>
            <a:r>
              <a:rPr lang="en-IN" sz="4000" dirty="0">
                <a:solidFill>
                  <a:srgbClr val="00B0F0"/>
                </a:solidFill>
              </a:rPr>
              <a:t>)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B9095C7-39FE-E666-5C6A-AD74B315D72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951048" y="804333"/>
            <a:ext cx="7240952" cy="524933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4000" b="1" dirty="0">
                <a:latin typeface="Arial" panose="020B0604020202020204" pitchFamily="34" charset="0"/>
              </a:rPr>
              <a:t>The Problem:</a:t>
            </a:r>
            <a:r>
              <a:rPr lang="en-US" altLang="en-US" sz="4000" dirty="0">
                <a:latin typeface="Arial" panose="020B0604020202020204" pitchFamily="34" charset="0"/>
              </a:rPr>
              <a:t> </a:t>
            </a:r>
            <a:r>
              <a:rPr lang="en-US" sz="4000" dirty="0"/>
              <a:t>The Pricing Crash (Context Loss)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4000" b="1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4000" b="1" dirty="0">
                <a:latin typeface="Arial" panose="020B0604020202020204" pitchFamily="34" charset="0"/>
              </a:rPr>
              <a:t>The Solution:</a:t>
            </a:r>
            <a:r>
              <a:rPr lang="en-US" altLang="en-US" sz="4000" dirty="0">
                <a:latin typeface="Arial" panose="020B0604020202020204" pitchFamily="34" charset="0"/>
              </a:rPr>
              <a:t> </a:t>
            </a:r>
            <a:r>
              <a:rPr lang="en-IN" sz="4000" dirty="0"/>
              <a:t>The Pricing Extractor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</a:pP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225E7-6265-D183-F6FB-F2DBD1C1A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DC3D416-06CF-4992-9B82-1CD609DB644E}" type="slidenum">
              <a:rPr lang="en-IN" smtClean="0"/>
              <a:pPr>
                <a:spcAft>
                  <a:spcPts val="600"/>
                </a:spcAft>
              </a:pPr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92840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99" name="Group 7198">
            <a:extLst>
              <a:ext uri="{FF2B5EF4-FFF2-40B4-BE49-F238E27FC236}">
                <a16:creationId xmlns:a16="http://schemas.microsoft.com/office/drawing/2014/main" id="{A4D026A2-7476-44B0-9648-BB98882F7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7201" name="Straight Connector 7200">
              <a:extLst>
                <a:ext uri="{FF2B5EF4-FFF2-40B4-BE49-F238E27FC236}">
                  <a16:creationId xmlns:a16="http://schemas.microsoft.com/office/drawing/2014/main" id="{48F8FC21-0A44-4045-95A1-B7935DBC60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77" name="Straight Connector 7176">
              <a:extLst>
                <a:ext uri="{FF2B5EF4-FFF2-40B4-BE49-F238E27FC236}">
                  <a16:creationId xmlns:a16="http://schemas.microsoft.com/office/drawing/2014/main" id="{0209B962-CD29-4D46-A7B0-10F6C7CF1C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78" name="Rectangle 23">
              <a:extLst>
                <a:ext uri="{FF2B5EF4-FFF2-40B4-BE49-F238E27FC236}">
                  <a16:creationId xmlns:a16="http://schemas.microsoft.com/office/drawing/2014/main" id="{CC8D40CF-4D47-411D-A8B7-0E4B29E98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202" name="Rectangle 25">
              <a:extLst>
                <a:ext uri="{FF2B5EF4-FFF2-40B4-BE49-F238E27FC236}">
                  <a16:creationId xmlns:a16="http://schemas.microsoft.com/office/drawing/2014/main" id="{9B48A2AD-5257-4384-A7F5-A1EE4E6883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203" name="Isosceles Triangle 7202">
              <a:extLst>
                <a:ext uri="{FF2B5EF4-FFF2-40B4-BE49-F238E27FC236}">
                  <a16:creationId xmlns:a16="http://schemas.microsoft.com/office/drawing/2014/main" id="{04C26DE3-844C-47DA-831E-E7D7BF617E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204" name="Rectangle 27">
              <a:extLst>
                <a:ext uri="{FF2B5EF4-FFF2-40B4-BE49-F238E27FC236}">
                  <a16:creationId xmlns:a16="http://schemas.microsoft.com/office/drawing/2014/main" id="{922D975E-0684-4AA6-9FB7-929B250D53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205" name="Rectangle 28">
              <a:extLst>
                <a:ext uri="{FF2B5EF4-FFF2-40B4-BE49-F238E27FC236}">
                  <a16:creationId xmlns:a16="http://schemas.microsoft.com/office/drawing/2014/main" id="{38ED5A9A-F0C7-4547-BC1E-22FC89BD26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206" name="Rectangle 29">
              <a:extLst>
                <a:ext uri="{FF2B5EF4-FFF2-40B4-BE49-F238E27FC236}">
                  <a16:creationId xmlns:a16="http://schemas.microsoft.com/office/drawing/2014/main" id="{2D743765-A245-4349-A5CE-4AB5F078F9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207" name="Isosceles Triangle 7206">
              <a:extLst>
                <a:ext uri="{FF2B5EF4-FFF2-40B4-BE49-F238E27FC236}">
                  <a16:creationId xmlns:a16="http://schemas.microsoft.com/office/drawing/2014/main" id="{0AF7217B-D042-44D2-9FC7-71FAB6651A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208" name="Isosceles Triangle 7207">
              <a:extLst>
                <a:ext uri="{FF2B5EF4-FFF2-40B4-BE49-F238E27FC236}">
                  <a16:creationId xmlns:a16="http://schemas.microsoft.com/office/drawing/2014/main" id="{1CC9171B-8BEB-48B1-B9BE-E9584522D0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7209" name="Rectangle 7208">
            <a:extLst>
              <a:ext uri="{FF2B5EF4-FFF2-40B4-BE49-F238E27FC236}">
                <a16:creationId xmlns:a16="http://schemas.microsoft.com/office/drawing/2014/main" id="{03E8462A-FEBA-4848-81CC-3F8DA3E47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89" name="Group 7188">
            <a:extLst>
              <a:ext uri="{FF2B5EF4-FFF2-40B4-BE49-F238E27FC236}">
                <a16:creationId xmlns:a16="http://schemas.microsoft.com/office/drawing/2014/main" id="{2109F83F-40FE-4DB3-84CC-09FB3340D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7190" name="Straight Connector 7189">
              <a:extLst>
                <a:ext uri="{FF2B5EF4-FFF2-40B4-BE49-F238E27FC236}">
                  <a16:creationId xmlns:a16="http://schemas.microsoft.com/office/drawing/2014/main" id="{1DE492D7-C3C3-48FF-80C8-37021EA026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91" name="Rectangle 23">
              <a:extLst>
                <a:ext uri="{FF2B5EF4-FFF2-40B4-BE49-F238E27FC236}">
                  <a16:creationId xmlns:a16="http://schemas.microsoft.com/office/drawing/2014/main" id="{0B30FF97-2E9A-490A-AED2-90BA2E0EC1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192" name="Rectangle 25">
              <a:extLst>
                <a:ext uri="{FF2B5EF4-FFF2-40B4-BE49-F238E27FC236}">
                  <a16:creationId xmlns:a16="http://schemas.microsoft.com/office/drawing/2014/main" id="{B6D53C7D-A312-47B6-A66A-230A19CFA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193" name="Isosceles Triangle 7192">
              <a:extLst>
                <a:ext uri="{FF2B5EF4-FFF2-40B4-BE49-F238E27FC236}">
                  <a16:creationId xmlns:a16="http://schemas.microsoft.com/office/drawing/2014/main" id="{9329D58C-0D2E-4A2B-AD6A-9CEE506784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194" name="Rectangle 27">
              <a:extLst>
                <a:ext uri="{FF2B5EF4-FFF2-40B4-BE49-F238E27FC236}">
                  <a16:creationId xmlns:a16="http://schemas.microsoft.com/office/drawing/2014/main" id="{9D446EDE-C690-4461-8BF2-7634808FC8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195" name="Rectangle 28">
              <a:extLst>
                <a:ext uri="{FF2B5EF4-FFF2-40B4-BE49-F238E27FC236}">
                  <a16:creationId xmlns:a16="http://schemas.microsoft.com/office/drawing/2014/main" id="{323F3D34-6531-4AD7-A8C6-195A090281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196" name="Rectangle 29">
              <a:extLst>
                <a:ext uri="{FF2B5EF4-FFF2-40B4-BE49-F238E27FC236}">
                  <a16:creationId xmlns:a16="http://schemas.microsoft.com/office/drawing/2014/main" id="{B9B0AE3F-2350-435F-A9B0-C310BF8763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197" name="Isosceles Triangle 7196">
              <a:extLst>
                <a:ext uri="{FF2B5EF4-FFF2-40B4-BE49-F238E27FC236}">
                  <a16:creationId xmlns:a16="http://schemas.microsoft.com/office/drawing/2014/main" id="{4EFA655C-9E50-4C14-A89E-AD7B648E4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7198" name="Isosceles Triangle 7197">
              <a:extLst>
                <a:ext uri="{FF2B5EF4-FFF2-40B4-BE49-F238E27FC236}">
                  <a16:creationId xmlns:a16="http://schemas.microsoft.com/office/drawing/2014/main" id="{3E843863-7D25-4C01-9A17-E817CB6D9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7200" name="Rectangle 7199">
            <a:extLst>
              <a:ext uri="{FF2B5EF4-FFF2-40B4-BE49-F238E27FC236}">
                <a16:creationId xmlns:a16="http://schemas.microsoft.com/office/drawing/2014/main" id="{7941F9B1-B01B-4A84-89D9-B169AEB4E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170" name="Picture 2" descr="PlantUML diagram">
            <a:extLst>
              <a:ext uri="{FF2B5EF4-FFF2-40B4-BE49-F238E27FC236}">
                <a16:creationId xmlns:a16="http://schemas.microsoft.com/office/drawing/2014/main" id="{C3F74044-ED49-CE34-87AA-60D8257D407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123846" y="1372581"/>
            <a:ext cx="9941259" cy="47583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3E0683-7959-EAFB-CA9C-5CE8B0308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65194" y="6411619"/>
            <a:ext cx="68333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DC3D416-06CF-4992-9B82-1CD609DB644E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810893-2876-93A0-A922-BC5ABC4C099F}"/>
              </a:ext>
            </a:extLst>
          </p:cNvPr>
          <p:cNvSpPr txBox="1"/>
          <p:nvPr/>
        </p:nvSpPr>
        <p:spPr>
          <a:xfrm>
            <a:off x="3050498" y="3248081"/>
            <a:ext cx="61009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Context Control</a:t>
            </a:r>
            <a:r>
              <a:rPr lang="en-IN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CE6E1E-CF58-1A30-445B-3AD68F6B64C3}"/>
              </a:ext>
            </a:extLst>
          </p:cNvPr>
          <p:cNvSpPr txBox="1"/>
          <p:nvPr/>
        </p:nvSpPr>
        <p:spPr>
          <a:xfrm>
            <a:off x="3819417" y="573149"/>
            <a:ext cx="61009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>
                <a:solidFill>
                  <a:srgbClr val="00B0F0"/>
                </a:solidFill>
                <a:latin typeface="+mj-lt"/>
                <a:ea typeface="+mj-ea"/>
                <a:cs typeface="+mj-cs"/>
              </a:rPr>
              <a:t>Context Control </a:t>
            </a:r>
          </a:p>
        </p:txBody>
      </p:sp>
    </p:spTree>
    <p:extLst>
      <p:ext uri="{BB962C8B-B14F-4D97-AF65-F5344CB8AC3E}">
        <p14:creationId xmlns:p14="http://schemas.microsoft.com/office/powerpoint/2010/main" val="15931297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A4D026A2-7476-44B0-9648-BB98882F7B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8F8FC21-0A44-4045-95A1-B7935DBC60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209B962-CD29-4D46-A7B0-10F6C7CF1C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Rectangle 23">
              <a:extLst>
                <a:ext uri="{FF2B5EF4-FFF2-40B4-BE49-F238E27FC236}">
                  <a16:creationId xmlns:a16="http://schemas.microsoft.com/office/drawing/2014/main" id="{CC8D40CF-4D47-411D-A8B7-0E4B29E98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40" name="Rectangle 25">
              <a:extLst>
                <a:ext uri="{FF2B5EF4-FFF2-40B4-BE49-F238E27FC236}">
                  <a16:creationId xmlns:a16="http://schemas.microsoft.com/office/drawing/2014/main" id="{9B48A2AD-5257-4384-A7F5-A1EE4E6883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41" name="Isosceles Triangle 40">
              <a:extLst>
                <a:ext uri="{FF2B5EF4-FFF2-40B4-BE49-F238E27FC236}">
                  <a16:creationId xmlns:a16="http://schemas.microsoft.com/office/drawing/2014/main" id="{04C26DE3-844C-47DA-831E-E7D7BF617E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42" name="Rectangle 27">
              <a:extLst>
                <a:ext uri="{FF2B5EF4-FFF2-40B4-BE49-F238E27FC236}">
                  <a16:creationId xmlns:a16="http://schemas.microsoft.com/office/drawing/2014/main" id="{922D975E-0684-4AA6-9FB7-929B250D53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43" name="Rectangle 28">
              <a:extLst>
                <a:ext uri="{FF2B5EF4-FFF2-40B4-BE49-F238E27FC236}">
                  <a16:creationId xmlns:a16="http://schemas.microsoft.com/office/drawing/2014/main" id="{38ED5A9A-F0C7-4547-BC1E-22FC89BD26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44" name="Rectangle 29">
              <a:extLst>
                <a:ext uri="{FF2B5EF4-FFF2-40B4-BE49-F238E27FC236}">
                  <a16:creationId xmlns:a16="http://schemas.microsoft.com/office/drawing/2014/main" id="{2D743765-A245-4349-A5CE-4AB5F078F9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45" name="Isosceles Triangle 44">
              <a:extLst>
                <a:ext uri="{FF2B5EF4-FFF2-40B4-BE49-F238E27FC236}">
                  <a16:creationId xmlns:a16="http://schemas.microsoft.com/office/drawing/2014/main" id="{0AF7217B-D042-44D2-9FC7-71FAB6651A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1CC9171B-8BEB-48B1-B9BE-E9584522D0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03E8462A-FEBA-4848-81CC-3F8DA3E47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2109F83F-40FE-4DB3-84CC-09FB3340D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DE492D7-C3C3-48FF-80C8-37021EA026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Rectangle 23">
              <a:extLst>
                <a:ext uri="{FF2B5EF4-FFF2-40B4-BE49-F238E27FC236}">
                  <a16:creationId xmlns:a16="http://schemas.microsoft.com/office/drawing/2014/main" id="{0B30FF97-2E9A-490A-AED2-90BA2E0EC1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50" name="Rectangle 25">
              <a:extLst>
                <a:ext uri="{FF2B5EF4-FFF2-40B4-BE49-F238E27FC236}">
                  <a16:creationId xmlns:a16="http://schemas.microsoft.com/office/drawing/2014/main" id="{B6D53C7D-A312-47B6-A66A-230A19CFA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51" name="Isosceles Triangle 50">
              <a:extLst>
                <a:ext uri="{FF2B5EF4-FFF2-40B4-BE49-F238E27FC236}">
                  <a16:creationId xmlns:a16="http://schemas.microsoft.com/office/drawing/2014/main" id="{9329D58C-0D2E-4A2B-AD6A-9CEE506784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52" name="Rectangle 27">
              <a:extLst>
                <a:ext uri="{FF2B5EF4-FFF2-40B4-BE49-F238E27FC236}">
                  <a16:creationId xmlns:a16="http://schemas.microsoft.com/office/drawing/2014/main" id="{9D446EDE-C690-4461-8BF2-7634808FC8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53" name="Rectangle 28">
              <a:extLst>
                <a:ext uri="{FF2B5EF4-FFF2-40B4-BE49-F238E27FC236}">
                  <a16:creationId xmlns:a16="http://schemas.microsoft.com/office/drawing/2014/main" id="{323F3D34-6531-4AD7-A8C6-195A090281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54" name="Rectangle 29">
              <a:extLst>
                <a:ext uri="{FF2B5EF4-FFF2-40B4-BE49-F238E27FC236}">
                  <a16:creationId xmlns:a16="http://schemas.microsoft.com/office/drawing/2014/main" id="{B9B0AE3F-2350-435F-A9B0-C310BF8763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55" name="Isosceles Triangle 54">
              <a:extLst>
                <a:ext uri="{FF2B5EF4-FFF2-40B4-BE49-F238E27FC236}">
                  <a16:creationId xmlns:a16="http://schemas.microsoft.com/office/drawing/2014/main" id="{4EFA655C-9E50-4C14-A89E-AD7B648E4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  <p:sp>
          <p:nvSpPr>
            <p:cNvPr id="56" name="Isosceles Triangle 55">
              <a:extLst>
                <a:ext uri="{FF2B5EF4-FFF2-40B4-BE49-F238E27FC236}">
                  <a16:creationId xmlns:a16="http://schemas.microsoft.com/office/drawing/2014/main" id="{3E843863-7D25-4C01-9A17-E817CB6D9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/>
            </a:p>
          </p:txBody>
        </p:sp>
      </p:grpSp>
      <p:sp>
        <p:nvSpPr>
          <p:cNvPr id="57" name="Rectangle 56">
            <a:extLst>
              <a:ext uri="{FF2B5EF4-FFF2-40B4-BE49-F238E27FC236}">
                <a16:creationId xmlns:a16="http://schemas.microsoft.com/office/drawing/2014/main" id="{7941F9B1-B01B-4A84-89D9-B169AEB4E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26B2D83-59FE-A465-0A45-181035A219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06459" y="1131994"/>
            <a:ext cx="5980959" cy="459038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6AE0B-6C97-C8FE-B0B9-5339970F0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65194" y="6411619"/>
            <a:ext cx="68333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DC3D416-06CF-4992-9B82-1CD609DB644E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11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03927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5B71F80-1F92-4074-84D9-16A062B215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999C2B-79E8-25B2-2BC7-A632F00E9A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>
            <a:normAutofit/>
          </a:bodyPr>
          <a:lstStyle/>
          <a:p>
            <a:r>
              <a:rPr lang="en-IN" dirty="0"/>
              <a:t>Lab R-05 (Prototype Bridge)</a:t>
            </a:r>
            <a:endParaRPr lang="en-IN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7209C9DA-6E0D-46D9-8275-C52222D8CC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6C8088-445E-E6FA-2FFC-0ECAEB689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94532" y="6182876"/>
            <a:ext cx="68333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DC3D416-06CF-4992-9B82-1CD609DB644E}" type="slidenum">
              <a:rPr lang="en-IN" smtClean="0"/>
              <a:pPr>
                <a:spcAft>
                  <a:spcPts val="600"/>
                </a:spcAft>
              </a:pPr>
              <a:t>12</a:t>
            </a:fld>
            <a:endParaRPr lang="en-IN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3EB57A4D-E0D0-46DA-B339-F24CA46FA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2D34711-6ED9-66B8-47E8-7F6A6B8378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0531800"/>
              </p:ext>
            </p:extLst>
          </p:nvPr>
        </p:nvGraphicFramePr>
        <p:xfrm>
          <a:off x="1286933" y="2281271"/>
          <a:ext cx="9618135" cy="3428028"/>
        </p:xfrm>
        <a:graphic>
          <a:graphicData uri="http://schemas.openxmlformats.org/drawingml/2006/table">
            <a:tbl>
              <a:tblPr/>
              <a:tblGrid>
                <a:gridCol w="1939031">
                  <a:extLst>
                    <a:ext uri="{9D8B030D-6E8A-4147-A177-3AD203B41FA5}">
                      <a16:colId xmlns:a16="http://schemas.microsoft.com/office/drawing/2014/main" val="3728825512"/>
                    </a:ext>
                  </a:extLst>
                </a:gridCol>
                <a:gridCol w="2249731">
                  <a:extLst>
                    <a:ext uri="{9D8B030D-6E8A-4147-A177-3AD203B41FA5}">
                      <a16:colId xmlns:a16="http://schemas.microsoft.com/office/drawing/2014/main" val="1323985404"/>
                    </a:ext>
                  </a:extLst>
                </a:gridCol>
                <a:gridCol w="2527610">
                  <a:extLst>
                    <a:ext uri="{9D8B030D-6E8A-4147-A177-3AD203B41FA5}">
                      <a16:colId xmlns:a16="http://schemas.microsoft.com/office/drawing/2014/main" val="685791004"/>
                    </a:ext>
                  </a:extLst>
                </a:gridCol>
                <a:gridCol w="2901763">
                  <a:extLst>
                    <a:ext uri="{9D8B030D-6E8A-4147-A177-3AD203B41FA5}">
                      <a16:colId xmlns:a16="http://schemas.microsoft.com/office/drawing/2014/main" val="3581100102"/>
                    </a:ext>
                  </a:extLst>
                </a:gridCol>
              </a:tblGrid>
              <a:tr h="63855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2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Level</a:t>
                      </a:r>
                      <a:endParaRPr lang="en-IN" sz="2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57538" marR="157538" marT="105025" marB="10502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2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Role</a:t>
                      </a:r>
                      <a:endParaRPr lang="en-IN" sz="2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57538" marR="157538" marT="105025" marB="10502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2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Analogous to...</a:t>
                      </a:r>
                      <a:endParaRPr lang="en-IN" sz="2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57538" marR="157538" marT="105025" marB="10502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2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Example Properties</a:t>
                      </a:r>
                      <a:endParaRPr lang="en-IN" sz="2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57538" marR="157538" marT="105025" marB="10502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5127381"/>
                  </a:ext>
                </a:extLst>
              </a:tr>
              <a:tr h="101664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2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Instrument</a:t>
                      </a:r>
                      <a:endParaRPr lang="en-IN" sz="2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57538" marR="157538" marT="105025" marB="10502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2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The Blueprint</a:t>
                      </a:r>
                      <a:r>
                        <a:rPr lang="en-IN" sz="25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(Prototype)</a:t>
                      </a:r>
                    </a:p>
                  </a:txBody>
                  <a:tcPr marL="157538" marR="157538" marT="105025" marB="10502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25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The Superclass</a:t>
                      </a:r>
                    </a:p>
                  </a:txBody>
                  <a:tcPr marL="157538" marR="157538" marT="105025" marB="10502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25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calculateValue()</a:t>
                      </a:r>
                      <a:r>
                        <a:rPr lang="en-IN" sz="25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IN" sz="25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validate()</a:t>
                      </a:r>
                      <a:r>
                        <a:rPr lang="en-IN" sz="25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IN" sz="25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getRisk()</a:t>
                      </a:r>
                      <a:endParaRPr lang="en-IN" sz="2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57538" marR="157538" marT="105025" marB="10502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2177298"/>
                  </a:ext>
                </a:extLst>
              </a:tr>
              <a:tr h="177282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2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Asset</a:t>
                      </a:r>
                      <a:endParaRPr lang="en-IN" sz="25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57538" marR="157538" marT="105025" marB="10502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25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The Instance</a:t>
                      </a:r>
                      <a:r>
                        <a:rPr lang="en-IN" sz="25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(Object)</a:t>
                      </a:r>
                    </a:p>
                  </a:txBody>
                  <a:tcPr marL="157538" marR="157538" marT="105025" marB="10502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25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The Subclass/Object</a:t>
                      </a:r>
                    </a:p>
                  </a:txBody>
                  <a:tcPr marL="157538" marR="157538" marT="105025" marB="10502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5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ticker: "GS"</a:t>
                      </a:r>
                      <a:r>
                        <a:rPr lang="en-US" sz="25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25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notional: 1000000</a:t>
                      </a:r>
                      <a:r>
                        <a:rPr lang="en-US" sz="25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2500" dirty="0" err="1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notionalCurrency</a:t>
                      </a:r>
                      <a:r>
                        <a:rPr lang="en-US" sz="25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: "USD"</a:t>
                      </a:r>
                      <a:endParaRPr lang="en-US" sz="25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57538" marR="157538" marT="105025" marB="105025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34560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22867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5B71F80-1F92-4074-84D9-16A062B215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18270F-AA83-75FE-2060-91CAB4BD2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The Engineering Architecture</a:t>
            </a:r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7209C9DA-6E0D-46D9-8275-C52222D8CC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DAAAC0-787A-ABE0-A87D-49ECE03F8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94532" y="6182876"/>
            <a:ext cx="68333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DC3D416-06CF-4992-9B82-1CD609DB644E}" type="slidenum">
              <a:rPr lang="en-IN" smtClean="0"/>
              <a:pPr>
                <a:spcAft>
                  <a:spcPts val="600"/>
                </a:spcAft>
              </a:pPr>
              <a:t>13</a:t>
            </a:fld>
            <a:endParaRPr lang="en-IN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3EB57A4D-E0D0-46DA-B339-F24CA46FA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585E02C-D617-4BF3-5AB5-0B33FF07AA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90571625"/>
              </p:ext>
            </p:extLst>
          </p:nvPr>
        </p:nvGraphicFramePr>
        <p:xfrm>
          <a:off x="1813755" y="1948543"/>
          <a:ext cx="8564491" cy="4093485"/>
        </p:xfrm>
        <a:graphic>
          <a:graphicData uri="http://schemas.openxmlformats.org/drawingml/2006/table">
            <a:tbl>
              <a:tblPr/>
              <a:tblGrid>
                <a:gridCol w="2919831">
                  <a:extLst>
                    <a:ext uri="{9D8B030D-6E8A-4147-A177-3AD203B41FA5}">
                      <a16:colId xmlns:a16="http://schemas.microsoft.com/office/drawing/2014/main" val="1225959432"/>
                    </a:ext>
                  </a:extLst>
                </a:gridCol>
                <a:gridCol w="2927260">
                  <a:extLst>
                    <a:ext uri="{9D8B030D-6E8A-4147-A177-3AD203B41FA5}">
                      <a16:colId xmlns:a16="http://schemas.microsoft.com/office/drawing/2014/main" val="1246462308"/>
                    </a:ext>
                  </a:extLst>
                </a:gridCol>
                <a:gridCol w="2717400">
                  <a:extLst>
                    <a:ext uri="{9D8B030D-6E8A-4147-A177-3AD203B41FA5}">
                      <a16:colId xmlns:a16="http://schemas.microsoft.com/office/drawing/2014/main" val="407900061"/>
                    </a:ext>
                  </a:extLst>
                </a:gridCol>
              </a:tblGrid>
              <a:tr h="54199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2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Component</a:t>
                      </a:r>
                      <a:endParaRPr lang="en-IN" sz="2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33716" marR="133716" marT="89144" marB="8914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2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Role in Lab R-05</a:t>
                      </a:r>
                      <a:endParaRPr lang="en-IN" sz="2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33716" marR="133716" marT="89144" marB="8914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2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Memory Impact</a:t>
                      </a:r>
                      <a:endParaRPr lang="en-IN" sz="2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33716" marR="133716" marT="89144" marB="8914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6609251"/>
                  </a:ext>
                </a:extLst>
              </a:tr>
              <a:tr h="118383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2100" b="1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InstrumentPrototype</a:t>
                      </a:r>
                      <a:endParaRPr lang="en-IN" sz="2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33716" marR="133716" marT="89144" marB="8914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The "Superclass" holding shared pricing logic.</a:t>
                      </a:r>
                    </a:p>
                  </a:txBody>
                  <a:tcPr marL="133716" marR="133716" marT="89144" marB="8914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Low:</a:t>
                      </a:r>
                      <a:r>
                        <a:rPr lang="en-US" sz="2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One copy in the Heap.</a:t>
                      </a:r>
                    </a:p>
                  </a:txBody>
                  <a:tcPr marL="133716" marR="133716" marT="89144" marB="8914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3719"/>
                  </a:ext>
                </a:extLst>
              </a:tr>
              <a:tr h="118383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2100" b="1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buildBridge()</a:t>
                      </a:r>
                      <a:endParaRPr lang="en-IN" sz="2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33716" marR="133716" marT="89144" marB="8914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The logic that connects raw API data to the blueprint.</a:t>
                      </a:r>
                    </a:p>
                  </a:txBody>
                  <a:tcPr marL="133716" marR="133716" marT="89144" marB="8914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21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Efficient:</a:t>
                      </a:r>
                      <a:r>
                        <a:rPr lang="en-IN" sz="2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No data is copied.</a:t>
                      </a:r>
                    </a:p>
                  </a:txBody>
                  <a:tcPr marL="133716" marR="133716" marT="89144" marB="8914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2918975"/>
                  </a:ext>
                </a:extLst>
              </a:tr>
              <a:tr h="118383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2100" b="1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Object.setPrototypeOf</a:t>
                      </a:r>
                      <a:endParaRPr lang="en-IN" sz="21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133716" marR="133716" marT="89144" marB="8914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1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The mechanism that creates the inheritance chain.</a:t>
                      </a:r>
                    </a:p>
                  </a:txBody>
                  <a:tcPr marL="133716" marR="133716" marT="89144" marB="8914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1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Fast:</a:t>
                      </a:r>
                      <a:r>
                        <a:rPr lang="en-US" sz="2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Updates the hidden </a:t>
                      </a:r>
                      <a:r>
                        <a:rPr lang="en-US" sz="21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[[Prototype]]</a:t>
                      </a:r>
                      <a:r>
                        <a:rPr lang="en-US" sz="21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pointer.</a:t>
                      </a:r>
                    </a:p>
                  </a:txBody>
                  <a:tcPr marL="133716" marR="133716" marT="89144" marB="89144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77769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75073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7838C-FA1A-905D-62C8-CEFD34CAF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Summary</a:t>
            </a:r>
            <a:endParaRPr lang="en-IN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3001A3C-46C0-5780-F980-259086ABECB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525799" y="1490007"/>
            <a:ext cx="7140402" cy="38779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IN" sz="2800" dirty="0">
                <a:ln w="0"/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Recursion over Iteration</a:t>
            </a:r>
          </a:p>
          <a:p>
            <a:pPr lvl="0"/>
            <a:endParaRPr lang="en-IN" sz="2800" dirty="0">
              <a:ln w="0"/>
              <a:solidFill>
                <a:schemeClr val="tx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lvl="0"/>
            <a:r>
              <a:rPr lang="en-IN" sz="2800" dirty="0">
                <a:ln w="0"/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Exit Early</a:t>
            </a:r>
          </a:p>
          <a:p>
            <a:pPr lvl="0"/>
            <a:endParaRPr lang="en-IN" sz="2800" dirty="0">
              <a:ln w="0"/>
              <a:solidFill>
                <a:schemeClr val="tx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lvl="0"/>
            <a:r>
              <a:rPr lang="en-IN" sz="2800" dirty="0">
                <a:ln w="0"/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Memory Isolation</a:t>
            </a:r>
          </a:p>
          <a:p>
            <a:pPr lvl="0"/>
            <a:endParaRPr lang="en-IN" sz="2800" dirty="0">
              <a:ln w="0"/>
              <a:solidFill>
                <a:schemeClr val="tx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lvl="0"/>
            <a:r>
              <a:rPr lang="en-IN" sz="2800" dirty="0">
                <a:ln w="0"/>
                <a:solidFill>
                  <a:schemeClr val="tx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Context Control</a:t>
            </a:r>
            <a:endParaRPr kumimoji="0" lang="en-US" altLang="en-US" sz="2800" i="0" u="none" strike="noStrike" normalizeH="0" baseline="0" dirty="0">
              <a:ln w="0"/>
              <a:solidFill>
                <a:schemeClr val="tx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48173-BC01-732F-E223-28793A625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C3D416-06CF-4992-9B82-1CD609DB644E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764199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383</TotalTime>
  <Words>555</Words>
  <Application>Microsoft Office PowerPoint</Application>
  <PresentationFormat>Widescreen</PresentationFormat>
  <Paragraphs>103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Arial</vt:lpstr>
      <vt:lpstr>Google Sans Text</vt:lpstr>
      <vt:lpstr>Trebuchet MS</vt:lpstr>
      <vt:lpstr>Wingdings 3</vt:lpstr>
      <vt:lpstr>Facet</vt:lpstr>
      <vt:lpstr>Phase 2: Deep Traversal &amp; The Recursive Mindset</vt:lpstr>
      <vt:lpstr>The Mental Model:  "The Russian Matryoshka Doll"</vt:lpstr>
      <vt:lpstr>Common Interview Pitfalls                          (The "Recursion Killers")</vt:lpstr>
      <vt:lpstr>The Recursion Matryoshka:                              "The Exit Strategy"</vt:lpstr>
      <vt:lpstr>Shallow vs. Deep Clone: "Address Isolation"</vt:lpstr>
      <vt:lpstr>Recursive Call Stack vs. Heap Allocation</vt:lpstr>
      <vt:lpstr>   Code-Along                        (The Recursive Shadow Clone)</vt:lpstr>
      <vt:lpstr>Context Control (The Solution)</vt:lpstr>
      <vt:lpstr>   Code-Along                        (Context Control)</vt:lpstr>
      <vt:lpstr>PowerPoint Presentation</vt:lpstr>
      <vt:lpstr>PowerPoint Presentation</vt:lpstr>
      <vt:lpstr>Lab R-05 (Prototype Bridge)</vt:lpstr>
      <vt:lpstr>The Engineering Architecture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Joseph Samuels</dc:creator>
  <cp:lastModifiedBy>Stephen Joseph Samuels</cp:lastModifiedBy>
  <cp:revision>13</cp:revision>
  <dcterms:created xsi:type="dcterms:W3CDTF">2026-02-09T07:07:36Z</dcterms:created>
  <dcterms:modified xsi:type="dcterms:W3CDTF">2026-02-11T11:18:12Z</dcterms:modified>
</cp:coreProperties>
</file>