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9" r:id="rId23"/>
    <p:sldId id="278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73" r:id="rId35"/>
  </p:sldIdLst>
  <p:sldSz cx="12192000" cy="6858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5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979" y="0"/>
            <a:ext cx="52832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52832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979" y="6513910"/>
            <a:ext cx="52832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25503" y="1916187"/>
            <a:ext cx="8940993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7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6374" y="1916483"/>
            <a:ext cx="9739251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728431" y="2035810"/>
            <a:ext cx="4918709" cy="2786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1708" y="2977895"/>
            <a:ext cx="10768609" cy="381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951383" y="2010699"/>
            <a:ext cx="9768205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500" spc="175" dirty="0">
                <a:solidFill>
                  <a:srgbClr val="161616"/>
                </a:solidFill>
              </a:rPr>
              <a:t>P</a:t>
            </a:r>
            <a:r>
              <a:rPr sz="4500" spc="-315" dirty="0">
                <a:solidFill>
                  <a:srgbClr val="161616"/>
                </a:solidFill>
              </a:rPr>
              <a:t>r</a:t>
            </a:r>
            <a:r>
              <a:rPr sz="4500" spc="-155" dirty="0">
                <a:solidFill>
                  <a:srgbClr val="161616"/>
                </a:solidFill>
              </a:rPr>
              <a:t>esent</a:t>
            </a:r>
            <a:r>
              <a:rPr sz="4500" spc="-140" dirty="0">
                <a:solidFill>
                  <a:srgbClr val="161616"/>
                </a:solidFill>
              </a:rPr>
              <a:t>i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g</a:t>
            </a:r>
            <a:r>
              <a:rPr sz="4500" spc="-440" dirty="0">
                <a:solidFill>
                  <a:srgbClr val="161616"/>
                </a:solidFill>
              </a:rPr>
              <a:t> </a:t>
            </a:r>
            <a:r>
              <a:rPr sz="4500" spc="-220" dirty="0">
                <a:solidFill>
                  <a:srgbClr val="161616"/>
                </a:solidFill>
              </a:rPr>
              <a:t>a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d</a:t>
            </a:r>
            <a:r>
              <a:rPr sz="4500" spc="-455" dirty="0">
                <a:solidFill>
                  <a:srgbClr val="161616"/>
                </a:solidFill>
              </a:rPr>
              <a:t> </a:t>
            </a:r>
            <a:r>
              <a:rPr sz="4500" spc="250" dirty="0">
                <a:solidFill>
                  <a:srgbClr val="161616"/>
                </a:solidFill>
              </a:rPr>
              <a:t>A</a:t>
            </a:r>
            <a:r>
              <a:rPr sz="4500" spc="65" dirty="0">
                <a:solidFill>
                  <a:srgbClr val="161616"/>
                </a:solidFill>
              </a:rPr>
              <a:t>gg</a:t>
            </a:r>
            <a:r>
              <a:rPr sz="4500" spc="-315" dirty="0">
                <a:solidFill>
                  <a:srgbClr val="161616"/>
                </a:solidFill>
              </a:rPr>
              <a:t>r</a:t>
            </a:r>
            <a:r>
              <a:rPr sz="4500" spc="-95" dirty="0">
                <a:solidFill>
                  <a:srgbClr val="161616"/>
                </a:solidFill>
              </a:rPr>
              <a:t>eg</a:t>
            </a:r>
            <a:r>
              <a:rPr sz="4500" spc="-120" dirty="0">
                <a:solidFill>
                  <a:srgbClr val="161616"/>
                </a:solidFill>
              </a:rPr>
              <a:t>at</a:t>
            </a:r>
            <a:r>
              <a:rPr sz="4500" spc="-125" dirty="0">
                <a:solidFill>
                  <a:srgbClr val="161616"/>
                </a:solidFill>
              </a:rPr>
              <a:t>i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g</a:t>
            </a:r>
            <a:r>
              <a:rPr sz="4500" spc="-440" dirty="0">
                <a:solidFill>
                  <a:srgbClr val="161616"/>
                </a:solidFill>
              </a:rPr>
              <a:t> </a:t>
            </a:r>
            <a:r>
              <a:rPr sz="4500" spc="-45" dirty="0">
                <a:solidFill>
                  <a:srgbClr val="161616"/>
                </a:solidFill>
              </a:rPr>
              <a:t>R</a:t>
            </a:r>
            <a:r>
              <a:rPr sz="4500" spc="-190" dirty="0">
                <a:solidFill>
                  <a:srgbClr val="161616"/>
                </a:solidFill>
              </a:rPr>
              <a:t>esu</a:t>
            </a:r>
            <a:r>
              <a:rPr sz="4500" spc="-155" dirty="0">
                <a:solidFill>
                  <a:srgbClr val="161616"/>
                </a:solidFill>
              </a:rPr>
              <a:t>l</a:t>
            </a:r>
            <a:r>
              <a:rPr sz="4500" spc="-145" dirty="0">
                <a:solidFill>
                  <a:srgbClr val="161616"/>
                </a:solidFill>
              </a:rPr>
              <a:t>ts</a:t>
            </a:r>
            <a:endParaRPr sz="450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230620" y="2818490"/>
            <a:ext cx="5025390" cy="9855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Sorting</a:t>
            </a:r>
            <a:r>
              <a:rPr sz="2400" spc="-1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query</a:t>
            </a:r>
            <a:r>
              <a:rPr sz="2400" spc="-1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7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Applying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calculations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245422" y="1916483"/>
            <a:ext cx="21443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5" dirty="0"/>
              <a:t>O</a:t>
            </a:r>
            <a:r>
              <a:rPr spc="-150" dirty="0"/>
              <a:t>v</a:t>
            </a:r>
            <a:r>
              <a:rPr spc="-50" dirty="0"/>
              <a:t>e</a:t>
            </a:r>
            <a:r>
              <a:rPr spc="-90" dirty="0"/>
              <a:t>rv</a:t>
            </a:r>
            <a:r>
              <a:rPr spc="-55" dirty="0"/>
              <a:t>i</a:t>
            </a:r>
            <a:r>
              <a:rPr spc="-140" dirty="0"/>
              <a:t>e</a:t>
            </a:r>
            <a:r>
              <a:rPr spc="150" dirty="0"/>
              <a:t>w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73473" y="519066"/>
            <a:ext cx="45567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rgbClr val="404040"/>
                </a:solidFill>
              </a:rPr>
              <a:t>Querying</a:t>
            </a:r>
            <a:r>
              <a:rPr spc="-240" dirty="0">
                <a:solidFill>
                  <a:srgbClr val="404040"/>
                </a:solidFill>
              </a:rPr>
              <a:t> </a:t>
            </a:r>
            <a:r>
              <a:rPr spc="-5" dirty="0">
                <a:solidFill>
                  <a:srgbClr val="404040"/>
                </a:solidFill>
              </a:rPr>
              <a:t>Residency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210300" y="2176462"/>
          <a:ext cx="5257800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20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0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8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8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706373" y="2183129"/>
            <a:ext cx="4645660" cy="348869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7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 panose="02020603050405020304"/>
              <a:cs typeface="Times New Roman" panose="02020603050405020304"/>
            </a:endParaRPr>
          </a:p>
          <a:p>
            <a:pPr marL="863600" marR="2252980" indent="-589280">
              <a:lnSpc>
                <a:spcPct val="163000"/>
              </a:lnSpc>
              <a:spcBef>
                <a:spcPts val="5"/>
              </a:spcBef>
            </a:pP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400" spc="-13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name, </a:t>
            </a:r>
            <a:r>
              <a:rPr sz="2400" spc="-6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state</a:t>
            </a:r>
            <a:endParaRPr sz="2400">
              <a:latin typeface="Arial MT"/>
              <a:cs typeface="Arial MT"/>
            </a:endParaRPr>
          </a:p>
          <a:p>
            <a:pPr marL="442595">
              <a:lnSpc>
                <a:spcPct val="100000"/>
              </a:lnSpc>
              <a:spcBef>
                <a:spcPts val="1800"/>
              </a:spcBef>
            </a:pP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400" spc="-4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residency;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8995" y="754380"/>
            <a:ext cx="2332990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  <a:p>
            <a:pPr marL="90170" marR="5080" indent="77470">
              <a:lnSpc>
                <a:spcPts val="4440"/>
              </a:lnSpc>
              <a:spcBef>
                <a:spcPts val="245"/>
              </a:spcBef>
            </a:pPr>
            <a:r>
              <a:rPr sz="2200" spc="-5" dirty="0">
                <a:latin typeface="Arial MT"/>
                <a:cs typeface="Arial MT"/>
              </a:rPr>
              <a:t>FROM residency </a:t>
            </a:r>
            <a:r>
              <a:rPr sz="2200" spc="-600" dirty="0"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ORDER</a:t>
            </a:r>
            <a:r>
              <a:rPr sz="2200" spc="-5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BY</a:t>
            </a:r>
            <a:r>
              <a:rPr sz="2200" spc="-85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05344" y="3567239"/>
          <a:ext cx="489966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03128" y="2574163"/>
            <a:ext cx="4292600" cy="939800"/>
            <a:chOff x="1103128" y="2574163"/>
            <a:chExt cx="4292600" cy="939800"/>
          </a:xfrm>
        </p:grpSpPr>
        <p:sp>
          <p:nvSpPr>
            <p:cNvPr id="3" name="object 3"/>
            <p:cNvSpPr/>
            <p:nvPr/>
          </p:nvSpPr>
          <p:spPr>
            <a:xfrm>
              <a:off x="1115822" y="25868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381127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F8D1C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115822" y="30440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76327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FBEA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538227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539876"/>
                  </a:moveTo>
                  <a:lnTo>
                    <a:pt x="0" y="927100"/>
                  </a:lnTo>
                </a:path>
                <a:path h="927100">
                  <a:moveTo>
                    <a:pt x="0" y="0"/>
                  </a:moveTo>
                  <a:lnTo>
                    <a:pt x="0" y="38747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96062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32873" y="3044063"/>
              <a:ext cx="1757045" cy="0"/>
            </a:xfrm>
            <a:custGeom>
              <a:avLst/>
              <a:gdLst/>
              <a:ahLst/>
              <a:cxnLst/>
              <a:rect l="l" t="t" r="r" b="b"/>
              <a:pathLst>
                <a:path w="1757045">
                  <a:moveTo>
                    <a:pt x="0" y="0"/>
                  </a:moveTo>
                  <a:lnTo>
                    <a:pt x="175650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15828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83028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09478" y="25868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109478" y="35012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115828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60"/>
              </a:spcBef>
            </a:pPr>
            <a:r>
              <a:rPr sz="2400" spc="25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960627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R="85090" algn="r">
              <a:lnSpc>
                <a:spcPct val="100000"/>
              </a:lnSpc>
              <a:spcBef>
                <a:spcPts val="260"/>
              </a:spcBef>
            </a:pPr>
            <a:r>
              <a:rPr sz="2400" spc="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Z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15828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60"/>
              </a:spcBef>
            </a:pPr>
            <a:r>
              <a:rPr sz="2400" spc="-5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960627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767080">
              <a:lnSpc>
                <a:spcPct val="100000"/>
              </a:lnSpc>
              <a:spcBef>
                <a:spcPts val="260"/>
              </a:spcBef>
            </a:pPr>
            <a:r>
              <a:rPr sz="2400" spc="-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100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052945" y="4469365"/>
            <a:ext cx="240093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513715">
              <a:lnSpc>
                <a:spcPct val="125000"/>
              </a:lnSpc>
              <a:spcBef>
                <a:spcPts val="100"/>
              </a:spcBef>
            </a:pPr>
            <a:r>
              <a:rPr sz="2000" spc="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Ascending </a:t>
            </a:r>
            <a:r>
              <a:rPr sz="2000" spc="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Smallest</a:t>
            </a:r>
            <a:r>
              <a:rPr sz="20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largest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01084" y="5569861"/>
            <a:ext cx="170561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SO</a:t>
            </a:r>
            <a:r>
              <a:rPr sz="2000" spc="-45" dirty="0">
                <a:solidFill>
                  <a:srgbClr val="404040"/>
                </a:solidFill>
                <a:latin typeface="Arial MT"/>
                <a:cs typeface="Arial MT"/>
              </a:rPr>
              <a:t>R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T</a:t>
            </a:r>
            <a:r>
              <a:rPr sz="2000" spc="-2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BY</a:t>
            </a:r>
            <a:r>
              <a:rPr sz="2000" spc="-14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717317" y="4469365"/>
            <a:ext cx="2448560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62280">
              <a:lnSpc>
                <a:spcPct val="125000"/>
              </a:lnSpc>
              <a:spcBef>
                <a:spcPts val="100"/>
              </a:spcBef>
            </a:pPr>
            <a:r>
              <a:rPr sz="2000" spc="1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Descending </a:t>
            </a:r>
            <a:r>
              <a:rPr sz="20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Largest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smallest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990855" y="5569861"/>
            <a:ext cx="19024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SORT</a:t>
            </a:r>
            <a:r>
              <a:rPr sz="2000" spc="-6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BY</a:t>
            </a:r>
            <a:r>
              <a:rPr sz="2000" spc="-7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xfrm>
            <a:off x="3589863" y="519066"/>
            <a:ext cx="492442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404040"/>
                </a:solidFill>
              </a:rPr>
              <a:t>Specifying</a:t>
            </a:r>
            <a:r>
              <a:rPr spc="-245" dirty="0">
                <a:solidFill>
                  <a:srgbClr val="404040"/>
                </a:solidFill>
              </a:rPr>
              <a:t> </a:t>
            </a:r>
            <a:r>
              <a:rPr spc="-30" dirty="0">
                <a:solidFill>
                  <a:srgbClr val="404040"/>
                </a:solidFill>
              </a:rPr>
              <a:t>Sort</a:t>
            </a:r>
            <a:r>
              <a:rPr spc="-245" dirty="0">
                <a:solidFill>
                  <a:srgbClr val="404040"/>
                </a:solidFill>
              </a:rPr>
              <a:t> </a:t>
            </a:r>
            <a:r>
              <a:rPr spc="5" dirty="0">
                <a:solidFill>
                  <a:srgbClr val="404040"/>
                </a:solidFill>
              </a:rPr>
              <a:t>Order</a:t>
            </a:r>
          </a:p>
        </p:txBody>
      </p:sp>
      <p:grpSp>
        <p:nvGrpSpPr>
          <p:cNvPr id="21" name="object 21"/>
          <p:cNvGrpSpPr/>
          <p:nvPr/>
        </p:nvGrpSpPr>
        <p:grpSpPr>
          <a:xfrm>
            <a:off x="6795386" y="2574163"/>
            <a:ext cx="4292600" cy="939800"/>
            <a:chOff x="6795386" y="2574163"/>
            <a:chExt cx="4292600" cy="939800"/>
          </a:xfrm>
        </p:grpSpPr>
        <p:sp>
          <p:nvSpPr>
            <p:cNvPr id="22" name="object 22"/>
            <p:cNvSpPr/>
            <p:nvPr/>
          </p:nvSpPr>
          <p:spPr>
            <a:xfrm>
              <a:off x="6808089" y="25868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381127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CDDF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808089" y="30440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76327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E8EF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2304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801736" y="3044063"/>
              <a:ext cx="1756410" cy="0"/>
            </a:xfrm>
            <a:custGeom>
              <a:avLst/>
              <a:gdLst/>
              <a:ahLst/>
              <a:cxnLst/>
              <a:rect l="l" t="t" r="r" b="b"/>
              <a:pathLst>
                <a:path w="1756409">
                  <a:moveTo>
                    <a:pt x="0" y="0"/>
                  </a:moveTo>
                  <a:lnTo>
                    <a:pt x="175629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8080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10752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801736" y="25868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801736" y="35012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6808086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60"/>
              </a:spcBef>
            </a:pPr>
            <a:r>
              <a:rPr sz="2400" spc="25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9652886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R="85090" algn="r">
              <a:lnSpc>
                <a:spcPct val="100000"/>
              </a:lnSpc>
              <a:spcBef>
                <a:spcPts val="260"/>
              </a:spcBef>
            </a:pPr>
            <a:r>
              <a:rPr sz="2400" spc="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Z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808086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60"/>
              </a:spcBef>
            </a:pPr>
            <a:r>
              <a:rPr sz="2400" spc="-5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9652886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767080">
              <a:lnSpc>
                <a:spcPct val="100000"/>
              </a:lnSpc>
              <a:spcBef>
                <a:spcPts val="260"/>
              </a:spcBef>
            </a:pPr>
            <a:r>
              <a:rPr sz="2400" spc="-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100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2484882" y="2815569"/>
            <a:ext cx="1529080" cy="457200"/>
            <a:chOff x="2484882" y="2815569"/>
            <a:chExt cx="1529080" cy="457200"/>
          </a:xfrm>
        </p:grpSpPr>
        <p:sp>
          <p:nvSpPr>
            <p:cNvPr id="35" name="object 35"/>
            <p:cNvSpPr/>
            <p:nvPr/>
          </p:nvSpPr>
          <p:spPr>
            <a:xfrm>
              <a:off x="2484882" y="2967989"/>
              <a:ext cx="1148080" cy="152400"/>
            </a:xfrm>
            <a:custGeom>
              <a:avLst/>
              <a:gdLst/>
              <a:ahLst/>
              <a:cxnLst/>
              <a:rect l="l" t="t" r="r" b="b"/>
              <a:pathLst>
                <a:path w="1148079" h="152400">
                  <a:moveTo>
                    <a:pt x="0" y="152400"/>
                  </a:moveTo>
                  <a:lnTo>
                    <a:pt x="1147991" y="152400"/>
                  </a:lnTo>
                  <a:lnTo>
                    <a:pt x="1147991" y="0"/>
                  </a:ln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556664" y="2815569"/>
              <a:ext cx="457834" cy="457200"/>
            </a:xfrm>
            <a:custGeom>
              <a:avLst/>
              <a:gdLst/>
              <a:ahLst/>
              <a:cxnLst/>
              <a:rect l="l" t="t" r="r" b="b"/>
              <a:pathLst>
                <a:path w="457835" h="457200">
                  <a:moveTo>
                    <a:pt x="25" y="0"/>
                  </a:moveTo>
                  <a:lnTo>
                    <a:pt x="0" y="457200"/>
                  </a:lnTo>
                  <a:lnTo>
                    <a:pt x="457212" y="228625"/>
                  </a:lnTo>
                  <a:lnTo>
                    <a:pt x="25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7" name="object 37"/>
          <p:cNvGrpSpPr/>
          <p:nvPr/>
        </p:nvGrpSpPr>
        <p:grpSpPr>
          <a:xfrm>
            <a:off x="8177023" y="2815610"/>
            <a:ext cx="1529080" cy="457200"/>
            <a:chOff x="8177023" y="2815610"/>
            <a:chExt cx="1529080" cy="457200"/>
          </a:xfrm>
        </p:grpSpPr>
        <p:sp>
          <p:nvSpPr>
            <p:cNvPr id="38" name="object 38"/>
            <p:cNvSpPr/>
            <p:nvPr/>
          </p:nvSpPr>
          <p:spPr>
            <a:xfrm>
              <a:off x="8558027" y="2967989"/>
              <a:ext cx="1148080" cy="152400"/>
            </a:xfrm>
            <a:custGeom>
              <a:avLst/>
              <a:gdLst/>
              <a:ahLst/>
              <a:cxnLst/>
              <a:rect l="l" t="t" r="r" b="b"/>
              <a:pathLst>
                <a:path w="1148079" h="152400">
                  <a:moveTo>
                    <a:pt x="0" y="152400"/>
                  </a:moveTo>
                  <a:lnTo>
                    <a:pt x="1147991" y="152400"/>
                  </a:lnTo>
                  <a:lnTo>
                    <a:pt x="1147991" y="0"/>
                  </a:ln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8177023" y="2815610"/>
              <a:ext cx="457834" cy="457200"/>
            </a:xfrm>
            <a:custGeom>
              <a:avLst/>
              <a:gdLst/>
              <a:ahLst/>
              <a:cxnLst/>
              <a:rect l="l" t="t" r="r" b="b"/>
              <a:pathLst>
                <a:path w="457834" h="457200">
                  <a:moveTo>
                    <a:pt x="457212" y="0"/>
                  </a:moveTo>
                  <a:lnTo>
                    <a:pt x="0" y="228574"/>
                  </a:lnTo>
                  <a:lnTo>
                    <a:pt x="457187" y="457200"/>
                  </a:lnTo>
                  <a:lnTo>
                    <a:pt x="457212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Slide Number Placeholder 39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8995" y="754380"/>
            <a:ext cx="3095625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  <a:p>
            <a:pPr marL="90170" marR="5080" indent="77470">
              <a:lnSpc>
                <a:spcPts val="4440"/>
              </a:lnSpc>
              <a:spcBef>
                <a:spcPts val="245"/>
              </a:spcBef>
            </a:pPr>
            <a:r>
              <a:rPr sz="2200" spc="-5" dirty="0">
                <a:latin typeface="Arial MT"/>
                <a:cs typeface="Arial MT"/>
              </a:rPr>
              <a:t>FROM</a:t>
            </a:r>
            <a:r>
              <a:rPr sz="220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residency </a:t>
            </a:r>
            <a:r>
              <a:rPr sz="220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ORDER</a:t>
            </a:r>
            <a:r>
              <a:rPr sz="2200" spc="-35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BY</a:t>
            </a:r>
            <a:r>
              <a:rPr sz="2200" spc="-75" dirty="0"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state</a:t>
            </a:r>
            <a:r>
              <a:rPr sz="2200" dirty="0">
                <a:latin typeface="Arial MT"/>
                <a:cs typeface="Arial MT"/>
              </a:rPr>
              <a:t>,</a:t>
            </a:r>
            <a:r>
              <a:rPr sz="2200" spc="-20" dirty="0"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name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05344" y="3567239"/>
          <a:ext cx="461010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0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5343" y="754380"/>
            <a:ext cx="1961514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3086" y="1881945"/>
            <a:ext cx="4507865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2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residency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ORDER</a:t>
            </a:r>
            <a:r>
              <a:rPr sz="2200" spc="-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2A9FBB"/>
                </a:solidFill>
                <a:latin typeface="Arial MT"/>
                <a:cs typeface="Arial MT"/>
              </a:rPr>
              <a:t>state</a:t>
            </a:r>
            <a:r>
              <a:rPr sz="2200" spc="-1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,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name</a:t>
            </a:r>
            <a:r>
              <a:rPr sz="2200" spc="-125" dirty="0">
                <a:solidFill>
                  <a:srgbClr val="EF5A28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8" name="object 8"/>
          <p:cNvGrpSpPr/>
          <p:nvPr/>
        </p:nvGrpSpPr>
        <p:grpSpPr>
          <a:xfrm>
            <a:off x="686294" y="3560889"/>
            <a:ext cx="4950460" cy="2799080"/>
            <a:chOff x="686294" y="3560889"/>
            <a:chExt cx="4950460" cy="2799080"/>
          </a:xfrm>
        </p:grpSpPr>
        <p:sp>
          <p:nvSpPr>
            <p:cNvPr id="9" name="object 9"/>
            <p:cNvSpPr/>
            <p:nvPr/>
          </p:nvSpPr>
          <p:spPr>
            <a:xfrm>
              <a:off x="711695" y="396982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4899177" y="0"/>
                  </a:moveTo>
                  <a:lnTo>
                    <a:pt x="2449588" y="0"/>
                  </a:lnTo>
                  <a:lnTo>
                    <a:pt x="0" y="0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4899177" y="396240"/>
                  </a:lnTo>
                  <a:lnTo>
                    <a:pt x="4899177" y="13735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1695" y="436606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2449588" y="0"/>
                  </a:moveTo>
                  <a:lnTo>
                    <a:pt x="0" y="0"/>
                  </a:lnTo>
                  <a:lnTo>
                    <a:pt x="0" y="122123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2449588" y="122123"/>
                  </a:lnTo>
                  <a:lnTo>
                    <a:pt x="2449588" y="0"/>
                  </a:lnTo>
                  <a:close/>
                </a:path>
                <a:path w="4899660" h="396239">
                  <a:moveTo>
                    <a:pt x="4899177" y="0"/>
                  </a:moveTo>
                  <a:lnTo>
                    <a:pt x="4536198" y="0"/>
                  </a:lnTo>
                  <a:lnTo>
                    <a:pt x="453619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650998" y="4762309"/>
              <a:ext cx="2960370" cy="396240"/>
            </a:xfrm>
            <a:custGeom>
              <a:avLst/>
              <a:gdLst/>
              <a:ahLst/>
              <a:cxnLst/>
              <a:rect l="l" t="t" r="r" b="b"/>
              <a:pathLst>
                <a:path w="2960370" h="396239">
                  <a:moveTo>
                    <a:pt x="2444496" y="0"/>
                  </a:moveTo>
                  <a:lnTo>
                    <a:pt x="510286" y="0"/>
                  </a:lnTo>
                  <a:lnTo>
                    <a:pt x="0" y="0"/>
                  </a:lnTo>
                  <a:lnTo>
                    <a:pt x="0" y="396240"/>
                  </a:lnTo>
                  <a:lnTo>
                    <a:pt x="510286" y="396240"/>
                  </a:lnTo>
                  <a:lnTo>
                    <a:pt x="2444496" y="396240"/>
                  </a:lnTo>
                  <a:lnTo>
                    <a:pt x="2444496" y="0"/>
                  </a:lnTo>
                  <a:close/>
                </a:path>
                <a:path w="2960370" h="396239">
                  <a:moveTo>
                    <a:pt x="2959874" y="0"/>
                  </a:moveTo>
                  <a:lnTo>
                    <a:pt x="2596896" y="0"/>
                  </a:lnTo>
                  <a:lnTo>
                    <a:pt x="2596896" y="396240"/>
                  </a:lnTo>
                  <a:lnTo>
                    <a:pt x="2959874" y="396240"/>
                  </a:lnTo>
                  <a:lnTo>
                    <a:pt x="2959874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11695" y="515854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1786902" y="0"/>
                  </a:moveTo>
                  <a:lnTo>
                    <a:pt x="0" y="0"/>
                  </a:lnTo>
                  <a:lnTo>
                    <a:pt x="0" y="396240"/>
                  </a:lnTo>
                  <a:lnTo>
                    <a:pt x="1786902" y="396240"/>
                  </a:lnTo>
                  <a:lnTo>
                    <a:pt x="1786902" y="0"/>
                  </a:lnTo>
                  <a:close/>
                </a:path>
                <a:path w="4899660" h="396239">
                  <a:moveTo>
                    <a:pt x="4383798" y="0"/>
                  </a:moveTo>
                  <a:lnTo>
                    <a:pt x="2449588" y="0"/>
                  </a:lnTo>
                  <a:lnTo>
                    <a:pt x="1939302" y="0"/>
                  </a:lnTo>
                  <a:lnTo>
                    <a:pt x="1939302" y="396240"/>
                  </a:lnTo>
                  <a:lnTo>
                    <a:pt x="2449588" y="396240"/>
                  </a:lnTo>
                  <a:lnTo>
                    <a:pt x="4383798" y="396240"/>
                  </a:lnTo>
                  <a:lnTo>
                    <a:pt x="4383798" y="0"/>
                  </a:lnTo>
                  <a:close/>
                </a:path>
                <a:path w="4899660" h="396239">
                  <a:moveTo>
                    <a:pt x="4899177" y="0"/>
                  </a:moveTo>
                  <a:lnTo>
                    <a:pt x="4536198" y="0"/>
                  </a:lnTo>
                  <a:lnTo>
                    <a:pt x="453619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11695" y="5554789"/>
              <a:ext cx="4899660" cy="396875"/>
            </a:xfrm>
            <a:custGeom>
              <a:avLst/>
              <a:gdLst/>
              <a:ahLst/>
              <a:cxnLst/>
              <a:rect l="l" t="t" r="r" b="b"/>
              <a:pathLst>
                <a:path w="4899660" h="396875">
                  <a:moveTo>
                    <a:pt x="1786902" y="0"/>
                  </a:moveTo>
                  <a:lnTo>
                    <a:pt x="0" y="0"/>
                  </a:lnTo>
                  <a:lnTo>
                    <a:pt x="0" y="396252"/>
                  </a:lnTo>
                  <a:lnTo>
                    <a:pt x="1786902" y="396252"/>
                  </a:lnTo>
                  <a:lnTo>
                    <a:pt x="1786902" y="0"/>
                  </a:lnTo>
                  <a:close/>
                </a:path>
                <a:path w="4899660" h="396875">
                  <a:moveTo>
                    <a:pt x="4899177" y="0"/>
                  </a:moveTo>
                  <a:lnTo>
                    <a:pt x="2449588" y="0"/>
                  </a:lnTo>
                  <a:lnTo>
                    <a:pt x="1939302" y="0"/>
                  </a:lnTo>
                  <a:lnTo>
                    <a:pt x="1939302" y="396252"/>
                  </a:lnTo>
                  <a:lnTo>
                    <a:pt x="2449588" y="396252"/>
                  </a:lnTo>
                  <a:lnTo>
                    <a:pt x="4899177" y="396252"/>
                  </a:lnTo>
                  <a:lnTo>
                    <a:pt x="4899177" y="299999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11695" y="595102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4899177" y="0"/>
                  </a:moveTo>
                  <a:lnTo>
                    <a:pt x="2449588" y="0"/>
                  </a:lnTo>
                  <a:lnTo>
                    <a:pt x="0" y="0"/>
                  </a:lnTo>
                  <a:lnTo>
                    <a:pt x="0" y="284759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161281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05344" y="396982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381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05344" y="4366069"/>
              <a:ext cx="4390390" cy="0"/>
            </a:xfrm>
            <a:custGeom>
              <a:avLst/>
              <a:gdLst/>
              <a:ahLst/>
              <a:cxnLst/>
              <a:rect l="l" t="t" r="r" b="b"/>
              <a:pathLst>
                <a:path w="4390390">
                  <a:moveTo>
                    <a:pt x="0" y="0"/>
                  </a:moveTo>
                  <a:lnTo>
                    <a:pt x="4390149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05332" y="4359719"/>
              <a:ext cx="4912360" cy="408940"/>
            </a:xfrm>
            <a:custGeom>
              <a:avLst/>
              <a:gdLst/>
              <a:ahLst/>
              <a:cxnLst/>
              <a:rect l="l" t="t" r="r" b="b"/>
              <a:pathLst>
                <a:path w="4912360" h="408939">
                  <a:moveTo>
                    <a:pt x="1793265" y="396240"/>
                  </a:moveTo>
                  <a:lnTo>
                    <a:pt x="0" y="396240"/>
                  </a:lnTo>
                  <a:lnTo>
                    <a:pt x="0" y="408940"/>
                  </a:lnTo>
                  <a:lnTo>
                    <a:pt x="1793265" y="408940"/>
                  </a:lnTo>
                  <a:lnTo>
                    <a:pt x="1793265" y="396240"/>
                  </a:lnTo>
                  <a:close/>
                </a:path>
                <a:path w="4912360" h="408939">
                  <a:moveTo>
                    <a:pt x="4911877" y="0"/>
                  </a:moveTo>
                  <a:lnTo>
                    <a:pt x="4542561" y="0"/>
                  </a:lnTo>
                  <a:lnTo>
                    <a:pt x="4542561" y="12700"/>
                  </a:lnTo>
                  <a:lnTo>
                    <a:pt x="4911877" y="12700"/>
                  </a:lnTo>
                  <a:lnTo>
                    <a:pt x="491187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650997" y="4762309"/>
              <a:ext cx="2444750" cy="0"/>
            </a:xfrm>
            <a:custGeom>
              <a:avLst/>
              <a:gdLst/>
              <a:ahLst/>
              <a:cxnLst/>
              <a:rect l="l" t="t" r="r" b="b"/>
              <a:pathLst>
                <a:path w="2444750">
                  <a:moveTo>
                    <a:pt x="0" y="0"/>
                  </a:moveTo>
                  <a:lnTo>
                    <a:pt x="2444496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47893" y="4755959"/>
              <a:ext cx="369570" cy="12700"/>
            </a:xfrm>
            <a:custGeom>
              <a:avLst/>
              <a:gdLst/>
              <a:ahLst/>
              <a:cxnLst/>
              <a:rect l="l" t="t" r="r" b="b"/>
              <a:pathLst>
                <a:path w="369570" h="12700">
                  <a:moveTo>
                    <a:pt x="0" y="12700"/>
                  </a:moveTo>
                  <a:lnTo>
                    <a:pt x="369327" y="12700"/>
                  </a:lnTo>
                  <a:lnTo>
                    <a:pt x="369327" y="0"/>
                  </a:lnTo>
                  <a:lnTo>
                    <a:pt x="0" y="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650997" y="5158549"/>
              <a:ext cx="2444750" cy="0"/>
            </a:xfrm>
            <a:custGeom>
              <a:avLst/>
              <a:gdLst/>
              <a:ahLst/>
              <a:cxnLst/>
              <a:rect l="l" t="t" r="r" b="b"/>
              <a:pathLst>
                <a:path w="2444750">
                  <a:moveTo>
                    <a:pt x="0" y="0"/>
                  </a:moveTo>
                  <a:lnTo>
                    <a:pt x="2444496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247893" y="5152199"/>
              <a:ext cx="369570" cy="12700"/>
            </a:xfrm>
            <a:custGeom>
              <a:avLst/>
              <a:gdLst/>
              <a:ahLst/>
              <a:cxnLst/>
              <a:rect l="l" t="t" r="r" b="b"/>
              <a:pathLst>
                <a:path w="369570" h="12700">
                  <a:moveTo>
                    <a:pt x="0" y="12700"/>
                  </a:moveTo>
                  <a:lnTo>
                    <a:pt x="369327" y="12700"/>
                  </a:lnTo>
                  <a:lnTo>
                    <a:pt x="369327" y="0"/>
                  </a:lnTo>
                  <a:lnTo>
                    <a:pt x="0" y="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650997" y="5554789"/>
              <a:ext cx="2966720" cy="396240"/>
            </a:xfrm>
            <a:custGeom>
              <a:avLst/>
              <a:gdLst/>
              <a:ahLst/>
              <a:cxnLst/>
              <a:rect l="l" t="t" r="r" b="b"/>
              <a:pathLst>
                <a:path w="2966720" h="396239">
                  <a:moveTo>
                    <a:pt x="0" y="0"/>
                  </a:moveTo>
                  <a:lnTo>
                    <a:pt x="2444496" y="0"/>
                  </a:lnTo>
                </a:path>
                <a:path w="2966720" h="396239">
                  <a:moveTo>
                    <a:pt x="2596896" y="0"/>
                  </a:moveTo>
                  <a:lnTo>
                    <a:pt x="2966223" y="0"/>
                  </a:lnTo>
                </a:path>
                <a:path w="2966720" h="396239">
                  <a:moveTo>
                    <a:pt x="0" y="396240"/>
                  </a:moveTo>
                  <a:lnTo>
                    <a:pt x="2966223" y="39624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11694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610870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05344" y="357358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05344" y="634726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18044" y="3579939"/>
            <a:ext cx="2437130" cy="370840"/>
          </a:xfrm>
          <a:prstGeom prst="rect">
            <a:avLst/>
          </a:prstGeom>
          <a:solidFill>
            <a:srgbClr val="9BC75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230"/>
              </a:spcBef>
            </a:pPr>
            <a:r>
              <a:rPr sz="2000" spc="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Name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167631" y="3579939"/>
            <a:ext cx="2437130" cy="370840"/>
          </a:xfrm>
          <a:prstGeom prst="rect">
            <a:avLst/>
          </a:prstGeom>
          <a:solidFill>
            <a:srgbClr val="9BC75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4455">
              <a:lnSpc>
                <a:spcPct val="100000"/>
              </a:lnSpc>
              <a:spcBef>
                <a:spcPts val="230"/>
              </a:spcBef>
            </a:pPr>
            <a:r>
              <a:rPr sz="20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state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18044" y="3992942"/>
            <a:ext cx="243713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95"/>
              </a:spcBef>
            </a:pP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Justin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240097" y="3992942"/>
            <a:ext cx="125031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Wyoming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11694" y="436606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Jim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167631" y="4372419"/>
            <a:ext cx="1927860" cy="383540"/>
          </a:xfrm>
          <a:prstGeom prst="rect">
            <a:avLst/>
          </a:prstGeom>
          <a:solidFill>
            <a:srgbClr val="EEF5E9"/>
          </a:solidFill>
        </p:spPr>
        <p:txBody>
          <a:bodyPr vert="horz" wrap="square" lIns="0" tIns="29209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230"/>
              </a:spcBef>
            </a:pPr>
            <a:r>
              <a:rPr sz="2000" spc="-7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Texas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718044" y="4768659"/>
            <a:ext cx="1781175" cy="383540"/>
          </a:xfrm>
          <a:prstGeom prst="rect">
            <a:avLst/>
          </a:prstGeom>
          <a:solidFill>
            <a:srgbClr val="DEEBD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4455">
              <a:lnSpc>
                <a:spcPct val="100000"/>
              </a:lnSpc>
              <a:spcBef>
                <a:spcPts val="230"/>
              </a:spcBef>
            </a:pP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Sheila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161281" y="476230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0"/>
              </a:spcBef>
            </a:pPr>
            <a:r>
              <a:rPr sz="2000" spc="-7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Texas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711694" y="515854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Amy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3161281" y="515854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0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Oregon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11694" y="555478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Marsha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240097" y="5578347"/>
            <a:ext cx="98933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2000" spc="9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go</a:t>
            </a:r>
            <a:r>
              <a:rPr sz="2000" spc="-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11694" y="595102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5"/>
              </a:spcBef>
            </a:pP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Richard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3161281" y="595102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5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Arizona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2346219" y="4107179"/>
            <a:ext cx="3054350" cy="2129155"/>
            <a:chOff x="2346219" y="4107179"/>
            <a:chExt cx="3054350" cy="2129155"/>
          </a:xfrm>
        </p:grpSpPr>
        <p:sp>
          <p:nvSpPr>
            <p:cNvPr id="43" name="object 43"/>
            <p:cNvSpPr/>
            <p:nvPr/>
          </p:nvSpPr>
          <p:spPr>
            <a:xfrm>
              <a:off x="5095494" y="4107179"/>
              <a:ext cx="152400" cy="1748155"/>
            </a:xfrm>
            <a:custGeom>
              <a:avLst/>
              <a:gdLst/>
              <a:ahLst/>
              <a:cxnLst/>
              <a:rect l="l" t="t" r="r" b="b"/>
              <a:pathLst>
                <a:path w="152400" h="1748154">
                  <a:moveTo>
                    <a:pt x="0" y="1747608"/>
                  </a:moveTo>
                  <a:lnTo>
                    <a:pt x="152400" y="1747608"/>
                  </a:lnTo>
                  <a:lnTo>
                    <a:pt x="152400" y="0"/>
                  </a:lnTo>
                  <a:lnTo>
                    <a:pt x="0" y="0"/>
                  </a:lnTo>
                  <a:lnTo>
                    <a:pt x="0" y="1747608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943115" y="5778568"/>
              <a:ext cx="457200" cy="457834"/>
            </a:xfrm>
            <a:custGeom>
              <a:avLst/>
              <a:gdLst/>
              <a:ahLst/>
              <a:cxnLst/>
              <a:rect l="l" t="t" r="r" b="b"/>
              <a:pathLst>
                <a:path w="457200" h="457835">
                  <a:moveTo>
                    <a:pt x="457200" y="25"/>
                  </a:moveTo>
                  <a:lnTo>
                    <a:pt x="0" y="0"/>
                  </a:lnTo>
                  <a:lnTo>
                    <a:pt x="228574" y="457212"/>
                  </a:lnTo>
                  <a:lnTo>
                    <a:pt x="457200" y="25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498597" y="4488185"/>
              <a:ext cx="152400" cy="1748155"/>
            </a:xfrm>
            <a:custGeom>
              <a:avLst/>
              <a:gdLst/>
              <a:ahLst/>
              <a:cxnLst/>
              <a:rect l="l" t="t" r="r" b="b"/>
              <a:pathLst>
                <a:path w="152400" h="1748154">
                  <a:moveTo>
                    <a:pt x="0" y="1747596"/>
                  </a:moveTo>
                  <a:lnTo>
                    <a:pt x="152400" y="1747596"/>
                  </a:lnTo>
                  <a:lnTo>
                    <a:pt x="152400" y="0"/>
                  </a:lnTo>
                  <a:lnTo>
                    <a:pt x="0" y="0"/>
                  </a:lnTo>
                  <a:lnTo>
                    <a:pt x="0" y="1747596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346219" y="4107182"/>
              <a:ext cx="457200" cy="457834"/>
            </a:xfrm>
            <a:custGeom>
              <a:avLst/>
              <a:gdLst/>
              <a:ahLst/>
              <a:cxnLst/>
              <a:rect l="l" t="t" r="r" b="b"/>
              <a:pathLst>
                <a:path w="457200" h="457835">
                  <a:moveTo>
                    <a:pt x="228574" y="0"/>
                  </a:moveTo>
                  <a:lnTo>
                    <a:pt x="0" y="457212"/>
                  </a:lnTo>
                  <a:lnTo>
                    <a:pt x="457200" y="457187"/>
                  </a:lnTo>
                  <a:lnTo>
                    <a:pt x="228574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Slide Number Placeholder 4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5343" y="754380"/>
            <a:ext cx="1961514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3086" y="1881945"/>
            <a:ext cx="3512820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2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residency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ORDER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2A9FBB"/>
                </a:solidFill>
                <a:latin typeface="Arial MT"/>
                <a:cs typeface="Arial MT"/>
              </a:rPr>
              <a:t>2</a:t>
            </a:r>
            <a:r>
              <a:rPr sz="2200" spc="-1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,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1</a:t>
            </a:r>
            <a:r>
              <a:rPr sz="2200" spc="-125" dirty="0">
                <a:solidFill>
                  <a:srgbClr val="EF5A28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705344" y="3567239"/>
          <a:ext cx="489966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30873" y="4052315"/>
            <a:ext cx="3429000" cy="164465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MAX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55748" y="4052315"/>
            <a:ext cx="3429000" cy="164465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MIN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051292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AVG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76165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SUM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06373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marL="1141095">
              <a:lnSpc>
                <a:spcPct val="100000"/>
              </a:lnSpc>
            </a:pPr>
            <a:r>
              <a:rPr sz="2400" spc="8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COUNT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663777" y="519066"/>
            <a:ext cx="47764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404040"/>
                </a:solidFill>
              </a:rPr>
              <a:t>Aggregate</a:t>
            </a:r>
            <a:r>
              <a:rPr spc="-225" dirty="0">
                <a:solidFill>
                  <a:srgbClr val="404040"/>
                </a:solidFill>
              </a:rPr>
              <a:t> </a:t>
            </a:r>
            <a:r>
              <a:rPr spc="20" dirty="0">
                <a:solidFill>
                  <a:srgbClr val="404040"/>
                </a:solidFill>
              </a:rPr>
              <a:t>Functions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3888740"/>
          </a:xfrm>
          <a:custGeom>
            <a:avLst/>
            <a:gdLst/>
            <a:ahLst/>
            <a:cxnLst/>
            <a:rect l="l" t="t" r="r" b="b"/>
            <a:pathLst>
              <a:path w="12192000" h="3888740">
                <a:moveTo>
                  <a:pt x="12192000" y="0"/>
                </a:moveTo>
                <a:lnTo>
                  <a:pt x="0" y="0"/>
                </a:lnTo>
                <a:lnTo>
                  <a:pt x="0" y="3888486"/>
                </a:lnTo>
                <a:lnTo>
                  <a:pt x="12192000" y="3888486"/>
                </a:lnTo>
                <a:lnTo>
                  <a:pt x="12192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2444" y="2618731"/>
            <a:ext cx="26041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SE</a:t>
            </a:r>
            <a:r>
              <a:rPr sz="2400" spc="-5" dirty="0">
                <a:latin typeface="Arial MT"/>
                <a:cs typeface="Arial MT"/>
              </a:rPr>
              <a:t>L</a:t>
            </a:r>
            <a:r>
              <a:rPr sz="2400" dirty="0">
                <a:latin typeface="Arial MT"/>
                <a:cs typeface="Arial MT"/>
              </a:rPr>
              <a:t>ECT</a:t>
            </a:r>
            <a:r>
              <a:rPr sz="2400" spc="-185" dirty="0">
                <a:latin typeface="Arial MT"/>
                <a:cs typeface="Arial MT"/>
              </a:rPr>
              <a:t> </a:t>
            </a:r>
            <a:r>
              <a:rPr sz="2400" spc="-180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400" dirty="0">
                <a:solidFill>
                  <a:srgbClr val="EF5A28"/>
                </a:solidFill>
                <a:latin typeface="Arial MT"/>
                <a:cs typeface="Arial MT"/>
              </a:rPr>
              <a:t>VG</a:t>
            </a:r>
            <a:r>
              <a:rPr sz="2400" spc="-5" dirty="0">
                <a:latin typeface="Arial MT"/>
                <a:cs typeface="Arial MT"/>
              </a:rPr>
              <a:t>(age)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45468" y="3213091"/>
            <a:ext cx="9418320" cy="2426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965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Arial MT"/>
                <a:cs typeface="Arial MT"/>
              </a:rPr>
              <a:t>person;</a:t>
            </a:r>
            <a:endParaRPr sz="240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3050">
              <a:latin typeface="Arial MT"/>
              <a:cs typeface="Arial MT"/>
            </a:endParaRPr>
          </a:p>
          <a:p>
            <a:pPr marL="55245">
              <a:lnSpc>
                <a:spcPct val="100000"/>
              </a:lnSpc>
              <a:spcBef>
                <a:spcPts val="5"/>
              </a:spcBef>
            </a:pPr>
            <a:r>
              <a:rPr sz="36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3600" spc="-2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6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Functions</a:t>
            </a:r>
            <a:endParaRPr sz="36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630"/>
              </a:spcBef>
            </a:pPr>
            <a:r>
              <a:rPr sz="2400" spc="-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function,</a:t>
            </a:r>
            <a:r>
              <a:rPr sz="24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include</a:t>
            </a:r>
            <a:r>
              <a:rPr sz="24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it</a:t>
            </a:r>
            <a:r>
              <a:rPr sz="24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in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6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SELECT</a:t>
            </a:r>
            <a:r>
              <a:rPr sz="24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clause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4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above</a:t>
            </a:r>
            <a:r>
              <a:rPr sz="24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code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returns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average</a:t>
            </a:r>
            <a:r>
              <a:rPr sz="2400" spc="-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age</a:t>
            </a:r>
            <a:r>
              <a:rPr sz="24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8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of</a:t>
            </a:r>
            <a:r>
              <a:rPr sz="24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17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615421" y="553811"/>
          <a:ext cx="4899659" cy="277367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2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7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3630322" y="2622063"/>
            <a:ext cx="16840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9BC750"/>
                </a:solidFill>
                <a:latin typeface="Arial MT"/>
                <a:cs typeface="Arial MT"/>
              </a:rPr>
              <a:t>AS</a:t>
            </a:r>
            <a:r>
              <a:rPr sz="2400" spc="-95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9BC750"/>
                </a:solidFill>
                <a:latin typeface="Arial MT"/>
                <a:cs typeface="Arial MT"/>
              </a:rPr>
              <a:t>avg_age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7304" y="1877108"/>
            <a:ext cx="2452547" cy="2340543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34053" y="1871561"/>
            <a:ext cx="2317347" cy="234938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04138" y="2566073"/>
            <a:ext cx="2447889" cy="96194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7819" y="4545905"/>
            <a:ext cx="2813050" cy="939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84455" algn="just">
              <a:lnSpc>
                <a:spcPct val="100000"/>
              </a:lnSpc>
              <a:spcBef>
                <a:spcPts val="95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functions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can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be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used </a:t>
            </a: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for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more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sophisticated</a:t>
            </a:r>
            <a:r>
              <a:rPr sz="2000" spc="-1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analysis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4037157" y="519066"/>
            <a:ext cx="402971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404040"/>
                </a:solidFill>
              </a:rPr>
              <a:t>Analyzing</a:t>
            </a:r>
            <a:r>
              <a:rPr spc="-229" dirty="0">
                <a:solidFill>
                  <a:srgbClr val="404040"/>
                </a:solidFill>
              </a:rPr>
              <a:t> </a:t>
            </a:r>
            <a:r>
              <a:rPr spc="-15" dirty="0">
                <a:solidFill>
                  <a:srgbClr val="404040"/>
                </a:solidFill>
              </a:rPr>
              <a:t>Groups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4811991" y="4545905"/>
            <a:ext cx="25857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39370">
              <a:lnSpc>
                <a:spcPct val="100000"/>
              </a:lnSpc>
              <a:spcBef>
                <a:spcPts val="95"/>
              </a:spcBef>
            </a:pPr>
            <a:r>
              <a:rPr sz="2000" spc="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What</a:t>
            </a:r>
            <a:r>
              <a:rPr sz="20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is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our</a:t>
            </a:r>
            <a:r>
              <a:rPr sz="20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average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age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grade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level?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62659" y="4545905"/>
            <a:ext cx="293560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6830">
              <a:lnSpc>
                <a:spcPct val="100000"/>
              </a:lnSpc>
              <a:spcBef>
                <a:spcPts val="95"/>
              </a:spcBef>
            </a:pPr>
            <a:r>
              <a:rPr sz="2000" spc="7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keyword</a:t>
            </a:r>
            <a:r>
              <a:rPr sz="20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is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used</a:t>
            </a:r>
            <a:r>
              <a:rPr sz="20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specify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groups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8995" y="754380"/>
            <a:ext cx="3361690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SELECT</a:t>
            </a:r>
            <a:r>
              <a:rPr sz="22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grade_lvl,</a:t>
            </a:r>
            <a:endParaRPr sz="2200">
              <a:latin typeface="Arial MT"/>
              <a:cs typeface="Arial MT"/>
            </a:endParaRPr>
          </a:p>
          <a:p>
            <a:pPr marL="167640" marR="5080" indent="373380">
              <a:lnSpc>
                <a:spcPts val="4440"/>
              </a:lnSpc>
              <a:spcBef>
                <a:spcPts val="450"/>
              </a:spcBef>
            </a:pPr>
            <a:r>
              <a:rPr sz="2200" spc="-165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G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1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AS</a:t>
            </a:r>
            <a:r>
              <a:rPr sz="2200" spc="-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g_age  FROM</a:t>
            </a:r>
            <a:r>
              <a:rPr sz="22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person</a:t>
            </a:r>
            <a:endParaRPr sz="2200">
              <a:latin typeface="Arial MT"/>
              <a:cs typeface="Arial MT"/>
            </a:endParaRPr>
          </a:p>
          <a:p>
            <a:pPr marL="89535">
              <a:lnSpc>
                <a:spcPct val="100000"/>
              </a:lnSpc>
              <a:spcBef>
                <a:spcPts val="1350"/>
              </a:spcBef>
            </a:pP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GROUP</a:t>
            </a:r>
            <a:r>
              <a:rPr sz="2200" spc="-7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BY</a:t>
            </a:r>
            <a:r>
              <a:rPr sz="2200" spc="-7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;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66425" y="753923"/>
            <a:ext cx="4257675" cy="104203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60"/>
              </a:spcBef>
            </a:pPr>
            <a:r>
              <a:rPr sz="1550" spc="-155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380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2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average</a:t>
            </a:r>
            <a:r>
              <a:rPr sz="22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</a:t>
            </a:r>
            <a:endParaRPr sz="22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360"/>
              </a:spcBef>
            </a:pPr>
            <a:r>
              <a:rPr sz="1550" spc="-155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380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25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200" spc="-120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results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2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grade</a:t>
            </a:r>
            <a:r>
              <a:rPr sz="2200" spc="-1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1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level</a:t>
            </a:r>
            <a:endParaRPr sz="22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574778" y="3218947"/>
          <a:ext cx="4899659" cy="27736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189470" y="3813307"/>
          <a:ext cx="3266440" cy="15849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avg_age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460384" y="1737233"/>
            <a:ext cx="1423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Incorrect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93817" y="2855916"/>
            <a:ext cx="3629660" cy="13360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000" spc="-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EF5A28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,</a:t>
            </a:r>
            <a:endParaRPr sz="2000">
              <a:latin typeface="Arial MT"/>
              <a:cs typeface="Arial MT"/>
            </a:endParaRPr>
          </a:p>
          <a:p>
            <a:pPr marL="153670" marR="5080" indent="347980">
              <a:lnSpc>
                <a:spcPct val="165000"/>
              </a:lnSpc>
            </a:pP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(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age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)</a:t>
            </a:r>
            <a:r>
              <a:rPr sz="2000" spc="-12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</a:t>
            </a:r>
            <a:r>
              <a:rPr sz="2000" spc="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mum_ag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e 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person;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20365" y="1737233"/>
            <a:ext cx="11772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Correct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320365" y="2855916"/>
            <a:ext cx="3629660" cy="1838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000" spc="-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,</a:t>
            </a:r>
            <a:endParaRPr sz="2000">
              <a:latin typeface="Arial MT"/>
              <a:cs typeface="Arial MT"/>
            </a:endParaRPr>
          </a:p>
          <a:p>
            <a:pPr marL="153670" marR="5080" indent="347980">
              <a:lnSpc>
                <a:spcPct val="165000"/>
              </a:lnSpc>
            </a:pP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(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age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)</a:t>
            </a:r>
            <a:r>
              <a:rPr sz="2000" spc="-12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</a:t>
            </a:r>
            <a:r>
              <a:rPr sz="2000" spc="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mum_ag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e 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person</a:t>
            </a:r>
            <a:endParaRPr sz="2000">
              <a:latin typeface="Arial MT"/>
              <a:cs typeface="Arial MT"/>
            </a:endParaRPr>
          </a:p>
          <a:p>
            <a:pPr marL="82550">
              <a:lnSpc>
                <a:spcPct val="100000"/>
              </a:lnSpc>
              <a:spcBef>
                <a:spcPts val="1560"/>
              </a:spcBef>
            </a:pP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GROUP</a:t>
            </a:r>
            <a:r>
              <a:rPr sz="2000" spc="-55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BY</a:t>
            </a:r>
            <a:r>
              <a:rPr sz="2000" spc="-5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;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81133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rgbClr val="404040"/>
                </a:solidFill>
              </a:rPr>
              <a:t>Using</a:t>
            </a:r>
            <a:r>
              <a:rPr spc="-195" dirty="0">
                <a:solidFill>
                  <a:srgbClr val="404040"/>
                </a:solidFill>
              </a:rPr>
              <a:t> </a:t>
            </a:r>
            <a:r>
              <a:rPr spc="135" dirty="0">
                <a:solidFill>
                  <a:srgbClr val="404040"/>
                </a:solidFill>
              </a:rPr>
              <a:t>GROUP</a:t>
            </a:r>
            <a:r>
              <a:rPr spc="-204" dirty="0">
                <a:solidFill>
                  <a:srgbClr val="404040"/>
                </a:solidFill>
              </a:rPr>
              <a:t> </a:t>
            </a:r>
            <a:r>
              <a:rPr spc="190" dirty="0">
                <a:solidFill>
                  <a:srgbClr val="404040"/>
                </a:solidFill>
              </a:rPr>
              <a:t>BY</a:t>
            </a:r>
            <a:r>
              <a:rPr spc="-204" dirty="0">
                <a:solidFill>
                  <a:srgbClr val="404040"/>
                </a:solidFill>
              </a:rPr>
              <a:t> </a:t>
            </a:r>
            <a:r>
              <a:rPr spc="50" dirty="0">
                <a:solidFill>
                  <a:srgbClr val="404040"/>
                </a:solidFill>
              </a:rPr>
              <a:t>With</a:t>
            </a:r>
            <a:r>
              <a:rPr spc="-200" dirty="0">
                <a:solidFill>
                  <a:srgbClr val="404040"/>
                </a:solidFill>
              </a:rPr>
              <a:t> </a:t>
            </a:r>
            <a:r>
              <a:rPr spc="25" dirty="0">
                <a:solidFill>
                  <a:srgbClr val="404040"/>
                </a:solidFill>
              </a:rPr>
              <a:t>Aggregation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654558" y="4895088"/>
            <a:ext cx="5256530" cy="140525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sz="2000" spc="8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All </a:t>
            </a:r>
            <a:r>
              <a:rPr sz="2000" spc="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non-aggregate </a:t>
            </a:r>
            <a:r>
              <a:rPr sz="2000" spc="2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fields </a:t>
            </a:r>
            <a:r>
              <a:rPr sz="2000" spc="-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in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the </a:t>
            </a:r>
            <a:r>
              <a:rPr sz="2000" spc="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SELECT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clause</a:t>
            </a:r>
            <a:r>
              <a:rPr sz="2000" spc="-8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must</a:t>
            </a:r>
            <a:r>
              <a:rPr sz="2000" spc="-9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be</a:t>
            </a:r>
            <a:r>
              <a:rPr sz="2000" spc="-9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represented </a:t>
            </a:r>
            <a:r>
              <a:rPr sz="2000" spc="-69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in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000" spc="-9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7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8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clause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30621" y="3115670"/>
            <a:ext cx="4403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4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Explore</a:t>
            </a:r>
            <a:r>
              <a:rPr sz="2400" spc="-13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functions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17091" y="1828800"/>
            <a:ext cx="4268470" cy="243014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9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40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1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WHERE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49712" y="4545742"/>
            <a:ext cx="22072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000" spc="-9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single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rows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38540" y="4545742"/>
            <a:ext cx="30073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0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809231" y="1829561"/>
            <a:ext cx="4265295" cy="2429510"/>
          </a:xfrm>
          <a:prstGeom prst="rect">
            <a:avLst/>
          </a:prstGeom>
          <a:solidFill>
            <a:srgbClr val="2A9FBB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9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4050">
              <a:latin typeface="Times New Roman" panose="02020603050405020304"/>
              <a:cs typeface="Times New Roman" panose="02020603050405020304"/>
            </a:endParaRPr>
          </a:p>
          <a:p>
            <a:pPr marR="635" algn="ctr">
              <a:lnSpc>
                <a:spcPct val="100000"/>
              </a:lnSpc>
            </a:pPr>
            <a:r>
              <a:rPr sz="2400" spc="4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HAVING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968071" y="519066"/>
            <a:ext cx="616839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5" dirty="0">
                <a:solidFill>
                  <a:srgbClr val="404040"/>
                </a:solidFill>
              </a:rPr>
              <a:t>Filtering</a:t>
            </a:r>
            <a:r>
              <a:rPr spc="-190" dirty="0">
                <a:solidFill>
                  <a:srgbClr val="404040"/>
                </a:solidFill>
              </a:rPr>
              <a:t> </a:t>
            </a:r>
            <a:r>
              <a:rPr spc="25" dirty="0">
                <a:solidFill>
                  <a:srgbClr val="404040"/>
                </a:solidFill>
              </a:rPr>
              <a:t>Aggregate</a:t>
            </a:r>
            <a:r>
              <a:rPr spc="-210" dirty="0">
                <a:solidFill>
                  <a:srgbClr val="404040"/>
                </a:solidFill>
              </a:rPr>
              <a:t> </a:t>
            </a:r>
            <a:r>
              <a:rPr spc="-45" dirty="0">
                <a:solidFill>
                  <a:srgbClr val="404040"/>
                </a:solidFill>
              </a:rPr>
              <a:t>Results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8995" y="754380"/>
            <a:ext cx="3361690" cy="2616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SELECT</a:t>
            </a:r>
            <a:r>
              <a:rPr sz="22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grade_lvl,</a:t>
            </a:r>
            <a:endParaRPr sz="2200">
              <a:latin typeface="Arial MT"/>
              <a:cs typeface="Arial MT"/>
            </a:endParaRPr>
          </a:p>
          <a:p>
            <a:pPr marL="167640" marR="5080" indent="373380">
              <a:lnSpc>
                <a:spcPts val="4440"/>
              </a:lnSpc>
              <a:spcBef>
                <a:spcPts val="450"/>
              </a:spcBef>
            </a:pPr>
            <a:r>
              <a:rPr sz="2200" spc="-165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G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1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AS</a:t>
            </a:r>
            <a:r>
              <a:rPr sz="2200" spc="-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g_age  FROM</a:t>
            </a:r>
            <a:r>
              <a:rPr sz="22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person</a:t>
            </a:r>
            <a:endParaRPr sz="2200">
              <a:latin typeface="Arial MT"/>
              <a:cs typeface="Arial MT"/>
            </a:endParaRPr>
          </a:p>
          <a:p>
            <a:pPr marL="89535">
              <a:lnSpc>
                <a:spcPct val="100000"/>
              </a:lnSpc>
              <a:spcBef>
                <a:spcPts val="135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GROUP</a:t>
            </a:r>
            <a:r>
              <a:rPr sz="220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7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795"/>
              </a:spcBef>
            </a:pP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H</a:t>
            </a:r>
            <a:r>
              <a:rPr sz="2200" spc="-165" dirty="0">
                <a:solidFill>
                  <a:srgbClr val="9BC750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VING</a:t>
            </a:r>
            <a:r>
              <a:rPr sz="2200" spc="-14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16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&lt;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19;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66425" y="672845"/>
            <a:ext cx="4865370" cy="869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320"/>
              </a:lnSpc>
              <a:spcBef>
                <a:spcPts val="100"/>
              </a:spcBef>
            </a:pPr>
            <a:r>
              <a:rPr sz="1550" spc="-155" dirty="0">
                <a:solidFill>
                  <a:srgbClr val="9BC75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55" dirty="0">
                <a:solidFill>
                  <a:srgbClr val="9BC75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5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200" spc="-120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clause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specifies</a:t>
            </a:r>
            <a:r>
              <a:rPr sz="22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that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we</a:t>
            </a:r>
            <a:endParaRPr sz="2200">
              <a:latin typeface="Verdana" panose="020B0604030504040204"/>
              <a:cs typeface="Verdana" panose="020B0604030504040204"/>
            </a:endParaRPr>
          </a:p>
          <a:p>
            <a:pPr marL="296545" marR="254000">
              <a:lnSpc>
                <a:spcPct val="76000"/>
              </a:lnSpc>
              <a:spcBef>
                <a:spcPts val="315"/>
              </a:spcBef>
            </a:pPr>
            <a:r>
              <a:rPr sz="22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want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2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values </a:t>
            </a:r>
            <a:r>
              <a:rPr sz="2200" spc="-7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from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AVG</a:t>
            </a:r>
            <a:endParaRPr sz="22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574778" y="3218947"/>
          <a:ext cx="4899659" cy="27736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189470" y="3813307"/>
          <a:ext cx="3266440" cy="11887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avg_age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30621" y="3115670"/>
            <a:ext cx="46012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Using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7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737233"/>
            <a:ext cx="5469762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subquery is a query nested inside another query</a:t>
            </a:r>
            <a:endParaRPr sz="2400" dirty="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93817" y="2855916"/>
            <a:ext cx="3629660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Used to perform operations that require intermediate results.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37282" y="1736342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400" spc="30" dirty="0">
                <a:solidFill>
                  <a:srgbClr val="2A9FBB"/>
                </a:solidFill>
                <a:latin typeface="Verdana" panose="020B0604030504040204"/>
              </a:rPr>
              <a:t>Types of Subqueries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581969" y="2598648"/>
            <a:ext cx="3629660" cy="237180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Single-row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4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Multiple-row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4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Correlated</a:t>
            </a:r>
          </a:p>
          <a:p>
            <a:pPr marL="82550">
              <a:lnSpc>
                <a:spcPct val="100000"/>
              </a:lnSpc>
              <a:spcBef>
                <a:spcPts val="1560"/>
              </a:spcBef>
            </a:pPr>
            <a:endParaRPr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Understanding Subqueries in PostgreSQL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18</a:t>
            </a:fld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4558" y="4895088"/>
            <a:ext cx="5256530" cy="1712007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lang="en-US" sz="2000" b="1" dirty="0"/>
              <a:t>Execution Time</a:t>
            </a:r>
            <a:r>
              <a:rPr lang="en-US" sz="2000" dirty="0"/>
              <a:t>: Subqueries can be slower than joins in some cases.</a:t>
            </a:r>
          </a:p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lang="en-US" sz="2000" b="1" dirty="0"/>
              <a:t>Optimization</a:t>
            </a:r>
            <a:r>
              <a:rPr lang="en-US" sz="2000" dirty="0"/>
              <a:t>: PostgreSQL may optimize subqueries for better performance.</a:t>
            </a:r>
            <a:endParaRPr sz="2000" dirty="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648200"/>
            <a:ext cx="609797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Modularity: Break complex queries into simpler parts.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Readability: Makes queries easier to understand.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Flexibility: Can be used in SELECT, INSERT, UPDATE, DELETE statements.</a:t>
            </a:r>
            <a:endParaRPr lang="en-IN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2062741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737233"/>
            <a:ext cx="5469762" cy="2228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view in PostgreSQL is a virtual table that represents the result of a database query. It can simplify complex queries, enhance security, and provide a consistent interface to data.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Views are created using the CREATE VIEW statement.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48372" y="3051087"/>
            <a:ext cx="5196373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Use views to create a customized presentation of data from one or more tables.</a:t>
            </a:r>
            <a:endParaRPr lang="en-US"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Database Views in PostgreSQL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19</a:t>
            </a:fld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9600" y="4377446"/>
            <a:ext cx="5256530" cy="2389116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IN" sz="2400" b="1" dirty="0"/>
              <a:t>Scenarios for Using Views: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IN" sz="2000" b="1" i="1" dirty="0"/>
              <a:t>Simplifying Complex Queries                  Enhancing Security                              </a:t>
            </a:r>
            <a:r>
              <a:rPr lang="en-US" sz="2000" b="1" i="1" dirty="0"/>
              <a:t>Providing a Layer of Abstraction            </a:t>
            </a:r>
            <a:r>
              <a:rPr lang="en-IN" sz="2000" b="1" i="1" dirty="0"/>
              <a:t>Aggregated Data                                                 Join Operations</a:t>
            </a:r>
            <a:endParaRPr lang="en-US" sz="2000" b="1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648200"/>
            <a:ext cx="60979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CREATE VIEW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view_name</a:t>
            </a: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 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SELECT column1, column2, ...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FROM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table_name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WHERE condition;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DROP VIEW IF EXISTS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flight_info</a:t>
            </a: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5003978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513427"/>
            <a:ext cx="5469762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Technique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Purpose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80053" y="242324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Speed up data retrieval.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Writing High-Performing SQL Queries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20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324147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Improve performance by reducing the amount of data processed.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239236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Use Indexes Wisely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28301" y="368022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Optimize query performance.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36715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Use JOINS Efficiently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3036295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Reduce I/O overhead.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319278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**Avoid SELECT *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480641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Limit the Number of Rows Returned</a:t>
            </a: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5CBC56DB-4282-7197-7DC7-A56DD69A1ECE}"/>
              </a:ext>
            </a:extLst>
          </p:cNvPr>
          <p:cNvSpPr txBox="1"/>
          <p:nvPr/>
        </p:nvSpPr>
        <p:spPr>
          <a:xfrm>
            <a:off x="521653" y="539504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Use Appropriate Data Types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E93CC7-1937-A49F-16A4-271749608F4F}"/>
              </a:ext>
            </a:extLst>
          </p:cNvPr>
          <p:cNvSpPr txBox="1"/>
          <p:nvPr/>
        </p:nvSpPr>
        <p:spPr>
          <a:xfrm>
            <a:off x="381000" y="5999928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Write Simple and Understandable Queries</a:t>
            </a:r>
            <a:endParaRPr lang="en-IN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9" name="object 6">
            <a:extLst>
              <a:ext uri="{FF2B5EF4-FFF2-40B4-BE49-F238E27FC236}">
                <a16:creationId xmlns:a16="http://schemas.microsoft.com/office/drawing/2014/main" id="{BFFD1BE2-11A7-9359-8308-471A93812866}"/>
              </a:ext>
            </a:extLst>
          </p:cNvPr>
          <p:cNvSpPr txBox="1"/>
          <p:nvPr/>
        </p:nvSpPr>
        <p:spPr>
          <a:xfrm>
            <a:off x="6180053" y="5999928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Easier to maintain and optimize.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58421A0E-61D5-A84B-DB59-ADA763A05244}"/>
              </a:ext>
            </a:extLst>
          </p:cNvPr>
          <p:cNvSpPr txBox="1"/>
          <p:nvPr/>
        </p:nvSpPr>
        <p:spPr>
          <a:xfrm>
            <a:off x="6177339" y="5356000"/>
            <a:ext cx="5900056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Ensure efficient storage and quick access.</a:t>
            </a:r>
          </a:p>
        </p:txBody>
      </p:sp>
    </p:spTree>
    <p:extLst>
      <p:ext uri="{BB962C8B-B14F-4D97-AF65-F5344CB8AC3E}">
        <p14:creationId xmlns:p14="http://schemas.microsoft.com/office/powerpoint/2010/main" val="2597455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513427"/>
            <a:ext cx="5469762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Technique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Purpose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80053" y="2286000"/>
            <a:ext cx="5196373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Improve performance with large datasets.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Writing High-Performing SQL Queries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21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5135775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Maintain</a:t>
            </a:r>
            <a:r>
              <a:rPr lang="en-IN" sz="2000" dirty="0"/>
              <a:t> </a:t>
            </a: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index efficiency.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23923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US" dirty="0"/>
              <a:t>Use EXISTS Instead of IN for Subqueries</a:t>
            </a:r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436109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Identify and optimize slow queries.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43434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Use Query Analyzer Tools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3410864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Reduce the amount of data processed in joins.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34794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Optimize Join Order in Complex Queries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987326"/>
            <a:ext cx="5496295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Avoid Using Functions on Indexed Columns in WHERE Clause</a:t>
            </a:r>
          </a:p>
        </p:txBody>
      </p:sp>
    </p:spTree>
    <p:extLst>
      <p:ext uri="{BB962C8B-B14F-4D97-AF65-F5344CB8AC3E}">
        <p14:creationId xmlns:p14="http://schemas.microsoft.com/office/powerpoint/2010/main" val="7041936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26719" y="0"/>
            <a:ext cx="4635246" cy="68580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33400" y="1066800"/>
            <a:ext cx="3694127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25" dirty="0"/>
              <a:t>Query Plan </a:t>
            </a:r>
            <a:r>
              <a:rPr spc="225" dirty="0"/>
              <a:t>O</a:t>
            </a:r>
            <a:r>
              <a:rPr spc="-150" dirty="0"/>
              <a:t>v</a:t>
            </a:r>
            <a:r>
              <a:rPr spc="-50" dirty="0"/>
              <a:t>e</a:t>
            </a:r>
            <a:r>
              <a:rPr spc="-90" dirty="0"/>
              <a:t>rv</a:t>
            </a:r>
            <a:r>
              <a:rPr spc="-55" dirty="0"/>
              <a:t>i</a:t>
            </a:r>
            <a:r>
              <a:rPr spc="-140" dirty="0"/>
              <a:t>e</a:t>
            </a:r>
            <a:r>
              <a:rPr spc="150" dirty="0"/>
              <a:t>w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22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B5E77-AE08-9141-CEF1-AA0BC2620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600" y="1447800"/>
            <a:ext cx="5837931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0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Scans the entire table row-by-row. Suitable for small tables or when no relevant indexes exist.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Components of a Query Plan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584454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23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5101449"/>
            <a:ext cx="60979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Builds a hash table from the smaller table and probes the hash table using rows from the larger table.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 err="1"/>
              <a:t>Seq</a:t>
            </a:r>
            <a:r>
              <a:rPr lang="en-IN" dirty="0"/>
              <a:t> Scan (Sequential Scan)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Identify Iterates over rows from one table and for each row, executes a nested query on the second table.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Nested Loop Join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2953664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Uses an index to quickly locate rows. Efficient for selective queries where an index exists.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Index Scan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95300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Hash Join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832194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Joins two sorted datasets by merging them. Efficient for large sorted datasets.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Components of a Query Plan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24</a:t>
            </a:fld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4765127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Applies conditions to filter rows.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Merge Join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96981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Orders the result set based on specified columns.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Sort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Computes summary statistics like SUM, AVG, COUNT.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Aggregate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76512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Filter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5695890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Restricts the number of rows returned.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57200" y="569589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Limit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9278624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Identifying Performance Issues in SQL Queries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25</a:t>
            </a:fld>
            <a:endParaRPr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Use the EXPLAIN command to display the query plan.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EXPLAIN Command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4095690"/>
            <a:ext cx="60979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Provides actual execution statistics along with the query plan. Useful for identifying performance bottlenecks.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76992" y="407708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EXPLAIN ANALYZE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4468714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When the database scans the entire table because no appropriate index is available.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Common Performance Issues</a:t>
            </a:r>
            <a:br>
              <a:rPr lang="en-IN" spc="25" dirty="0">
                <a:solidFill>
                  <a:srgbClr val="404040"/>
                </a:solidFill>
              </a:rPr>
            </a:b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26</a:t>
            </a:fld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4765127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Lack of indexes on columns used in WHERE, JOIN, and ORDER BY clauses.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Full Table Scans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96981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Inefficient join order can cause excessive data processing.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Join Order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Steps in the query plan with high cost values indicate potential bottlenecks.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High Cost Operations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76512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Missing Indexes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5695890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Correlated subqueries can be inefficient if not optimized properly.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57200" y="569589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Unoptimized Subqueries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981534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C71D3-5842-2F55-7282-AB7F63103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E374F9E-6332-C2FE-F3C5-A898E9C1E1A3}"/>
              </a:ext>
            </a:extLst>
          </p:cNvPr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02863EC-3E35-D145-C705-82CB3183CE14}"/>
              </a:ext>
            </a:extLst>
          </p:cNvPr>
          <p:cNvSpPr txBox="1"/>
          <p:nvPr/>
        </p:nvSpPr>
        <p:spPr>
          <a:xfrm>
            <a:off x="151714" y="1017810"/>
            <a:ext cx="5469762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window function performs a calculation across a set of rows (the "window") that are related to the current row.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81C8DFA-8151-D712-75BD-54BEB91E2DDA}"/>
              </a:ext>
            </a:extLst>
          </p:cNvPr>
          <p:cNvSpPr txBox="1"/>
          <p:nvPr/>
        </p:nvSpPr>
        <p:spPr>
          <a:xfrm>
            <a:off x="6348257" y="1183235"/>
            <a:ext cx="5691343" cy="19210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Key Difference vs. GROUP BY:</a:t>
            </a: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GROUP BY: Collapses multiple rows into a single result row.</a:t>
            </a: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Window Function: Retains the identity of individual rows while appending the result of the calculation to each row.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72A8283-68E0-016E-7510-785291094A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90164" y="137160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chemeClr val="tx1"/>
                </a:solidFill>
              </a:rPr>
              <a:t>Introduction to Window Functions</a:t>
            </a:r>
            <a:endParaRPr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787918-A854-A2D7-ED36-415E185B19C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27</a:t>
            </a:fld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4A38BBA-3774-9C29-0964-6ACA756A2D84}"/>
              </a:ext>
            </a:extLst>
          </p:cNvPr>
          <p:cNvSpPr txBox="1"/>
          <p:nvPr/>
        </p:nvSpPr>
        <p:spPr>
          <a:xfrm>
            <a:off x="-1249" y="2680099"/>
            <a:ext cx="5898519" cy="417165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Components of the OVER Clause: </a:t>
            </a:r>
            <a:r>
              <a:rPr lang="en-US" sz="2000" b="1" i="1" dirty="0"/>
              <a:t>PARTITION BY: Divides the result set into groups (partitions). The function is applied to each partition separately. If omitted, the entire result set is treated as one partition.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000" b="1" i="1" dirty="0"/>
              <a:t>ORDER BY: Defines the logical order in which the function processes rows within a partition. This is crucial for functions like RANK() or running totals.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000" b="1" i="1" dirty="0"/>
              <a:t>Frame Clause: Defines a subset of the partition (e.g., "the last 3 rows" or "all rows from the start to the current row").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8BB785-BF8F-C612-E1FC-FFAAA5DB976F}"/>
              </a:ext>
            </a:extLst>
          </p:cNvPr>
          <p:cNvSpPr txBox="1"/>
          <p:nvPr/>
        </p:nvSpPr>
        <p:spPr>
          <a:xfrm>
            <a:off x="6114009" y="3274919"/>
            <a:ext cx="609797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b="1" spc="30" dirty="0">
                <a:solidFill>
                  <a:srgbClr val="2A9FBB"/>
                </a:solidFill>
                <a:latin typeface="Verdana" panose="020B0604030504040204"/>
              </a:rPr>
              <a:t>Basic Syntax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The defining feature of a window function is the OVER clause.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SELECT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column_name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,…,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FUNCTION_NAME() OVER (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[PARTITION BY column_1, column_2, ...]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[ORDER BY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column_A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[ASC|DESC]]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frame_clause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) AS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alias_name</a:t>
            </a:r>
            <a:endParaRPr lang="en-US" sz="1600" b="1" spc="30" dirty="0">
              <a:solidFill>
                <a:srgbClr val="2A9FBB"/>
              </a:solidFill>
              <a:latin typeface="Verdana" panose="020B0604030504040204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FROM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table_name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5121579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5FA5-A969-A3E6-2664-39F2D81AB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480059"/>
            <a:ext cx="9739251" cy="574039"/>
          </a:xfrm>
        </p:spPr>
        <p:txBody>
          <a:bodyPr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Common Window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EBCEC-CD9D-AD36-7EFF-50BC57385A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28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AA992F-C519-155A-3E5F-07F78A3A3A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736489"/>
              </p:ext>
            </p:extLst>
          </p:nvPr>
        </p:nvGraphicFramePr>
        <p:xfrm>
          <a:off x="2029835" y="2209800"/>
          <a:ext cx="8128000" cy="211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15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557084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ROW_NUMBER()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unique, sequential integer to rows (1, 2, 3, 4).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RANK()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rank with gaps (1, 2, 2, 4) if there are ties.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DENSE_RANK()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rank without gaps (1, 2, 2, 3) if there are ties.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NTILE(n)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Divides the partition into n buckets and assigns a bucket number to each row.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27970B1-243F-ABFA-9FF8-5E5C5335D8E5}"/>
              </a:ext>
            </a:extLst>
          </p:cNvPr>
          <p:cNvSpPr txBox="1"/>
          <p:nvPr/>
        </p:nvSpPr>
        <p:spPr>
          <a:xfrm>
            <a:off x="2029835" y="1447800"/>
            <a:ext cx="57039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Ranking Functions</a:t>
            </a:r>
          </a:p>
          <a:p>
            <a:r>
              <a:rPr lang="en-US" dirty="0"/>
              <a:t>Used to assign a number or rank to rows within a partition.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35C601-E08A-5BD2-FB4B-8EC049D57E78}"/>
              </a:ext>
            </a:extLst>
          </p:cNvPr>
          <p:cNvSpPr txBox="1"/>
          <p:nvPr/>
        </p:nvSpPr>
        <p:spPr>
          <a:xfrm>
            <a:off x="2032333" y="4427180"/>
            <a:ext cx="60068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Value Functions</a:t>
            </a:r>
          </a:p>
          <a:p>
            <a:r>
              <a:rPr lang="en-US" dirty="0"/>
              <a:t>Used to access data from other rows without using a Self-Join.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6C3F-1C6C-D6F7-F328-7335D165C4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798535"/>
              </p:ext>
            </p:extLst>
          </p:nvPr>
        </p:nvGraphicFramePr>
        <p:xfrm>
          <a:off x="2029835" y="4750345"/>
          <a:ext cx="8128000" cy="211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15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557084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LAG(column, offset)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a row "behind" the current row.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LEAD(column, offset)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a row "ahead" of the current row.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FIRST_VALUE()</a:t>
                      </a:r>
                      <a:r>
                        <a:rPr lang="en-IN" b="1" dirty="0"/>
                        <a:t> / </a:t>
                      </a:r>
                      <a:r>
                        <a:rPr lang="en-IN" b="1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LAST_VALUE()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the first or last row of the window frame.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6329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1515-EABA-2AE6-7A60-D301041A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F5FD-D773-6C75-77FC-1AF17D3E3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5742"/>
            <a:ext cx="9739251" cy="574039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Window Frame (ROWS &amp; RANGE)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81CF21-52C6-317F-C539-4F7B97418F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29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59CDD-403F-9494-7221-9FEE99F7C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92993"/>
              </p:ext>
            </p:extLst>
          </p:nvPr>
        </p:nvGraphicFramePr>
        <p:xfrm>
          <a:off x="2029835" y="1708423"/>
          <a:ext cx="812800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036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474763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Function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ROWS BETWEEN UNBOUNDED PRECEDING AND CURRENT ROW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From the start of the partition to the current row (Default for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ORDER BY</a:t>
                      </a:r>
                      <a:r>
                        <a:rPr lang="en-US" dirty="0"/>
                        <a:t>).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dirty="0"/>
                        <a:t>ROWS BETWEEN 3 PRECEDING AND CURRENT ROW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current row plus the three rows immediately above it.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dirty="0"/>
                        <a:t>ROWS BETWEEN CURRENT ROW AND UNBOUNDED FOLLOWING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From the current row to the end of the partition.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D1A229C-1F32-B25A-2357-795719227767}"/>
              </a:ext>
            </a:extLst>
          </p:cNvPr>
          <p:cNvSpPr txBox="1"/>
          <p:nvPr/>
        </p:nvSpPr>
        <p:spPr>
          <a:xfrm>
            <a:off x="4661551" y="1207046"/>
            <a:ext cx="2864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Common Frame Definitions:</a:t>
            </a:r>
          </a:p>
        </p:txBody>
      </p:sp>
    </p:spTree>
    <p:extLst>
      <p:ext uri="{BB962C8B-B14F-4D97-AF65-F5344CB8AC3E}">
        <p14:creationId xmlns:p14="http://schemas.microsoft.com/office/powerpoint/2010/main" val="3220246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EFC64-2F8A-9346-179E-5B0FF73C5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56D7FAF-42A0-83F9-93C2-5C2A4E3F03F0}"/>
              </a:ext>
            </a:extLst>
          </p:cNvPr>
          <p:cNvSpPr/>
          <p:nvPr/>
        </p:nvSpPr>
        <p:spPr>
          <a:xfrm flipH="1">
            <a:off x="6096379" y="898063"/>
            <a:ext cx="48451" cy="5510483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66C9650-448D-FDFB-AD67-65655E1E4759}"/>
              </a:ext>
            </a:extLst>
          </p:cNvPr>
          <p:cNvSpPr txBox="1"/>
          <p:nvPr/>
        </p:nvSpPr>
        <p:spPr>
          <a:xfrm>
            <a:off x="6299806" y="2007819"/>
            <a:ext cx="5691343" cy="27828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PARTITION BY region: The calculation resets every time the region changes.</a:t>
            </a:r>
          </a:p>
          <a:p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ORDER BY </a:t>
            </a:r>
            <a:r>
              <a:rPr lang="en-US" sz="2000" spc="30" dirty="0" err="1">
                <a:solidFill>
                  <a:srgbClr val="2A9FBB"/>
                </a:solidFill>
                <a:latin typeface="Verdana" panose="020B0604030504040204"/>
              </a:rPr>
              <a:t>sale_date</a:t>
            </a: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: Ensures the sum is added chronologically.</a:t>
            </a:r>
          </a:p>
          <a:p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The Result: Each row shows its specific amount plus the sum of all previous amount values in that region.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0ED7557-DF28-9223-8290-6A0546F2E5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90164" y="137160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chemeClr val="tx1"/>
                </a:solidFill>
              </a:rPr>
              <a:t>Practical Example: Running Total</a:t>
            </a:r>
            <a:endParaRPr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AE656-E7AA-97F7-858C-D3D98CE03E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30</a:t>
            </a:fld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8ADDF94-524A-9FCF-4983-EBF15AACFBAF}"/>
              </a:ext>
            </a:extLst>
          </p:cNvPr>
          <p:cNvSpPr txBox="1"/>
          <p:nvPr/>
        </p:nvSpPr>
        <p:spPr>
          <a:xfrm>
            <a:off x="148652" y="1210806"/>
            <a:ext cx="5898519" cy="5510483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SELECT 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region,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</a:t>
            </a:r>
            <a:r>
              <a:rPr lang="en-US" sz="2400" b="1" dirty="0" err="1"/>
              <a:t>sale_date</a:t>
            </a:r>
            <a:r>
              <a:rPr lang="en-US" sz="2400" b="1" dirty="0"/>
              <a:t>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amount,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SUM(amount) OVER (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    PARTITION BY region 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    ORDER BY </a:t>
            </a:r>
            <a:r>
              <a:rPr lang="en-US" sz="2400" b="1" dirty="0" err="1"/>
              <a:t>sale_date</a:t>
            </a:r>
            <a:endParaRPr lang="en-US" sz="2400" b="1" dirty="0"/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) AS </a:t>
            </a:r>
            <a:r>
              <a:rPr lang="en-US" sz="2400" b="1" dirty="0" err="1"/>
              <a:t>running_total</a:t>
            </a:r>
            <a:endParaRPr lang="en-US" sz="2400" b="1" dirty="0"/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FROM sales;</a:t>
            </a:r>
            <a:endParaRPr lang="en-US" sz="2000" b="1" i="1" dirty="0"/>
          </a:p>
        </p:txBody>
      </p:sp>
    </p:spTree>
    <p:extLst>
      <p:ext uri="{BB962C8B-B14F-4D97-AF65-F5344CB8AC3E}">
        <p14:creationId xmlns:p14="http://schemas.microsoft.com/office/powerpoint/2010/main" val="480505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BC3B5-884D-0594-7BEA-0742BF466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AB1B15D-852F-48E7-4F62-44889CC24999}"/>
              </a:ext>
            </a:extLst>
          </p:cNvPr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8AF24AB-C3A6-413F-D74A-23D76D653E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Execution Order &amp; The WINDOW Clause</a:t>
            </a:r>
            <a:endParaRPr lang="en-IN"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4E5D67-ADAE-2605-6431-DD8FB10CB4F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31</a:t>
            </a:fld>
            <a:endParaRPr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656FBEE-CD93-5A7D-17B4-5EF02F5A9A5D}"/>
              </a:ext>
            </a:extLst>
          </p:cNvPr>
          <p:cNvSpPr txBox="1"/>
          <p:nvPr/>
        </p:nvSpPr>
        <p:spPr>
          <a:xfrm>
            <a:off x="6096000" y="1271125"/>
            <a:ext cx="6045882" cy="33361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US" sz="2400" b="1" dirty="0"/>
              <a:t>Key Constraint: Filtering</a:t>
            </a:r>
          </a:p>
          <a:p>
            <a:r>
              <a:rPr lang="en-US" sz="2400" b="1" dirty="0"/>
              <a:t>The Problem:</a:t>
            </a:r>
            <a:r>
              <a:rPr lang="en-US" sz="2400" dirty="0"/>
              <a:t> Because window functions execute </a:t>
            </a:r>
            <a:r>
              <a:rPr lang="en-US" sz="2400" i="1" dirty="0"/>
              <a:t>after</a:t>
            </a:r>
            <a:r>
              <a:rPr lang="en-US" sz="2400" dirty="0"/>
              <a:t> the WHERE clause, you cannot filter by a windowed result directly (e.g., WHERE rank &lt; 3 will fail).</a:t>
            </a:r>
          </a:p>
          <a:p>
            <a:r>
              <a:rPr lang="en-US" sz="2400" b="1" dirty="0"/>
              <a:t>The Solution:</a:t>
            </a:r>
            <a:r>
              <a:rPr lang="en-US" sz="2400" dirty="0"/>
              <a:t> Wrap the query in a </a:t>
            </a:r>
            <a:r>
              <a:rPr lang="en-US" sz="2400" b="1" dirty="0"/>
              <a:t>CTE</a:t>
            </a:r>
            <a:r>
              <a:rPr lang="en-US" sz="2400" dirty="0"/>
              <a:t> or </a:t>
            </a:r>
            <a:r>
              <a:rPr lang="en-US" sz="2400" b="1" dirty="0"/>
              <a:t>Subquery</a:t>
            </a:r>
            <a:r>
              <a:rPr lang="en-US" sz="2400" dirty="0"/>
              <a:t>.</a:t>
            </a:r>
          </a:p>
          <a:p>
            <a:r>
              <a:rPr lang="en-US" sz="2400" i="1" dirty="0"/>
              <a:t>“Calculate the window value in an inner layer, then filter in the outer layer.”</a:t>
            </a:r>
            <a:endParaRPr lang="en-US" sz="2400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636C3402-37F9-8651-51E0-C7F530CA0EF6}"/>
              </a:ext>
            </a:extLst>
          </p:cNvPr>
          <p:cNvSpPr txBox="1"/>
          <p:nvPr/>
        </p:nvSpPr>
        <p:spPr>
          <a:xfrm>
            <a:off x="152400" y="1240437"/>
            <a:ext cx="5196373" cy="57060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US" sz="2000" b="1" dirty="0"/>
              <a:t>Logical Query Processing Order</a:t>
            </a:r>
          </a:p>
          <a:p>
            <a:r>
              <a:rPr lang="en-US" sz="2000" dirty="0"/>
              <a:t>Window functions are calculated late in the query execution process. This determines where they can and cannot be used.</a:t>
            </a:r>
          </a:p>
          <a:p>
            <a:r>
              <a:rPr lang="en-US" sz="2000" b="1" dirty="0"/>
              <a:t>The Pipeline:</a:t>
            </a:r>
          </a:p>
          <a:p>
            <a:r>
              <a:rPr lang="en-US" dirty="0"/>
              <a:t>FROM / JOIN</a:t>
            </a:r>
          </a:p>
          <a:p>
            <a:endParaRPr lang="en-US" dirty="0"/>
          </a:p>
          <a:p>
            <a:r>
              <a:rPr lang="en-US" dirty="0"/>
              <a:t>WHERE</a:t>
            </a:r>
          </a:p>
          <a:p>
            <a:endParaRPr lang="en-US" dirty="0"/>
          </a:p>
          <a:p>
            <a:r>
              <a:rPr lang="en-US" dirty="0"/>
              <a:t>GROUP BY</a:t>
            </a:r>
          </a:p>
          <a:p>
            <a:endParaRPr lang="en-US" dirty="0"/>
          </a:p>
          <a:p>
            <a:r>
              <a:rPr lang="en-US" dirty="0"/>
              <a:t>HAVING</a:t>
            </a:r>
          </a:p>
          <a:p>
            <a:endParaRPr lang="en-US" dirty="0"/>
          </a:p>
          <a:p>
            <a:r>
              <a:rPr lang="en-US" dirty="0"/>
              <a:t>➜ Window Functions</a:t>
            </a:r>
          </a:p>
          <a:p>
            <a:endParaRPr lang="en-US" dirty="0"/>
          </a:p>
          <a:p>
            <a:r>
              <a:rPr lang="en-US" dirty="0"/>
              <a:t>SELECT / DISTINCT</a:t>
            </a:r>
          </a:p>
          <a:p>
            <a:endParaRPr lang="en-US" dirty="0"/>
          </a:p>
          <a:p>
            <a:r>
              <a:rPr lang="en-US" dirty="0"/>
              <a:t>ORDER BY</a:t>
            </a:r>
          </a:p>
          <a:p>
            <a:endParaRPr lang="en-US" dirty="0"/>
          </a:p>
          <a:p>
            <a:r>
              <a:rPr lang="en-US" dirty="0"/>
              <a:t>LIMIT / OFFSET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7E815B-A2CA-DE7C-7D17-EC786D674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6020" y="4755057"/>
            <a:ext cx="6075862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6555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CF2CD-B67B-F7C4-032E-A63063FF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181A42E-FD1C-5780-86E3-74F3BA121378}"/>
              </a:ext>
            </a:extLst>
          </p:cNvPr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2918402-2CDF-3C48-0A5F-4A8B9F5085AF}"/>
              </a:ext>
            </a:extLst>
          </p:cNvPr>
          <p:cNvSpPr txBox="1"/>
          <p:nvPr/>
        </p:nvSpPr>
        <p:spPr>
          <a:xfrm>
            <a:off x="5591602" y="2203207"/>
            <a:ext cx="460121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00B0F0"/>
                </a:solidFill>
              </a:rPr>
              <a:t>Ranking the Most Delayed Flights per Carrier</a:t>
            </a:r>
            <a:endParaRPr sz="2400" b="1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0AE48-559A-0853-261A-989F601CAC2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32</a:t>
            </a:fld>
            <a:endParaRPr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352E31E-B325-0A82-679F-0782ABC2ED10}"/>
              </a:ext>
            </a:extLst>
          </p:cNvPr>
          <p:cNvSpPr txBox="1"/>
          <p:nvPr/>
        </p:nvSpPr>
        <p:spPr>
          <a:xfrm>
            <a:off x="5744002" y="3439512"/>
            <a:ext cx="460121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/>
              <a:t>Scenario:</a:t>
            </a:r>
            <a:r>
              <a:rPr lang="en-US" sz="2400" dirty="0"/>
              <a:t> The operations team wants to identify the top 3 flights with the highest departure delays for </a:t>
            </a:r>
            <a:r>
              <a:rPr lang="en-US" sz="2400" i="1" dirty="0"/>
              <a:t>each</a:t>
            </a:r>
            <a:r>
              <a:rPr lang="en-US" sz="2400" dirty="0"/>
              <a:t> airline to investigate the causes.</a:t>
            </a:r>
            <a:endParaRPr sz="2400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15954802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3C7D3-0B85-6705-B4B9-486B8933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13DA6DC-5E63-4727-51CC-F29C00EFA251}"/>
              </a:ext>
            </a:extLst>
          </p:cNvPr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8A24368-5EEA-93B0-4696-CBFF7E61828B}"/>
              </a:ext>
            </a:extLst>
          </p:cNvPr>
          <p:cNvSpPr txBox="1"/>
          <p:nvPr/>
        </p:nvSpPr>
        <p:spPr>
          <a:xfrm>
            <a:off x="5591602" y="2203207"/>
            <a:ext cx="460121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00B0F0"/>
                </a:solidFill>
              </a:rPr>
              <a:t>Comparative Analysis (Daily Delay vs. Carrier Average)</a:t>
            </a:r>
            <a:endParaRPr sz="2400" b="1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4C36D-0E2A-FCF9-E057-B55B5762281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33</a:t>
            </a:fld>
            <a:endParaRPr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B456DC61-D6FE-F63E-4971-3649AD5A7CEA}"/>
              </a:ext>
            </a:extLst>
          </p:cNvPr>
          <p:cNvSpPr txBox="1"/>
          <p:nvPr/>
        </p:nvSpPr>
        <p:spPr>
          <a:xfrm>
            <a:off x="5744002" y="3439512"/>
            <a:ext cx="460121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/>
              <a:t>Scenario:</a:t>
            </a:r>
            <a:r>
              <a:rPr lang="en-US" sz="2400" dirty="0"/>
              <a:t> You want to see every individual flight's delay and immediately know how it compares to that specific airline's overall average delay for that day.</a:t>
            </a:r>
            <a:endParaRPr sz="2400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478739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230620" y="2079350"/>
            <a:ext cx="6437630" cy="2463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8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ORDER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6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sorts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query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6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functions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perform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calculations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536575" indent="-289560">
              <a:lnSpc>
                <a:spcPct val="100000"/>
              </a:lnSpc>
              <a:spcBef>
                <a:spcPts val="600"/>
              </a:spcBef>
              <a:buSzPct val="75000"/>
              <a:buFont typeface="Segoe UI" panose="020B0502040204020203"/>
              <a:buChar char="-"/>
              <a:tabLst>
                <a:tab pos="536575" algn="l"/>
                <a:tab pos="537210" algn="l"/>
              </a:tabLst>
            </a:pPr>
            <a:r>
              <a:rPr sz="2400" spc="5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On</a:t>
            </a:r>
            <a:r>
              <a:rPr sz="2400" spc="-1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entire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data</a:t>
            </a:r>
            <a:r>
              <a:rPr sz="2400" spc="-1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set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536575" indent="-289560">
              <a:lnSpc>
                <a:spcPct val="100000"/>
              </a:lnSpc>
              <a:spcBef>
                <a:spcPts val="600"/>
              </a:spcBef>
              <a:buSzPct val="75000"/>
              <a:buFont typeface="Segoe UI" panose="020B0502040204020203"/>
              <a:buChar char="-"/>
              <a:tabLst>
                <a:tab pos="536575" algn="l"/>
                <a:tab pos="537210" algn="l"/>
              </a:tabLst>
            </a:pPr>
            <a:r>
              <a:rPr sz="2400" spc="5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On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groups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specified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using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9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400" spc="-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BY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400" spc="-1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filters</a:t>
            </a:r>
            <a:r>
              <a:rPr sz="2400" spc="-114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14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226374" y="1916483"/>
            <a:ext cx="21824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5" dirty="0"/>
              <a:t>Sum</a:t>
            </a:r>
            <a:r>
              <a:rPr spc="-80" dirty="0"/>
              <a:t>m</a:t>
            </a:r>
            <a:r>
              <a:rPr spc="-105" dirty="0"/>
              <a:t>a</a:t>
            </a:r>
            <a:r>
              <a:rPr spc="-55" dirty="0"/>
              <a:t>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34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676</TotalTime>
  <Words>1953</Words>
  <Application>Microsoft Office PowerPoint</Application>
  <PresentationFormat>Widescreen</PresentationFormat>
  <Paragraphs>522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 MT</vt:lpstr>
      <vt:lpstr>Calibri</vt:lpstr>
      <vt:lpstr>Google Sans Text</vt:lpstr>
      <vt:lpstr>Lucida Sans Unicode</vt:lpstr>
      <vt:lpstr>Segoe UI</vt:lpstr>
      <vt:lpstr>Times New Roman</vt:lpstr>
      <vt:lpstr>Verdana</vt:lpstr>
      <vt:lpstr>Office Theme</vt:lpstr>
      <vt:lpstr>Presenting and Aggregating Results</vt:lpstr>
      <vt:lpstr>Overview</vt:lpstr>
      <vt:lpstr>Querying Residency</vt:lpstr>
      <vt:lpstr>SELECT name, state FROM residency  ORDER BY name</vt:lpstr>
      <vt:lpstr>Specifying Sort Order</vt:lpstr>
      <vt:lpstr>SELECT name, state FROM residency  ORDER BY state, name</vt:lpstr>
      <vt:lpstr>SELECT name, state</vt:lpstr>
      <vt:lpstr>SELECT name, state</vt:lpstr>
      <vt:lpstr>Aggregate Functions</vt:lpstr>
      <vt:lpstr>SELECT AVG(age)</vt:lpstr>
      <vt:lpstr>Analyzing Groups</vt:lpstr>
      <vt:lpstr>PowerPoint Presentation</vt:lpstr>
      <vt:lpstr>Using GROUP BY With Aggregation</vt:lpstr>
      <vt:lpstr>PowerPoint Presentation</vt:lpstr>
      <vt:lpstr>Filtering Aggregate Results</vt:lpstr>
      <vt:lpstr>PowerPoint Presentation</vt:lpstr>
      <vt:lpstr>PowerPoint Presentation</vt:lpstr>
      <vt:lpstr>Understanding Subqueries in PostgreSQL</vt:lpstr>
      <vt:lpstr>Database Views in PostgreSQL</vt:lpstr>
      <vt:lpstr>Writing High-Performing SQL Queries</vt:lpstr>
      <vt:lpstr>Writing High-Performing SQL Queries</vt:lpstr>
      <vt:lpstr>Query Plan Overview</vt:lpstr>
      <vt:lpstr>Components of a Query Plan</vt:lpstr>
      <vt:lpstr>Components of a Query Plan</vt:lpstr>
      <vt:lpstr>Identifying Performance Issues in SQL Queries</vt:lpstr>
      <vt:lpstr>Common Performance Issues </vt:lpstr>
      <vt:lpstr>Introduction to Window Functions</vt:lpstr>
      <vt:lpstr>Common Window Functions</vt:lpstr>
      <vt:lpstr>The Window Frame (ROWS &amp; RANGE)</vt:lpstr>
      <vt:lpstr>Practical Example: Running Total</vt:lpstr>
      <vt:lpstr>Execution Order &amp; The WINDOW Clause</vt:lpstr>
      <vt:lpstr>PowerPoint Presentation</vt:lpstr>
      <vt:lpstr>PowerPoint Presentation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Presenting and Aggregating Results</dc:title>
  <dc:creator>Browning, Jason</dc:creator>
  <cp:lastModifiedBy>Stephen Joseph Samuels</cp:lastModifiedBy>
  <cp:revision>18</cp:revision>
  <dcterms:created xsi:type="dcterms:W3CDTF">2022-04-03T19:45:49Z</dcterms:created>
  <dcterms:modified xsi:type="dcterms:W3CDTF">2026-01-07T10:20:10Z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2019-03-05T05:30:00Z</vt:filetime>
  </property>
  <property fmtid="{D5CDD505-2E9C-101B-9397-08002B2CF9AE}" pid="3" name="Creator">
    <vt:lpwstr>Acrobat PDFMaker 19 for PowerPoint</vt:lpwstr>
  </property>
  <property fmtid="{D5CDD505-2E9C-101B-9397-08002B2CF9AE}" pid="4" name="LastSaved">
    <vt:filetime>2022-02-17T05:30:00Z</vt:filetime>
  </property>
  <property fmtid="{D5CDD505-2E9C-101B-9397-08002B2CF9AE}" pid="5" name="ICV">
    <vt:lpwstr>3700A8CD823F43D19D58F380258E3809</vt:lpwstr>
  </property>
  <property fmtid="{D5CDD505-2E9C-101B-9397-08002B2CF9AE}" pid="6" name="KSOProductBuildVer">
    <vt:lpwstr>1033-11.2.0.11042</vt:lpwstr>
  </property>
</Properties>
</file>