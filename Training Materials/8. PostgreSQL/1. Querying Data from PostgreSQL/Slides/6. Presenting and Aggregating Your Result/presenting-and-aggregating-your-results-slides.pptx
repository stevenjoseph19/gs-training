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theme/themeOverride8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4" r:id="rId19"/>
    <p:sldId id="275" r:id="rId20"/>
    <p:sldId id="276" r:id="rId21"/>
    <p:sldId id="277" r:id="rId22"/>
    <p:sldId id="279" r:id="rId23"/>
    <p:sldId id="278" r:id="rId24"/>
    <p:sldId id="280" r:id="rId25"/>
    <p:sldId id="281" r:id="rId26"/>
    <p:sldId id="282" r:id="rId27"/>
    <p:sldId id="273" r:id="rId28"/>
  </p:sldIdLst>
  <p:sldSz cx="12192000" cy="6858000"/>
  <p:notesSz cx="12192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954" y="7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979" y="0"/>
            <a:ext cx="52832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52832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979" y="6513910"/>
            <a:ext cx="52832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4635246" cy="6858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625503" y="1916187"/>
            <a:ext cx="8940993" cy="5740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bg1"/>
                </a:solidFill>
                <a:latin typeface="Verdana" panose="020B0604030504040204"/>
                <a:cs typeface="Verdana" panose="020B060403050404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bg1"/>
                </a:solidFill>
                <a:latin typeface="Verdana" panose="020B0604030504040204"/>
                <a:cs typeface="Verdana" panose="020B060403050404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bg1"/>
                </a:solidFill>
                <a:latin typeface="Verdana" panose="020B0604030504040204"/>
                <a:cs typeface="Verdana" panose="020B060403050404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bg object 17"/>
          <p:cNvSpPr/>
          <p:nvPr/>
        </p:nvSpPr>
        <p:spPr>
          <a:xfrm>
            <a:off x="0" y="0"/>
            <a:ext cx="6096000" cy="6858000"/>
          </a:xfrm>
          <a:custGeom>
            <a:avLst/>
            <a:gdLst/>
            <a:ahLst/>
            <a:cxnLst/>
            <a:rect l="l" t="t" r="r" b="b"/>
            <a:pathLst>
              <a:path w="6096000" h="6858000">
                <a:moveTo>
                  <a:pt x="6096000" y="0"/>
                </a:moveTo>
                <a:lnTo>
                  <a:pt x="0" y="0"/>
                </a:lnTo>
                <a:lnTo>
                  <a:pt x="0" y="6858000"/>
                </a:lnTo>
                <a:lnTo>
                  <a:pt x="6096000" y="6858000"/>
                </a:lnTo>
                <a:lnTo>
                  <a:pt x="6096000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226374" y="1916483"/>
            <a:ext cx="9739251" cy="5740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bg1"/>
                </a:solidFill>
                <a:latin typeface="Verdana" panose="020B0604030504040204"/>
                <a:cs typeface="Verdana" panose="020B060403050404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728431" y="2035810"/>
            <a:ext cx="4918709" cy="27863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1708" y="2977895"/>
            <a:ext cx="10768609" cy="38100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951383" y="2010699"/>
            <a:ext cx="9768205" cy="71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500" spc="175" dirty="0">
                <a:solidFill>
                  <a:srgbClr val="161616"/>
                </a:solidFill>
              </a:rPr>
              <a:t>P</a:t>
            </a:r>
            <a:r>
              <a:rPr sz="4500" spc="-315" dirty="0">
                <a:solidFill>
                  <a:srgbClr val="161616"/>
                </a:solidFill>
              </a:rPr>
              <a:t>r</a:t>
            </a:r>
            <a:r>
              <a:rPr sz="4500" spc="-155" dirty="0">
                <a:solidFill>
                  <a:srgbClr val="161616"/>
                </a:solidFill>
              </a:rPr>
              <a:t>esent</a:t>
            </a:r>
            <a:r>
              <a:rPr sz="4500" spc="-140" dirty="0">
                <a:solidFill>
                  <a:srgbClr val="161616"/>
                </a:solidFill>
              </a:rPr>
              <a:t>i</a:t>
            </a:r>
            <a:r>
              <a:rPr sz="4500" spc="-65" dirty="0">
                <a:solidFill>
                  <a:srgbClr val="161616"/>
                </a:solidFill>
              </a:rPr>
              <a:t>n</a:t>
            </a:r>
            <a:r>
              <a:rPr sz="4500" spc="50" dirty="0">
                <a:solidFill>
                  <a:srgbClr val="161616"/>
                </a:solidFill>
              </a:rPr>
              <a:t>g</a:t>
            </a:r>
            <a:r>
              <a:rPr sz="4500" spc="-440" dirty="0">
                <a:solidFill>
                  <a:srgbClr val="161616"/>
                </a:solidFill>
              </a:rPr>
              <a:t> </a:t>
            </a:r>
            <a:r>
              <a:rPr sz="4500" spc="-220" dirty="0">
                <a:solidFill>
                  <a:srgbClr val="161616"/>
                </a:solidFill>
              </a:rPr>
              <a:t>a</a:t>
            </a:r>
            <a:r>
              <a:rPr sz="4500" spc="-65" dirty="0">
                <a:solidFill>
                  <a:srgbClr val="161616"/>
                </a:solidFill>
              </a:rPr>
              <a:t>n</a:t>
            </a:r>
            <a:r>
              <a:rPr sz="4500" spc="50" dirty="0">
                <a:solidFill>
                  <a:srgbClr val="161616"/>
                </a:solidFill>
              </a:rPr>
              <a:t>d</a:t>
            </a:r>
            <a:r>
              <a:rPr sz="4500" spc="-455" dirty="0">
                <a:solidFill>
                  <a:srgbClr val="161616"/>
                </a:solidFill>
              </a:rPr>
              <a:t> </a:t>
            </a:r>
            <a:r>
              <a:rPr sz="4500" spc="250" dirty="0">
                <a:solidFill>
                  <a:srgbClr val="161616"/>
                </a:solidFill>
              </a:rPr>
              <a:t>A</a:t>
            </a:r>
            <a:r>
              <a:rPr sz="4500" spc="65" dirty="0">
                <a:solidFill>
                  <a:srgbClr val="161616"/>
                </a:solidFill>
              </a:rPr>
              <a:t>gg</a:t>
            </a:r>
            <a:r>
              <a:rPr sz="4500" spc="-315" dirty="0">
                <a:solidFill>
                  <a:srgbClr val="161616"/>
                </a:solidFill>
              </a:rPr>
              <a:t>r</a:t>
            </a:r>
            <a:r>
              <a:rPr sz="4500" spc="-95" dirty="0">
                <a:solidFill>
                  <a:srgbClr val="161616"/>
                </a:solidFill>
              </a:rPr>
              <a:t>eg</a:t>
            </a:r>
            <a:r>
              <a:rPr sz="4500" spc="-120" dirty="0">
                <a:solidFill>
                  <a:srgbClr val="161616"/>
                </a:solidFill>
              </a:rPr>
              <a:t>at</a:t>
            </a:r>
            <a:r>
              <a:rPr sz="4500" spc="-125" dirty="0">
                <a:solidFill>
                  <a:srgbClr val="161616"/>
                </a:solidFill>
              </a:rPr>
              <a:t>i</a:t>
            </a:r>
            <a:r>
              <a:rPr sz="4500" spc="-65" dirty="0">
                <a:solidFill>
                  <a:srgbClr val="161616"/>
                </a:solidFill>
              </a:rPr>
              <a:t>n</a:t>
            </a:r>
            <a:r>
              <a:rPr sz="4500" spc="50" dirty="0">
                <a:solidFill>
                  <a:srgbClr val="161616"/>
                </a:solidFill>
              </a:rPr>
              <a:t>g</a:t>
            </a:r>
            <a:r>
              <a:rPr sz="4500" spc="-440" dirty="0">
                <a:solidFill>
                  <a:srgbClr val="161616"/>
                </a:solidFill>
              </a:rPr>
              <a:t> </a:t>
            </a:r>
            <a:r>
              <a:rPr sz="4500" spc="-45" dirty="0">
                <a:solidFill>
                  <a:srgbClr val="161616"/>
                </a:solidFill>
              </a:rPr>
              <a:t>R</a:t>
            </a:r>
            <a:r>
              <a:rPr sz="4500" spc="-190" dirty="0">
                <a:solidFill>
                  <a:srgbClr val="161616"/>
                </a:solidFill>
              </a:rPr>
              <a:t>esu</a:t>
            </a:r>
            <a:r>
              <a:rPr sz="4500" spc="-155" dirty="0">
                <a:solidFill>
                  <a:srgbClr val="161616"/>
                </a:solidFill>
              </a:rPr>
              <a:t>l</a:t>
            </a:r>
            <a:r>
              <a:rPr sz="4500" spc="-145" dirty="0">
                <a:solidFill>
                  <a:srgbClr val="161616"/>
                </a:solidFill>
              </a:rPr>
              <a:t>ts</a:t>
            </a:r>
            <a:endParaRPr sz="450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/>
              <a:t>1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4635246" cy="68580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5230620" y="2818490"/>
            <a:ext cx="5025390" cy="9855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15" dirty="0">
                <a:solidFill>
                  <a:srgbClr val="EF5A28"/>
                </a:solidFill>
                <a:latin typeface="Verdana" panose="020B0604030504040204"/>
                <a:cs typeface="Verdana" panose="020B0604030504040204"/>
              </a:rPr>
              <a:t>Sorting</a:t>
            </a:r>
            <a:r>
              <a:rPr sz="2400" spc="-150" dirty="0">
                <a:solidFill>
                  <a:srgbClr val="EF5A28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400" spc="15" dirty="0">
                <a:solidFill>
                  <a:srgbClr val="EF5A28"/>
                </a:solidFill>
                <a:latin typeface="Verdana" panose="020B0604030504040204"/>
                <a:cs typeface="Verdana" panose="020B0604030504040204"/>
              </a:rPr>
              <a:t>query</a:t>
            </a:r>
            <a:r>
              <a:rPr sz="2400" spc="-145" dirty="0">
                <a:solidFill>
                  <a:srgbClr val="EF5A28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400" spc="-15" dirty="0">
                <a:solidFill>
                  <a:srgbClr val="EF5A28"/>
                </a:solidFill>
                <a:latin typeface="Verdana" panose="020B0604030504040204"/>
                <a:cs typeface="Verdana" panose="020B0604030504040204"/>
              </a:rPr>
              <a:t>results</a:t>
            </a:r>
            <a:endParaRPr sz="2400">
              <a:latin typeface="Verdana" panose="020B0604030504040204"/>
              <a:cs typeface="Verdana" panose="020B0604030504040204"/>
            </a:endParaRPr>
          </a:p>
          <a:p>
            <a:pPr marL="12700">
              <a:lnSpc>
                <a:spcPct val="100000"/>
              </a:lnSpc>
              <a:spcBef>
                <a:spcPts val="1800"/>
              </a:spcBef>
            </a:pPr>
            <a:r>
              <a:rPr sz="2400" spc="75" dirty="0">
                <a:solidFill>
                  <a:srgbClr val="EF5A28"/>
                </a:solidFill>
                <a:latin typeface="Verdana" panose="020B0604030504040204"/>
                <a:cs typeface="Verdana" panose="020B0604030504040204"/>
              </a:rPr>
              <a:t>Applying</a:t>
            </a:r>
            <a:r>
              <a:rPr sz="2400" spc="-130" dirty="0">
                <a:solidFill>
                  <a:srgbClr val="EF5A28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400" spc="35" dirty="0">
                <a:solidFill>
                  <a:srgbClr val="EF5A28"/>
                </a:solidFill>
                <a:latin typeface="Verdana" panose="020B0604030504040204"/>
                <a:cs typeface="Verdana" panose="020B0604030504040204"/>
              </a:rPr>
              <a:t>aggregate</a:t>
            </a:r>
            <a:r>
              <a:rPr sz="2400" spc="-130" dirty="0">
                <a:solidFill>
                  <a:srgbClr val="EF5A28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400" spc="25" dirty="0">
                <a:solidFill>
                  <a:srgbClr val="EF5A28"/>
                </a:solidFill>
                <a:latin typeface="Verdana" panose="020B0604030504040204"/>
                <a:cs typeface="Verdana" panose="020B0604030504040204"/>
              </a:rPr>
              <a:t>calculations</a:t>
            </a:r>
            <a:endParaRPr sz="2400">
              <a:latin typeface="Verdana" panose="020B0604030504040204"/>
              <a:cs typeface="Verdana" panose="020B0604030504040204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245422" y="1916483"/>
            <a:ext cx="214439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25" dirty="0"/>
              <a:t>O</a:t>
            </a:r>
            <a:r>
              <a:rPr spc="-150" dirty="0"/>
              <a:t>v</a:t>
            </a:r>
            <a:r>
              <a:rPr spc="-50" dirty="0"/>
              <a:t>e</a:t>
            </a:r>
            <a:r>
              <a:rPr spc="-90" dirty="0"/>
              <a:t>rv</a:t>
            </a:r>
            <a:r>
              <a:rPr spc="-55" dirty="0"/>
              <a:t>i</a:t>
            </a:r>
            <a:r>
              <a:rPr spc="-140" dirty="0"/>
              <a:t>e</a:t>
            </a:r>
            <a:r>
              <a:rPr spc="150" dirty="0"/>
              <a:t>w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73473" y="519066"/>
            <a:ext cx="455676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>
                <a:solidFill>
                  <a:srgbClr val="404040"/>
                </a:solidFill>
              </a:rPr>
              <a:t>Querying</a:t>
            </a:r>
            <a:r>
              <a:rPr spc="-240" dirty="0">
                <a:solidFill>
                  <a:srgbClr val="404040"/>
                </a:solidFill>
              </a:rPr>
              <a:t> </a:t>
            </a:r>
            <a:r>
              <a:rPr spc="-5" dirty="0">
                <a:solidFill>
                  <a:srgbClr val="404040"/>
                </a:solidFill>
              </a:rPr>
              <a:t>Residency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6210300" y="2176462"/>
          <a:ext cx="5257800" cy="3200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20" dirty="0">
                          <a:solidFill>
                            <a:srgbClr val="FFFFFF"/>
                          </a:solidFill>
                          <a:latin typeface="Verdana" panose="020B0604030504040204"/>
                          <a:cs typeface="Verdana" panose="020B0604030504040204"/>
                        </a:rPr>
                        <a:t>name</a:t>
                      </a:r>
                      <a:endParaRPr sz="2400">
                        <a:latin typeface="Verdana" panose="020B0604030504040204"/>
                        <a:cs typeface="Verdana" panose="020B0604030504040204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2A9FBB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40" dirty="0">
                          <a:solidFill>
                            <a:srgbClr val="FFFFFF"/>
                          </a:solidFill>
                          <a:latin typeface="Verdana" panose="020B0604030504040204"/>
                          <a:cs typeface="Verdana" panose="020B0604030504040204"/>
                        </a:rPr>
                        <a:t>state</a:t>
                      </a:r>
                      <a:endParaRPr sz="2400">
                        <a:latin typeface="Verdana" panose="020B0604030504040204"/>
                        <a:cs typeface="Verdana" panose="020B0604030504040204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2A9FB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40" dirty="0">
                          <a:solidFill>
                            <a:srgbClr val="404040"/>
                          </a:solidFill>
                          <a:latin typeface="Verdana" panose="020B0604030504040204"/>
                          <a:cs typeface="Verdana" panose="020B0604030504040204"/>
                        </a:rPr>
                        <a:t>Amy</a:t>
                      </a:r>
                      <a:endParaRPr sz="2400">
                        <a:latin typeface="Verdana" panose="020B0604030504040204"/>
                        <a:cs typeface="Verdana" panose="020B0604030504040204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FE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45" dirty="0">
                          <a:solidFill>
                            <a:srgbClr val="404040"/>
                          </a:solidFill>
                          <a:latin typeface="Verdana" panose="020B0604030504040204"/>
                          <a:cs typeface="Verdana" panose="020B0604030504040204"/>
                        </a:rPr>
                        <a:t>Oregon</a:t>
                      </a:r>
                      <a:endParaRPr sz="2400">
                        <a:latin typeface="Verdana" panose="020B0604030504040204"/>
                        <a:cs typeface="Verdana" panose="020B0604030504040204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F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25" dirty="0">
                          <a:solidFill>
                            <a:srgbClr val="404040"/>
                          </a:solidFill>
                          <a:latin typeface="Verdana" panose="020B0604030504040204"/>
                          <a:cs typeface="Verdana" panose="020B0604030504040204"/>
                        </a:rPr>
                        <a:t>Justin</a:t>
                      </a:r>
                      <a:endParaRPr sz="2400">
                        <a:latin typeface="Verdana" panose="020B0604030504040204"/>
                        <a:cs typeface="Verdana" panose="020B0604030504040204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FF4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45" dirty="0">
                          <a:solidFill>
                            <a:srgbClr val="404040"/>
                          </a:solidFill>
                          <a:latin typeface="Verdana" panose="020B0604030504040204"/>
                          <a:cs typeface="Verdana" panose="020B0604030504040204"/>
                        </a:rPr>
                        <a:t>Wyoming</a:t>
                      </a:r>
                      <a:endParaRPr sz="2400">
                        <a:latin typeface="Verdana" panose="020B0604030504040204"/>
                        <a:cs typeface="Verdana" panose="020B0604030504040204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F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20" dirty="0">
                          <a:solidFill>
                            <a:srgbClr val="404040"/>
                          </a:solidFill>
                          <a:latin typeface="Verdana" panose="020B0604030504040204"/>
                          <a:cs typeface="Verdana" panose="020B0604030504040204"/>
                        </a:rPr>
                        <a:t>Sheila</a:t>
                      </a:r>
                      <a:endParaRPr sz="2400">
                        <a:latin typeface="Verdana" panose="020B0604030504040204"/>
                        <a:cs typeface="Verdana" panose="020B0604030504040204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FE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85" dirty="0">
                          <a:solidFill>
                            <a:srgbClr val="404040"/>
                          </a:solidFill>
                          <a:latin typeface="Verdana" panose="020B0604030504040204"/>
                          <a:cs typeface="Verdana" panose="020B0604030504040204"/>
                        </a:rPr>
                        <a:t>Texas</a:t>
                      </a:r>
                      <a:endParaRPr sz="2400">
                        <a:latin typeface="Verdana" panose="020B0604030504040204"/>
                        <a:cs typeface="Verdana" panose="020B0604030504040204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F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70" dirty="0">
                          <a:solidFill>
                            <a:srgbClr val="404040"/>
                          </a:solidFill>
                          <a:latin typeface="Verdana" panose="020B0604030504040204"/>
                          <a:cs typeface="Verdana" panose="020B0604030504040204"/>
                        </a:rPr>
                        <a:t>Jim</a:t>
                      </a:r>
                      <a:endParaRPr sz="2400">
                        <a:latin typeface="Verdana" panose="020B0604030504040204"/>
                        <a:cs typeface="Verdana" panose="020B0604030504040204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FF4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85" dirty="0">
                          <a:solidFill>
                            <a:srgbClr val="404040"/>
                          </a:solidFill>
                          <a:latin typeface="Verdana" panose="020B0604030504040204"/>
                          <a:cs typeface="Verdana" panose="020B0604030504040204"/>
                        </a:rPr>
                        <a:t>Texas</a:t>
                      </a:r>
                      <a:endParaRPr sz="2400">
                        <a:latin typeface="Verdana" panose="020B0604030504040204"/>
                        <a:cs typeface="Verdana" panose="020B0604030504040204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F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25" dirty="0">
                          <a:solidFill>
                            <a:srgbClr val="404040"/>
                          </a:solidFill>
                          <a:latin typeface="Verdana" panose="020B0604030504040204"/>
                          <a:cs typeface="Verdana" panose="020B0604030504040204"/>
                        </a:rPr>
                        <a:t>Marsha</a:t>
                      </a:r>
                      <a:endParaRPr sz="2400">
                        <a:latin typeface="Verdana" panose="020B0604030504040204"/>
                        <a:cs typeface="Verdana" panose="020B0604030504040204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FE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45" dirty="0">
                          <a:solidFill>
                            <a:srgbClr val="404040"/>
                          </a:solidFill>
                          <a:latin typeface="Verdana" panose="020B0604030504040204"/>
                          <a:cs typeface="Verdana" panose="020B0604030504040204"/>
                        </a:rPr>
                        <a:t>Oregon</a:t>
                      </a:r>
                      <a:endParaRPr sz="2400">
                        <a:latin typeface="Verdana" panose="020B0604030504040204"/>
                        <a:cs typeface="Verdana" panose="020B0604030504040204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F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25" dirty="0">
                          <a:solidFill>
                            <a:srgbClr val="404040"/>
                          </a:solidFill>
                          <a:latin typeface="Verdana" panose="020B0604030504040204"/>
                          <a:cs typeface="Verdana" panose="020B0604030504040204"/>
                        </a:rPr>
                        <a:t>Richard</a:t>
                      </a:r>
                      <a:endParaRPr sz="2400">
                        <a:latin typeface="Verdana" panose="020B0604030504040204"/>
                        <a:cs typeface="Verdana" panose="020B0604030504040204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FF4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45" dirty="0">
                          <a:solidFill>
                            <a:srgbClr val="404040"/>
                          </a:solidFill>
                          <a:latin typeface="Verdana" panose="020B0604030504040204"/>
                          <a:cs typeface="Verdana" panose="020B0604030504040204"/>
                        </a:rPr>
                        <a:t>Arizona</a:t>
                      </a:r>
                      <a:endParaRPr sz="2400">
                        <a:latin typeface="Verdana" panose="020B0604030504040204"/>
                        <a:cs typeface="Verdana" panose="020B0604030504040204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F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706373" y="2183129"/>
            <a:ext cx="4645660" cy="3488690"/>
          </a:xfrm>
          <a:prstGeom prst="rect">
            <a:avLst/>
          </a:prstGeom>
          <a:solidFill>
            <a:srgbClr val="E4E4E4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7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250">
              <a:latin typeface="Times New Roman" panose="02020603050405020304"/>
              <a:cs typeface="Times New Roman" panose="02020603050405020304"/>
            </a:endParaRPr>
          </a:p>
          <a:p>
            <a:pPr marL="863600" marR="2252980" indent="-589280">
              <a:lnSpc>
                <a:spcPct val="163000"/>
              </a:lnSpc>
              <a:spcBef>
                <a:spcPts val="5"/>
              </a:spcBef>
            </a:pPr>
            <a:r>
              <a:rPr sz="2400" spc="-5" dirty="0">
                <a:solidFill>
                  <a:srgbClr val="404040"/>
                </a:solidFill>
                <a:latin typeface="Arial MT"/>
                <a:cs typeface="Arial MT"/>
              </a:rPr>
              <a:t>SELECT</a:t>
            </a:r>
            <a:r>
              <a:rPr sz="2400" spc="-13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Arial MT"/>
                <a:cs typeface="Arial MT"/>
              </a:rPr>
              <a:t>name, </a:t>
            </a:r>
            <a:r>
              <a:rPr sz="2400" spc="-65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Arial MT"/>
                <a:cs typeface="Arial MT"/>
              </a:rPr>
              <a:t>state</a:t>
            </a:r>
            <a:endParaRPr sz="2400">
              <a:latin typeface="Arial MT"/>
              <a:cs typeface="Arial MT"/>
            </a:endParaRPr>
          </a:p>
          <a:p>
            <a:pPr marL="442595">
              <a:lnSpc>
                <a:spcPct val="100000"/>
              </a:lnSpc>
              <a:spcBef>
                <a:spcPts val="1800"/>
              </a:spcBef>
            </a:pPr>
            <a:r>
              <a:rPr sz="2400" spc="-5" dirty="0">
                <a:solidFill>
                  <a:srgbClr val="404040"/>
                </a:solidFill>
                <a:latin typeface="Arial MT"/>
                <a:cs typeface="Arial MT"/>
              </a:rPr>
              <a:t>FROM</a:t>
            </a:r>
            <a:r>
              <a:rPr sz="2400" spc="-4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Arial MT"/>
                <a:cs typeface="Arial MT"/>
              </a:rPr>
              <a:t>residency;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6096000" cy="6858000"/>
          </a:xfrm>
          <a:custGeom>
            <a:avLst/>
            <a:gdLst/>
            <a:ahLst/>
            <a:cxnLst/>
            <a:rect l="l" t="t" r="r" b="b"/>
            <a:pathLst>
              <a:path w="6096000" h="6858000">
                <a:moveTo>
                  <a:pt x="6096000" y="0"/>
                </a:moveTo>
                <a:lnTo>
                  <a:pt x="0" y="0"/>
                </a:lnTo>
                <a:lnTo>
                  <a:pt x="0" y="6858000"/>
                </a:lnTo>
                <a:lnTo>
                  <a:pt x="6096000" y="6858000"/>
                </a:lnTo>
                <a:lnTo>
                  <a:pt x="6096000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98995" y="754380"/>
            <a:ext cx="2332990" cy="2052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5" dirty="0">
                <a:latin typeface="Arial MT"/>
                <a:cs typeface="Arial MT"/>
              </a:rPr>
              <a:t>SELECT</a:t>
            </a:r>
            <a:r>
              <a:rPr sz="2200" spc="-12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name,</a:t>
            </a:r>
            <a:endParaRPr sz="2200">
              <a:latin typeface="Arial MT"/>
              <a:cs typeface="Arial MT"/>
            </a:endParaRPr>
          </a:p>
          <a:p>
            <a:pPr marL="556895">
              <a:lnSpc>
                <a:spcPct val="100000"/>
              </a:lnSpc>
              <a:spcBef>
                <a:spcPts val="1800"/>
              </a:spcBef>
            </a:pPr>
            <a:r>
              <a:rPr sz="2200" dirty="0">
                <a:latin typeface="Arial MT"/>
                <a:cs typeface="Arial MT"/>
              </a:rPr>
              <a:t>state</a:t>
            </a:r>
            <a:endParaRPr sz="2200">
              <a:latin typeface="Arial MT"/>
              <a:cs typeface="Arial MT"/>
            </a:endParaRPr>
          </a:p>
          <a:p>
            <a:pPr marL="90170" marR="5080" indent="77470">
              <a:lnSpc>
                <a:spcPts val="4440"/>
              </a:lnSpc>
              <a:spcBef>
                <a:spcPts val="245"/>
              </a:spcBef>
            </a:pPr>
            <a:r>
              <a:rPr sz="2200" spc="-5" dirty="0">
                <a:latin typeface="Arial MT"/>
                <a:cs typeface="Arial MT"/>
              </a:rPr>
              <a:t>FROM residency </a:t>
            </a:r>
            <a:r>
              <a:rPr sz="2200" spc="-600" dirty="0"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9BC750"/>
                </a:solidFill>
                <a:latin typeface="Arial MT"/>
                <a:cs typeface="Arial MT"/>
              </a:rPr>
              <a:t>ORDER</a:t>
            </a:r>
            <a:r>
              <a:rPr sz="2200" spc="-50" dirty="0">
                <a:solidFill>
                  <a:srgbClr val="9BC75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9BC750"/>
                </a:solidFill>
                <a:latin typeface="Arial MT"/>
                <a:cs typeface="Arial MT"/>
              </a:rPr>
              <a:t>BY</a:t>
            </a:r>
            <a:r>
              <a:rPr sz="2200" spc="-85" dirty="0">
                <a:solidFill>
                  <a:srgbClr val="9BC750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name</a:t>
            </a:r>
            <a:endParaRPr sz="22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34556" y="774954"/>
            <a:ext cx="752093" cy="68198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7761795" y="810296"/>
            <a:ext cx="24758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30" dirty="0">
                <a:solidFill>
                  <a:srgbClr val="404040"/>
                </a:solidFill>
                <a:latin typeface="Verdana" panose="020B0604030504040204"/>
                <a:cs typeface="Verdana" panose="020B0604030504040204"/>
              </a:rPr>
              <a:t>Residency</a:t>
            </a:r>
            <a:r>
              <a:rPr sz="2400" spc="-160" dirty="0">
                <a:solidFill>
                  <a:srgbClr val="404040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400" spc="30" dirty="0">
                <a:solidFill>
                  <a:srgbClr val="404040"/>
                </a:solidFill>
                <a:latin typeface="Verdana" panose="020B0604030504040204"/>
                <a:cs typeface="Verdana" panose="020B0604030504040204"/>
              </a:rPr>
              <a:t>table</a:t>
            </a:r>
            <a:endParaRPr sz="2400">
              <a:latin typeface="Verdana" panose="020B0604030504040204"/>
              <a:cs typeface="Verdana" panose="020B0604030504040204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6728431" y="2035810"/>
          <a:ext cx="4899660" cy="27736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498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9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623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spc="25" dirty="0">
                          <a:solidFill>
                            <a:srgbClr val="FFFFFF"/>
                          </a:solidFill>
                          <a:latin typeface="Verdana" panose="020B0604030504040204"/>
                          <a:cs typeface="Verdana" panose="020B0604030504040204"/>
                        </a:rPr>
                        <a:t>name</a:t>
                      </a:r>
                      <a:endParaRPr sz="2000">
                        <a:latin typeface="Verdana" panose="020B0604030504040204"/>
                        <a:cs typeface="Verdana" panose="020B0604030504040204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2A9FBB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spc="35" dirty="0">
                          <a:solidFill>
                            <a:srgbClr val="FFFFFF"/>
                          </a:solidFill>
                          <a:latin typeface="Verdana" panose="020B0604030504040204"/>
                          <a:cs typeface="Verdana" panose="020B0604030504040204"/>
                        </a:rPr>
                        <a:t>state</a:t>
                      </a:r>
                      <a:endParaRPr sz="2000">
                        <a:latin typeface="Verdana" panose="020B0604030504040204"/>
                        <a:cs typeface="Verdana" panose="020B0604030504040204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2A9FB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3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spc="30" dirty="0">
                          <a:solidFill>
                            <a:srgbClr val="404040"/>
                          </a:solidFill>
                          <a:latin typeface="Verdana" panose="020B0604030504040204"/>
                          <a:cs typeface="Verdana" panose="020B0604030504040204"/>
                        </a:rPr>
                        <a:t>Amy</a:t>
                      </a:r>
                      <a:endParaRPr sz="2000">
                        <a:latin typeface="Verdana" panose="020B0604030504040204"/>
                        <a:cs typeface="Verdana" panose="020B0604030504040204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FE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spc="35" dirty="0">
                          <a:solidFill>
                            <a:srgbClr val="404040"/>
                          </a:solidFill>
                          <a:latin typeface="Verdana" panose="020B0604030504040204"/>
                          <a:cs typeface="Verdana" panose="020B0604030504040204"/>
                        </a:rPr>
                        <a:t>Oregon</a:t>
                      </a:r>
                      <a:endParaRPr sz="2000">
                        <a:latin typeface="Verdana" panose="020B0604030504040204"/>
                        <a:cs typeface="Verdana" panose="020B0604030504040204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F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3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spc="15" dirty="0">
                          <a:solidFill>
                            <a:srgbClr val="404040"/>
                          </a:solidFill>
                          <a:latin typeface="Verdana" panose="020B0604030504040204"/>
                          <a:cs typeface="Verdana" panose="020B0604030504040204"/>
                        </a:rPr>
                        <a:t>Justin</a:t>
                      </a:r>
                      <a:endParaRPr sz="2000">
                        <a:latin typeface="Verdana" panose="020B0604030504040204"/>
                        <a:cs typeface="Verdana" panose="020B0604030504040204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FF4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spc="30" dirty="0">
                          <a:solidFill>
                            <a:srgbClr val="404040"/>
                          </a:solidFill>
                          <a:latin typeface="Verdana" panose="020B0604030504040204"/>
                          <a:cs typeface="Verdana" panose="020B0604030504040204"/>
                        </a:rPr>
                        <a:t>Wyoming</a:t>
                      </a:r>
                      <a:endParaRPr sz="2000">
                        <a:latin typeface="Verdana" panose="020B0604030504040204"/>
                        <a:cs typeface="Verdana" panose="020B0604030504040204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F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spc="-20" dirty="0">
                          <a:solidFill>
                            <a:srgbClr val="404040"/>
                          </a:solidFill>
                          <a:latin typeface="Verdana" panose="020B0604030504040204"/>
                          <a:cs typeface="Verdana" panose="020B0604030504040204"/>
                        </a:rPr>
                        <a:t>Sheila</a:t>
                      </a:r>
                      <a:endParaRPr sz="2000">
                        <a:latin typeface="Verdana" panose="020B0604030504040204"/>
                        <a:cs typeface="Verdana" panose="020B0604030504040204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FE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spc="-75" dirty="0">
                          <a:solidFill>
                            <a:srgbClr val="404040"/>
                          </a:solidFill>
                          <a:latin typeface="Verdana" panose="020B0604030504040204"/>
                          <a:cs typeface="Verdana" panose="020B0604030504040204"/>
                        </a:rPr>
                        <a:t>Texas</a:t>
                      </a:r>
                      <a:endParaRPr sz="2000">
                        <a:latin typeface="Verdana" panose="020B0604030504040204"/>
                        <a:cs typeface="Verdana" panose="020B0604030504040204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F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spc="55" dirty="0">
                          <a:solidFill>
                            <a:srgbClr val="404040"/>
                          </a:solidFill>
                          <a:latin typeface="Verdana" panose="020B0604030504040204"/>
                          <a:cs typeface="Verdana" panose="020B0604030504040204"/>
                        </a:rPr>
                        <a:t>Jim</a:t>
                      </a:r>
                      <a:endParaRPr sz="2000">
                        <a:latin typeface="Verdana" panose="020B0604030504040204"/>
                        <a:cs typeface="Verdana" panose="020B0604030504040204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FF4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spc="-75" dirty="0">
                          <a:solidFill>
                            <a:srgbClr val="404040"/>
                          </a:solidFill>
                          <a:latin typeface="Verdana" panose="020B0604030504040204"/>
                          <a:cs typeface="Verdana" panose="020B0604030504040204"/>
                        </a:rPr>
                        <a:t>Texas</a:t>
                      </a:r>
                      <a:endParaRPr sz="2000">
                        <a:latin typeface="Verdana" panose="020B0604030504040204"/>
                        <a:cs typeface="Verdana" panose="020B0604030504040204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F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23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spc="-25" dirty="0">
                          <a:solidFill>
                            <a:srgbClr val="404040"/>
                          </a:solidFill>
                          <a:latin typeface="Verdana" panose="020B0604030504040204"/>
                          <a:cs typeface="Verdana" panose="020B0604030504040204"/>
                        </a:rPr>
                        <a:t>Marsha</a:t>
                      </a:r>
                      <a:endParaRPr sz="2000">
                        <a:latin typeface="Verdana" panose="020B0604030504040204"/>
                        <a:cs typeface="Verdana" panose="020B0604030504040204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FE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spc="40" dirty="0">
                          <a:solidFill>
                            <a:srgbClr val="404040"/>
                          </a:solidFill>
                          <a:latin typeface="Verdana" panose="020B0604030504040204"/>
                          <a:cs typeface="Verdana" panose="020B0604030504040204"/>
                        </a:rPr>
                        <a:t>Oregon</a:t>
                      </a:r>
                      <a:endParaRPr sz="2000">
                        <a:latin typeface="Verdana" panose="020B0604030504040204"/>
                        <a:cs typeface="Verdana" panose="020B0604030504040204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F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623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000" spc="15" dirty="0">
                          <a:solidFill>
                            <a:srgbClr val="404040"/>
                          </a:solidFill>
                          <a:latin typeface="Verdana" panose="020B0604030504040204"/>
                          <a:cs typeface="Verdana" panose="020B0604030504040204"/>
                        </a:rPr>
                        <a:t>Richard</a:t>
                      </a:r>
                      <a:endParaRPr sz="2000">
                        <a:latin typeface="Verdana" panose="020B0604030504040204"/>
                        <a:cs typeface="Verdana" panose="020B0604030504040204"/>
                      </a:endParaRPr>
                    </a:p>
                  </a:txBody>
                  <a:tcPr marL="0" marR="0" marT="3619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FF4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000" spc="35" dirty="0">
                          <a:solidFill>
                            <a:srgbClr val="404040"/>
                          </a:solidFill>
                          <a:latin typeface="Verdana" panose="020B0604030504040204"/>
                          <a:cs typeface="Verdana" panose="020B0604030504040204"/>
                        </a:rPr>
                        <a:t>Arizona</a:t>
                      </a:r>
                      <a:endParaRPr sz="2000">
                        <a:latin typeface="Verdana" panose="020B0604030504040204"/>
                        <a:cs typeface="Verdana" panose="020B0604030504040204"/>
                      </a:endParaRPr>
                    </a:p>
                  </a:txBody>
                  <a:tcPr marL="0" marR="0" marT="3619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F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705344" y="3567239"/>
          <a:ext cx="4899660" cy="277367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498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9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spc="25" dirty="0">
                          <a:solidFill>
                            <a:srgbClr val="FFFFFF"/>
                          </a:solidFill>
                          <a:latin typeface="Verdana" panose="020B0604030504040204"/>
                          <a:cs typeface="Verdana" panose="020B0604030504040204"/>
                        </a:rPr>
                        <a:t>name</a:t>
                      </a:r>
                      <a:endParaRPr sz="2000">
                        <a:latin typeface="Verdana" panose="020B0604030504040204"/>
                        <a:cs typeface="Verdana" panose="020B0604030504040204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9BC750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spc="35" dirty="0">
                          <a:solidFill>
                            <a:srgbClr val="FFFFFF"/>
                          </a:solidFill>
                          <a:latin typeface="Verdana" panose="020B0604030504040204"/>
                          <a:cs typeface="Verdana" panose="020B0604030504040204"/>
                        </a:rPr>
                        <a:t>state</a:t>
                      </a:r>
                      <a:endParaRPr sz="2000">
                        <a:latin typeface="Verdana" panose="020B0604030504040204"/>
                        <a:cs typeface="Verdana" panose="020B0604030504040204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9BC7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3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spc="30" dirty="0">
                          <a:solidFill>
                            <a:srgbClr val="404040"/>
                          </a:solidFill>
                          <a:latin typeface="Verdana" panose="020B0604030504040204"/>
                          <a:cs typeface="Verdana" panose="020B0604030504040204"/>
                        </a:rPr>
                        <a:t>Amy</a:t>
                      </a:r>
                      <a:endParaRPr sz="2000">
                        <a:latin typeface="Verdana" panose="020B0604030504040204"/>
                        <a:cs typeface="Verdana" panose="020B0604030504040204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EEBD0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spc="35" dirty="0">
                          <a:solidFill>
                            <a:srgbClr val="404040"/>
                          </a:solidFill>
                          <a:latin typeface="Verdana" panose="020B0604030504040204"/>
                          <a:cs typeface="Verdana" panose="020B0604030504040204"/>
                        </a:rPr>
                        <a:t>Oregon</a:t>
                      </a:r>
                      <a:endParaRPr sz="2000">
                        <a:latin typeface="Verdana" panose="020B0604030504040204"/>
                        <a:cs typeface="Verdana" panose="020B0604030504040204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EEB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spc="55" dirty="0">
                          <a:solidFill>
                            <a:srgbClr val="404040"/>
                          </a:solidFill>
                          <a:latin typeface="Verdana" panose="020B0604030504040204"/>
                          <a:cs typeface="Verdana" panose="020B0604030504040204"/>
                        </a:rPr>
                        <a:t>Jim</a:t>
                      </a:r>
                      <a:endParaRPr sz="2000">
                        <a:latin typeface="Verdana" panose="020B0604030504040204"/>
                        <a:cs typeface="Verdana" panose="020B0604030504040204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F5E9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spc="-75" dirty="0">
                          <a:solidFill>
                            <a:srgbClr val="404040"/>
                          </a:solidFill>
                          <a:latin typeface="Verdana" panose="020B0604030504040204"/>
                          <a:cs typeface="Verdana" panose="020B0604030504040204"/>
                        </a:rPr>
                        <a:t>Texas</a:t>
                      </a:r>
                      <a:endParaRPr sz="2000">
                        <a:latin typeface="Verdana" panose="020B0604030504040204"/>
                        <a:cs typeface="Verdana" panose="020B0604030504040204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39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spc="15" dirty="0">
                          <a:solidFill>
                            <a:srgbClr val="404040"/>
                          </a:solidFill>
                          <a:latin typeface="Verdana" panose="020B0604030504040204"/>
                          <a:cs typeface="Verdana" panose="020B0604030504040204"/>
                        </a:rPr>
                        <a:t>Justin</a:t>
                      </a:r>
                      <a:endParaRPr sz="2000">
                        <a:latin typeface="Verdana" panose="020B0604030504040204"/>
                        <a:cs typeface="Verdana" panose="020B0604030504040204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EEBD0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spc="30" dirty="0">
                          <a:solidFill>
                            <a:srgbClr val="404040"/>
                          </a:solidFill>
                          <a:latin typeface="Verdana" panose="020B0604030504040204"/>
                          <a:cs typeface="Verdana" panose="020B0604030504040204"/>
                        </a:rPr>
                        <a:t>Wyoming</a:t>
                      </a:r>
                      <a:endParaRPr sz="2000">
                        <a:latin typeface="Verdana" panose="020B0604030504040204"/>
                        <a:cs typeface="Verdana" panose="020B0604030504040204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EEB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spc="-25" dirty="0">
                          <a:solidFill>
                            <a:srgbClr val="404040"/>
                          </a:solidFill>
                          <a:latin typeface="Verdana" panose="020B0604030504040204"/>
                          <a:cs typeface="Verdana" panose="020B0604030504040204"/>
                        </a:rPr>
                        <a:t>Marsha</a:t>
                      </a:r>
                      <a:endParaRPr sz="2000">
                        <a:latin typeface="Verdana" panose="020B0604030504040204"/>
                        <a:cs typeface="Verdana" panose="020B0604030504040204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F5E9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spc="35" dirty="0">
                          <a:solidFill>
                            <a:srgbClr val="404040"/>
                          </a:solidFill>
                          <a:latin typeface="Verdana" panose="020B0604030504040204"/>
                          <a:cs typeface="Verdana" panose="020B0604030504040204"/>
                        </a:rPr>
                        <a:t>Oregon</a:t>
                      </a:r>
                      <a:endParaRPr sz="2000">
                        <a:latin typeface="Verdana" panose="020B0604030504040204"/>
                        <a:cs typeface="Verdana" panose="020B0604030504040204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239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spc="15" dirty="0">
                          <a:solidFill>
                            <a:srgbClr val="404040"/>
                          </a:solidFill>
                          <a:latin typeface="Verdana" panose="020B0604030504040204"/>
                          <a:cs typeface="Verdana" panose="020B0604030504040204"/>
                        </a:rPr>
                        <a:t>Richard</a:t>
                      </a:r>
                      <a:endParaRPr sz="2000">
                        <a:latin typeface="Verdana" panose="020B0604030504040204"/>
                        <a:cs typeface="Verdana" panose="020B0604030504040204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EEBD0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spc="35" dirty="0">
                          <a:solidFill>
                            <a:srgbClr val="404040"/>
                          </a:solidFill>
                          <a:latin typeface="Verdana" panose="020B0604030504040204"/>
                          <a:cs typeface="Verdana" panose="020B0604030504040204"/>
                        </a:rPr>
                        <a:t>Arizona</a:t>
                      </a:r>
                      <a:endParaRPr sz="2000">
                        <a:latin typeface="Verdana" panose="020B0604030504040204"/>
                        <a:cs typeface="Verdana" panose="020B0604030504040204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EEB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000" spc="-20" dirty="0">
                          <a:solidFill>
                            <a:srgbClr val="404040"/>
                          </a:solidFill>
                          <a:latin typeface="Verdana" panose="020B0604030504040204"/>
                          <a:cs typeface="Verdana" panose="020B0604030504040204"/>
                        </a:rPr>
                        <a:t>Sheila</a:t>
                      </a:r>
                      <a:endParaRPr sz="2000">
                        <a:latin typeface="Verdana" panose="020B0604030504040204"/>
                        <a:cs typeface="Verdana" panose="020B0604030504040204"/>
                      </a:endParaRPr>
                    </a:p>
                  </a:txBody>
                  <a:tcPr marL="0" marR="0" marT="3619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F5E9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000" spc="-75" dirty="0">
                          <a:solidFill>
                            <a:srgbClr val="404040"/>
                          </a:solidFill>
                          <a:latin typeface="Verdana" panose="020B0604030504040204"/>
                          <a:cs typeface="Verdana" panose="020B0604030504040204"/>
                        </a:rPr>
                        <a:t>Texas</a:t>
                      </a:r>
                      <a:endParaRPr sz="2000">
                        <a:latin typeface="Verdana" panose="020B0604030504040204"/>
                        <a:cs typeface="Verdana" panose="020B0604030504040204"/>
                      </a:endParaRPr>
                    </a:p>
                  </a:txBody>
                  <a:tcPr marL="0" marR="0" marT="3619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Slide Number Placeholder 7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/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103128" y="2574163"/>
            <a:ext cx="4292600" cy="939800"/>
            <a:chOff x="1103128" y="2574163"/>
            <a:chExt cx="4292600" cy="939800"/>
          </a:xfrm>
        </p:grpSpPr>
        <p:sp>
          <p:nvSpPr>
            <p:cNvPr id="3" name="object 3"/>
            <p:cNvSpPr/>
            <p:nvPr/>
          </p:nvSpPr>
          <p:spPr>
            <a:xfrm>
              <a:off x="1115822" y="2586862"/>
              <a:ext cx="4267200" cy="457200"/>
            </a:xfrm>
            <a:custGeom>
              <a:avLst/>
              <a:gdLst/>
              <a:ahLst/>
              <a:cxnLst/>
              <a:rect l="l" t="t" r="r" b="b"/>
              <a:pathLst>
                <a:path w="4267200" h="457200">
                  <a:moveTo>
                    <a:pt x="4267200" y="0"/>
                  </a:moveTo>
                  <a:lnTo>
                    <a:pt x="2844800" y="0"/>
                  </a:lnTo>
                  <a:lnTo>
                    <a:pt x="1422400" y="0"/>
                  </a:lnTo>
                  <a:lnTo>
                    <a:pt x="0" y="0"/>
                  </a:lnTo>
                  <a:lnTo>
                    <a:pt x="0" y="381127"/>
                  </a:lnTo>
                  <a:lnTo>
                    <a:pt x="0" y="457200"/>
                  </a:lnTo>
                  <a:lnTo>
                    <a:pt x="1422400" y="457200"/>
                  </a:lnTo>
                  <a:lnTo>
                    <a:pt x="2844800" y="457200"/>
                  </a:lnTo>
                  <a:lnTo>
                    <a:pt x="4267200" y="457200"/>
                  </a:lnTo>
                  <a:lnTo>
                    <a:pt x="4267200" y="0"/>
                  </a:lnTo>
                  <a:close/>
                </a:path>
              </a:pathLst>
            </a:custGeom>
            <a:solidFill>
              <a:srgbClr val="F8D1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115822" y="3044062"/>
              <a:ext cx="4267200" cy="457200"/>
            </a:xfrm>
            <a:custGeom>
              <a:avLst/>
              <a:gdLst/>
              <a:ahLst/>
              <a:cxnLst/>
              <a:rect l="l" t="t" r="r" b="b"/>
              <a:pathLst>
                <a:path w="4267200" h="457200">
                  <a:moveTo>
                    <a:pt x="4267200" y="0"/>
                  </a:moveTo>
                  <a:lnTo>
                    <a:pt x="2844800" y="0"/>
                  </a:lnTo>
                  <a:lnTo>
                    <a:pt x="1422400" y="0"/>
                  </a:lnTo>
                  <a:lnTo>
                    <a:pt x="0" y="0"/>
                  </a:lnTo>
                  <a:lnTo>
                    <a:pt x="0" y="76327"/>
                  </a:lnTo>
                  <a:lnTo>
                    <a:pt x="0" y="457200"/>
                  </a:lnTo>
                  <a:lnTo>
                    <a:pt x="1422400" y="457200"/>
                  </a:lnTo>
                  <a:lnTo>
                    <a:pt x="2844800" y="457200"/>
                  </a:lnTo>
                  <a:lnTo>
                    <a:pt x="4267200" y="457200"/>
                  </a:lnTo>
                  <a:lnTo>
                    <a:pt x="4267200" y="0"/>
                  </a:lnTo>
                  <a:close/>
                </a:path>
              </a:pathLst>
            </a:custGeom>
            <a:solidFill>
              <a:srgbClr val="FBEA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538227" y="2580513"/>
              <a:ext cx="0" cy="927100"/>
            </a:xfrm>
            <a:custGeom>
              <a:avLst/>
              <a:gdLst/>
              <a:ahLst/>
              <a:cxnLst/>
              <a:rect l="l" t="t" r="r" b="b"/>
              <a:pathLst>
                <a:path h="927100">
                  <a:moveTo>
                    <a:pt x="0" y="539876"/>
                  </a:moveTo>
                  <a:lnTo>
                    <a:pt x="0" y="927100"/>
                  </a:lnTo>
                </a:path>
                <a:path h="927100">
                  <a:moveTo>
                    <a:pt x="0" y="0"/>
                  </a:moveTo>
                  <a:lnTo>
                    <a:pt x="0" y="387476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960626" y="2580513"/>
              <a:ext cx="0" cy="927100"/>
            </a:xfrm>
            <a:custGeom>
              <a:avLst/>
              <a:gdLst/>
              <a:ahLst/>
              <a:cxnLst/>
              <a:rect l="l" t="t" r="r" b="b"/>
              <a:pathLst>
                <a:path h="927100">
                  <a:moveTo>
                    <a:pt x="0" y="0"/>
                  </a:moveTo>
                  <a:lnTo>
                    <a:pt x="0" y="92710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632873" y="3044063"/>
              <a:ext cx="1757045" cy="0"/>
            </a:xfrm>
            <a:custGeom>
              <a:avLst/>
              <a:gdLst/>
              <a:ahLst/>
              <a:cxnLst/>
              <a:rect l="l" t="t" r="r" b="b"/>
              <a:pathLst>
                <a:path w="1757045">
                  <a:moveTo>
                    <a:pt x="0" y="0"/>
                  </a:moveTo>
                  <a:lnTo>
                    <a:pt x="1756505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115828" y="2580513"/>
              <a:ext cx="0" cy="927100"/>
            </a:xfrm>
            <a:custGeom>
              <a:avLst/>
              <a:gdLst/>
              <a:ahLst/>
              <a:cxnLst/>
              <a:rect l="l" t="t" r="r" b="b"/>
              <a:pathLst>
                <a:path h="927100">
                  <a:moveTo>
                    <a:pt x="0" y="0"/>
                  </a:moveTo>
                  <a:lnTo>
                    <a:pt x="0" y="92710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383028" y="2580513"/>
              <a:ext cx="0" cy="927100"/>
            </a:xfrm>
            <a:custGeom>
              <a:avLst/>
              <a:gdLst/>
              <a:ahLst/>
              <a:cxnLst/>
              <a:rect l="l" t="t" r="r" b="b"/>
              <a:pathLst>
                <a:path h="927100">
                  <a:moveTo>
                    <a:pt x="0" y="0"/>
                  </a:moveTo>
                  <a:lnTo>
                    <a:pt x="0" y="92710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109478" y="2586863"/>
              <a:ext cx="4279900" cy="0"/>
            </a:xfrm>
            <a:custGeom>
              <a:avLst/>
              <a:gdLst/>
              <a:ahLst/>
              <a:cxnLst/>
              <a:rect l="l" t="t" r="r" b="b"/>
              <a:pathLst>
                <a:path w="4279900">
                  <a:moveTo>
                    <a:pt x="0" y="0"/>
                  </a:moveTo>
                  <a:lnTo>
                    <a:pt x="4279900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109478" y="3501263"/>
              <a:ext cx="4279900" cy="0"/>
            </a:xfrm>
            <a:custGeom>
              <a:avLst/>
              <a:gdLst/>
              <a:ahLst/>
              <a:cxnLst/>
              <a:rect l="l" t="t" r="r" b="b"/>
              <a:pathLst>
                <a:path w="4279900">
                  <a:moveTo>
                    <a:pt x="0" y="0"/>
                  </a:moveTo>
                  <a:lnTo>
                    <a:pt x="4279900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115828" y="2586863"/>
            <a:ext cx="1422400" cy="457200"/>
          </a:xfrm>
          <a:prstGeom prst="rect">
            <a:avLst/>
          </a:prstGeom>
          <a:ln w="12700">
            <a:solidFill>
              <a:srgbClr val="FFFFFF"/>
            </a:solidFill>
          </a:ln>
        </p:spPr>
        <p:txBody>
          <a:bodyPr vert="horz" wrap="square" lIns="0" tIns="3302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260"/>
              </a:spcBef>
            </a:pPr>
            <a:r>
              <a:rPr sz="2400" spc="254" dirty="0">
                <a:solidFill>
                  <a:srgbClr val="404040"/>
                </a:solidFill>
                <a:latin typeface="Verdana" panose="020B0604030504040204"/>
                <a:cs typeface="Verdana" panose="020B0604030504040204"/>
              </a:rPr>
              <a:t>A</a:t>
            </a:r>
            <a:endParaRPr sz="2400">
              <a:latin typeface="Verdana" panose="020B0604030504040204"/>
              <a:cs typeface="Verdana" panose="020B060403050404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960627" y="2586863"/>
            <a:ext cx="1422400" cy="457200"/>
          </a:xfrm>
          <a:prstGeom prst="rect">
            <a:avLst/>
          </a:prstGeom>
          <a:ln w="12700">
            <a:solidFill>
              <a:srgbClr val="FFFFFF"/>
            </a:solidFill>
          </a:ln>
        </p:spPr>
        <p:txBody>
          <a:bodyPr vert="horz" wrap="square" lIns="0" tIns="33020" rIns="0" bIns="0" rtlCol="0">
            <a:spAutoFit/>
          </a:bodyPr>
          <a:lstStyle/>
          <a:p>
            <a:pPr marR="85090" algn="r">
              <a:lnSpc>
                <a:spcPct val="100000"/>
              </a:lnSpc>
              <a:spcBef>
                <a:spcPts val="260"/>
              </a:spcBef>
            </a:pPr>
            <a:r>
              <a:rPr sz="2400" spc="40" dirty="0">
                <a:solidFill>
                  <a:srgbClr val="404040"/>
                </a:solidFill>
                <a:latin typeface="Verdana" panose="020B0604030504040204"/>
                <a:cs typeface="Verdana" panose="020B0604030504040204"/>
              </a:rPr>
              <a:t>Z</a:t>
            </a:r>
            <a:endParaRPr sz="2400">
              <a:latin typeface="Verdana" panose="020B0604030504040204"/>
              <a:cs typeface="Verdana" panose="020B060403050404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115828" y="3044063"/>
            <a:ext cx="1422400" cy="457200"/>
          </a:xfrm>
          <a:prstGeom prst="rect">
            <a:avLst/>
          </a:prstGeom>
          <a:ln w="12700">
            <a:solidFill>
              <a:srgbClr val="FFFFFF"/>
            </a:solidFill>
          </a:ln>
        </p:spPr>
        <p:txBody>
          <a:bodyPr vert="horz" wrap="square" lIns="0" tIns="3302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260"/>
              </a:spcBef>
            </a:pPr>
            <a:r>
              <a:rPr sz="2400" spc="-580" dirty="0">
                <a:solidFill>
                  <a:srgbClr val="404040"/>
                </a:solidFill>
                <a:latin typeface="Verdana" panose="020B0604030504040204"/>
                <a:cs typeface="Verdana" panose="020B0604030504040204"/>
              </a:rPr>
              <a:t>1</a:t>
            </a:r>
            <a:endParaRPr sz="2400">
              <a:latin typeface="Verdana" panose="020B0604030504040204"/>
              <a:cs typeface="Verdana" panose="020B060403050404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960627" y="3044063"/>
            <a:ext cx="1422400" cy="457200"/>
          </a:xfrm>
          <a:prstGeom prst="rect">
            <a:avLst/>
          </a:prstGeom>
          <a:ln w="12700">
            <a:solidFill>
              <a:srgbClr val="FFFFFF"/>
            </a:solidFill>
          </a:ln>
        </p:spPr>
        <p:txBody>
          <a:bodyPr vert="horz" wrap="square" lIns="0" tIns="33020" rIns="0" bIns="0" rtlCol="0">
            <a:spAutoFit/>
          </a:bodyPr>
          <a:lstStyle/>
          <a:p>
            <a:pPr marL="767080">
              <a:lnSpc>
                <a:spcPct val="100000"/>
              </a:lnSpc>
              <a:spcBef>
                <a:spcPts val="260"/>
              </a:spcBef>
            </a:pPr>
            <a:r>
              <a:rPr sz="2400" spc="-55" dirty="0">
                <a:solidFill>
                  <a:srgbClr val="404040"/>
                </a:solidFill>
                <a:latin typeface="Verdana" panose="020B0604030504040204"/>
                <a:cs typeface="Verdana" panose="020B0604030504040204"/>
              </a:rPr>
              <a:t>100</a:t>
            </a:r>
            <a:endParaRPr sz="2400">
              <a:latin typeface="Verdana" panose="020B0604030504040204"/>
              <a:cs typeface="Verdana" panose="020B06040305040402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052945" y="4469365"/>
            <a:ext cx="2400935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513715">
              <a:lnSpc>
                <a:spcPct val="125000"/>
              </a:lnSpc>
              <a:spcBef>
                <a:spcPts val="100"/>
              </a:spcBef>
            </a:pPr>
            <a:r>
              <a:rPr sz="2000" spc="40" dirty="0">
                <a:solidFill>
                  <a:srgbClr val="EF5A28"/>
                </a:solidFill>
                <a:latin typeface="Verdana" panose="020B0604030504040204"/>
                <a:cs typeface="Verdana" panose="020B0604030504040204"/>
              </a:rPr>
              <a:t>Ascending </a:t>
            </a:r>
            <a:r>
              <a:rPr sz="2000" spc="45" dirty="0">
                <a:solidFill>
                  <a:srgbClr val="EF5A28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000" spc="-25" dirty="0">
                <a:solidFill>
                  <a:srgbClr val="404040"/>
                </a:solidFill>
                <a:latin typeface="Verdana" panose="020B0604030504040204"/>
                <a:cs typeface="Verdana" panose="020B0604030504040204"/>
              </a:rPr>
              <a:t>Smallest</a:t>
            </a:r>
            <a:r>
              <a:rPr sz="2000" spc="-100" dirty="0">
                <a:solidFill>
                  <a:srgbClr val="404040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000" spc="50" dirty="0">
                <a:solidFill>
                  <a:srgbClr val="404040"/>
                </a:solidFill>
                <a:latin typeface="Verdana" panose="020B0604030504040204"/>
                <a:cs typeface="Verdana" panose="020B0604030504040204"/>
              </a:rPr>
              <a:t>to</a:t>
            </a:r>
            <a:r>
              <a:rPr sz="2000" spc="-130" dirty="0">
                <a:solidFill>
                  <a:srgbClr val="404040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Verdana" panose="020B0604030504040204"/>
                <a:cs typeface="Verdana" panose="020B0604030504040204"/>
              </a:rPr>
              <a:t>largest</a:t>
            </a:r>
            <a:endParaRPr sz="2000">
              <a:latin typeface="Verdana" panose="020B0604030504040204"/>
              <a:cs typeface="Verdana" panose="020B0604030504040204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401084" y="5569861"/>
            <a:ext cx="170561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5" dirty="0">
                <a:solidFill>
                  <a:srgbClr val="404040"/>
                </a:solidFill>
                <a:latin typeface="Arial MT"/>
                <a:cs typeface="Arial MT"/>
              </a:rPr>
              <a:t>SO</a:t>
            </a:r>
            <a:r>
              <a:rPr sz="2000" spc="-45" dirty="0">
                <a:solidFill>
                  <a:srgbClr val="404040"/>
                </a:solidFill>
                <a:latin typeface="Arial MT"/>
                <a:cs typeface="Arial MT"/>
              </a:rPr>
              <a:t>R</a:t>
            </a:r>
            <a:r>
              <a:rPr sz="2000" spc="-5" dirty="0">
                <a:solidFill>
                  <a:srgbClr val="404040"/>
                </a:solidFill>
                <a:latin typeface="Arial MT"/>
                <a:cs typeface="Arial MT"/>
              </a:rPr>
              <a:t>T</a:t>
            </a:r>
            <a:r>
              <a:rPr sz="2000" spc="-2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Arial MT"/>
                <a:cs typeface="Arial MT"/>
              </a:rPr>
              <a:t>BY</a:t>
            </a:r>
            <a:r>
              <a:rPr sz="2000" spc="-14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2000" spc="-5" dirty="0">
                <a:solidFill>
                  <a:srgbClr val="EF5A28"/>
                </a:solidFill>
                <a:latin typeface="Arial MT"/>
                <a:cs typeface="Arial MT"/>
              </a:rPr>
              <a:t>ASC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717317" y="4469365"/>
            <a:ext cx="2448560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462280">
              <a:lnSpc>
                <a:spcPct val="125000"/>
              </a:lnSpc>
              <a:spcBef>
                <a:spcPts val="100"/>
              </a:spcBef>
            </a:pPr>
            <a:r>
              <a:rPr sz="2000" spc="15" dirty="0">
                <a:solidFill>
                  <a:srgbClr val="2A9FBB"/>
                </a:solidFill>
                <a:latin typeface="Verdana" panose="020B0604030504040204"/>
                <a:cs typeface="Verdana" panose="020B0604030504040204"/>
              </a:rPr>
              <a:t>Descending </a:t>
            </a:r>
            <a:r>
              <a:rPr sz="2000" spc="20" dirty="0">
                <a:solidFill>
                  <a:srgbClr val="2A9FBB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000" spc="10" dirty="0">
                <a:solidFill>
                  <a:srgbClr val="404040"/>
                </a:solidFill>
                <a:latin typeface="Verdana" panose="020B0604030504040204"/>
                <a:cs typeface="Verdana" panose="020B0604030504040204"/>
              </a:rPr>
              <a:t>Largest</a:t>
            </a:r>
            <a:r>
              <a:rPr sz="2000" spc="-114" dirty="0">
                <a:solidFill>
                  <a:srgbClr val="404040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000" spc="50" dirty="0">
                <a:solidFill>
                  <a:srgbClr val="404040"/>
                </a:solidFill>
                <a:latin typeface="Verdana" panose="020B0604030504040204"/>
                <a:cs typeface="Verdana" panose="020B0604030504040204"/>
              </a:rPr>
              <a:t>to</a:t>
            </a:r>
            <a:r>
              <a:rPr sz="2000" spc="-120" dirty="0">
                <a:solidFill>
                  <a:srgbClr val="404040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000" spc="-20" dirty="0">
                <a:solidFill>
                  <a:srgbClr val="404040"/>
                </a:solidFill>
                <a:latin typeface="Verdana" panose="020B0604030504040204"/>
                <a:cs typeface="Verdana" panose="020B0604030504040204"/>
              </a:rPr>
              <a:t>smallest</a:t>
            </a:r>
            <a:endParaRPr sz="2000">
              <a:latin typeface="Verdana" panose="020B0604030504040204"/>
              <a:cs typeface="Verdana" panose="020B0604030504040204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990855" y="5569861"/>
            <a:ext cx="190246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15" dirty="0">
                <a:solidFill>
                  <a:srgbClr val="404040"/>
                </a:solidFill>
                <a:latin typeface="Arial MT"/>
                <a:cs typeface="Arial MT"/>
              </a:rPr>
              <a:t>SORT</a:t>
            </a:r>
            <a:r>
              <a:rPr sz="2000" spc="-6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Arial MT"/>
                <a:cs typeface="Arial MT"/>
              </a:rPr>
              <a:t>BY</a:t>
            </a:r>
            <a:r>
              <a:rPr sz="2000" spc="-7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2000" spc="-5" dirty="0">
                <a:solidFill>
                  <a:srgbClr val="2A9FBB"/>
                </a:solidFill>
                <a:latin typeface="Arial MT"/>
                <a:cs typeface="Arial MT"/>
              </a:rPr>
              <a:t>DESC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title"/>
          </p:nvPr>
        </p:nvSpPr>
        <p:spPr>
          <a:xfrm>
            <a:off x="3589863" y="519066"/>
            <a:ext cx="492442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404040"/>
                </a:solidFill>
              </a:rPr>
              <a:t>Specifying</a:t>
            </a:r>
            <a:r>
              <a:rPr spc="-245" dirty="0">
                <a:solidFill>
                  <a:srgbClr val="404040"/>
                </a:solidFill>
              </a:rPr>
              <a:t> </a:t>
            </a:r>
            <a:r>
              <a:rPr spc="-30" dirty="0">
                <a:solidFill>
                  <a:srgbClr val="404040"/>
                </a:solidFill>
              </a:rPr>
              <a:t>Sort</a:t>
            </a:r>
            <a:r>
              <a:rPr spc="-245" dirty="0">
                <a:solidFill>
                  <a:srgbClr val="404040"/>
                </a:solidFill>
              </a:rPr>
              <a:t> </a:t>
            </a:r>
            <a:r>
              <a:rPr spc="5" dirty="0">
                <a:solidFill>
                  <a:srgbClr val="404040"/>
                </a:solidFill>
              </a:rPr>
              <a:t>Order</a:t>
            </a:r>
          </a:p>
        </p:txBody>
      </p:sp>
      <p:grpSp>
        <p:nvGrpSpPr>
          <p:cNvPr id="21" name="object 21"/>
          <p:cNvGrpSpPr/>
          <p:nvPr/>
        </p:nvGrpSpPr>
        <p:grpSpPr>
          <a:xfrm>
            <a:off x="6795386" y="2574163"/>
            <a:ext cx="4292600" cy="939800"/>
            <a:chOff x="6795386" y="2574163"/>
            <a:chExt cx="4292600" cy="939800"/>
          </a:xfrm>
        </p:grpSpPr>
        <p:sp>
          <p:nvSpPr>
            <p:cNvPr id="22" name="object 22"/>
            <p:cNvSpPr/>
            <p:nvPr/>
          </p:nvSpPr>
          <p:spPr>
            <a:xfrm>
              <a:off x="6808089" y="2586862"/>
              <a:ext cx="4267200" cy="457200"/>
            </a:xfrm>
            <a:custGeom>
              <a:avLst/>
              <a:gdLst/>
              <a:ahLst/>
              <a:cxnLst/>
              <a:rect l="l" t="t" r="r" b="b"/>
              <a:pathLst>
                <a:path w="4267200" h="457200">
                  <a:moveTo>
                    <a:pt x="4267200" y="0"/>
                  </a:moveTo>
                  <a:lnTo>
                    <a:pt x="2844800" y="0"/>
                  </a:lnTo>
                  <a:lnTo>
                    <a:pt x="1422400" y="0"/>
                  </a:lnTo>
                  <a:lnTo>
                    <a:pt x="0" y="0"/>
                  </a:lnTo>
                  <a:lnTo>
                    <a:pt x="0" y="457200"/>
                  </a:lnTo>
                  <a:lnTo>
                    <a:pt x="1422400" y="457200"/>
                  </a:lnTo>
                  <a:lnTo>
                    <a:pt x="2844800" y="457200"/>
                  </a:lnTo>
                  <a:lnTo>
                    <a:pt x="4267200" y="457200"/>
                  </a:lnTo>
                  <a:lnTo>
                    <a:pt x="4267200" y="381127"/>
                  </a:lnTo>
                  <a:lnTo>
                    <a:pt x="4267200" y="0"/>
                  </a:lnTo>
                  <a:close/>
                </a:path>
              </a:pathLst>
            </a:custGeom>
            <a:solidFill>
              <a:srgbClr val="CDDF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808089" y="3044062"/>
              <a:ext cx="4267200" cy="457200"/>
            </a:xfrm>
            <a:custGeom>
              <a:avLst/>
              <a:gdLst/>
              <a:ahLst/>
              <a:cxnLst/>
              <a:rect l="l" t="t" r="r" b="b"/>
              <a:pathLst>
                <a:path w="4267200" h="457200">
                  <a:moveTo>
                    <a:pt x="4267200" y="0"/>
                  </a:moveTo>
                  <a:lnTo>
                    <a:pt x="2844800" y="0"/>
                  </a:lnTo>
                  <a:lnTo>
                    <a:pt x="1422400" y="0"/>
                  </a:lnTo>
                  <a:lnTo>
                    <a:pt x="0" y="0"/>
                  </a:lnTo>
                  <a:lnTo>
                    <a:pt x="0" y="457200"/>
                  </a:lnTo>
                  <a:lnTo>
                    <a:pt x="1422400" y="457200"/>
                  </a:lnTo>
                  <a:lnTo>
                    <a:pt x="2844800" y="457200"/>
                  </a:lnTo>
                  <a:lnTo>
                    <a:pt x="4267200" y="457200"/>
                  </a:lnTo>
                  <a:lnTo>
                    <a:pt x="4267200" y="76327"/>
                  </a:lnTo>
                  <a:lnTo>
                    <a:pt x="4267200" y="0"/>
                  </a:lnTo>
                  <a:close/>
                </a:path>
              </a:pathLst>
            </a:custGeom>
            <a:solidFill>
              <a:srgbClr val="E8EF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8230486" y="2580513"/>
              <a:ext cx="0" cy="927100"/>
            </a:xfrm>
            <a:custGeom>
              <a:avLst/>
              <a:gdLst/>
              <a:ahLst/>
              <a:cxnLst/>
              <a:rect l="l" t="t" r="r" b="b"/>
              <a:pathLst>
                <a:path h="927100">
                  <a:moveTo>
                    <a:pt x="0" y="0"/>
                  </a:moveTo>
                  <a:lnTo>
                    <a:pt x="0" y="92710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801736" y="3044063"/>
              <a:ext cx="1756410" cy="0"/>
            </a:xfrm>
            <a:custGeom>
              <a:avLst/>
              <a:gdLst/>
              <a:ahLst/>
              <a:cxnLst/>
              <a:rect l="l" t="t" r="r" b="b"/>
              <a:pathLst>
                <a:path w="1756409">
                  <a:moveTo>
                    <a:pt x="0" y="0"/>
                  </a:moveTo>
                  <a:lnTo>
                    <a:pt x="1756290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808086" y="2580513"/>
              <a:ext cx="0" cy="927100"/>
            </a:xfrm>
            <a:custGeom>
              <a:avLst/>
              <a:gdLst/>
              <a:ahLst/>
              <a:cxnLst/>
              <a:rect l="l" t="t" r="r" b="b"/>
              <a:pathLst>
                <a:path h="927100">
                  <a:moveTo>
                    <a:pt x="0" y="0"/>
                  </a:moveTo>
                  <a:lnTo>
                    <a:pt x="0" y="92710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1075286" y="2580513"/>
              <a:ext cx="0" cy="927100"/>
            </a:xfrm>
            <a:custGeom>
              <a:avLst/>
              <a:gdLst/>
              <a:ahLst/>
              <a:cxnLst/>
              <a:rect l="l" t="t" r="r" b="b"/>
              <a:pathLst>
                <a:path h="927100">
                  <a:moveTo>
                    <a:pt x="0" y="0"/>
                  </a:moveTo>
                  <a:lnTo>
                    <a:pt x="0" y="92710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6801736" y="2586863"/>
              <a:ext cx="4279900" cy="0"/>
            </a:xfrm>
            <a:custGeom>
              <a:avLst/>
              <a:gdLst/>
              <a:ahLst/>
              <a:cxnLst/>
              <a:rect l="l" t="t" r="r" b="b"/>
              <a:pathLst>
                <a:path w="4279900">
                  <a:moveTo>
                    <a:pt x="0" y="0"/>
                  </a:moveTo>
                  <a:lnTo>
                    <a:pt x="4279900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6801736" y="3501263"/>
              <a:ext cx="4279900" cy="0"/>
            </a:xfrm>
            <a:custGeom>
              <a:avLst/>
              <a:gdLst/>
              <a:ahLst/>
              <a:cxnLst/>
              <a:rect l="l" t="t" r="r" b="b"/>
              <a:pathLst>
                <a:path w="4279900">
                  <a:moveTo>
                    <a:pt x="0" y="0"/>
                  </a:moveTo>
                  <a:lnTo>
                    <a:pt x="4279900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6808086" y="2586863"/>
            <a:ext cx="1422400" cy="457200"/>
          </a:xfrm>
          <a:prstGeom prst="rect">
            <a:avLst/>
          </a:prstGeom>
          <a:ln w="12700">
            <a:solidFill>
              <a:srgbClr val="FFFFFF"/>
            </a:solidFill>
          </a:ln>
        </p:spPr>
        <p:txBody>
          <a:bodyPr vert="horz" wrap="square" lIns="0" tIns="3302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260"/>
              </a:spcBef>
            </a:pPr>
            <a:r>
              <a:rPr sz="2400" spc="254" dirty="0">
                <a:solidFill>
                  <a:srgbClr val="404040"/>
                </a:solidFill>
                <a:latin typeface="Verdana" panose="020B0604030504040204"/>
                <a:cs typeface="Verdana" panose="020B0604030504040204"/>
              </a:rPr>
              <a:t>A</a:t>
            </a:r>
            <a:endParaRPr sz="2400">
              <a:latin typeface="Verdana" panose="020B0604030504040204"/>
              <a:cs typeface="Verdana" panose="020B0604030504040204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9652886" y="2586863"/>
            <a:ext cx="1422400" cy="457200"/>
          </a:xfrm>
          <a:prstGeom prst="rect">
            <a:avLst/>
          </a:prstGeom>
          <a:ln w="12700">
            <a:solidFill>
              <a:srgbClr val="FFFFFF"/>
            </a:solidFill>
          </a:ln>
        </p:spPr>
        <p:txBody>
          <a:bodyPr vert="horz" wrap="square" lIns="0" tIns="33020" rIns="0" bIns="0" rtlCol="0">
            <a:spAutoFit/>
          </a:bodyPr>
          <a:lstStyle/>
          <a:p>
            <a:pPr marR="85090" algn="r">
              <a:lnSpc>
                <a:spcPct val="100000"/>
              </a:lnSpc>
              <a:spcBef>
                <a:spcPts val="260"/>
              </a:spcBef>
            </a:pPr>
            <a:r>
              <a:rPr sz="2400" spc="40" dirty="0">
                <a:solidFill>
                  <a:srgbClr val="404040"/>
                </a:solidFill>
                <a:latin typeface="Verdana" panose="020B0604030504040204"/>
                <a:cs typeface="Verdana" panose="020B0604030504040204"/>
              </a:rPr>
              <a:t>Z</a:t>
            </a:r>
            <a:endParaRPr sz="2400">
              <a:latin typeface="Verdana" panose="020B0604030504040204"/>
              <a:cs typeface="Verdana" panose="020B0604030504040204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808086" y="3044063"/>
            <a:ext cx="1422400" cy="457200"/>
          </a:xfrm>
          <a:prstGeom prst="rect">
            <a:avLst/>
          </a:prstGeom>
          <a:ln w="12700">
            <a:solidFill>
              <a:srgbClr val="FFFFFF"/>
            </a:solidFill>
          </a:ln>
        </p:spPr>
        <p:txBody>
          <a:bodyPr vert="horz" wrap="square" lIns="0" tIns="3302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260"/>
              </a:spcBef>
            </a:pPr>
            <a:r>
              <a:rPr sz="2400" spc="-580" dirty="0">
                <a:solidFill>
                  <a:srgbClr val="404040"/>
                </a:solidFill>
                <a:latin typeface="Verdana" panose="020B0604030504040204"/>
                <a:cs typeface="Verdana" panose="020B0604030504040204"/>
              </a:rPr>
              <a:t>1</a:t>
            </a:r>
            <a:endParaRPr sz="2400">
              <a:latin typeface="Verdana" panose="020B0604030504040204"/>
              <a:cs typeface="Verdana" panose="020B0604030504040204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9652886" y="3044063"/>
            <a:ext cx="1422400" cy="457200"/>
          </a:xfrm>
          <a:prstGeom prst="rect">
            <a:avLst/>
          </a:prstGeom>
          <a:ln w="12700">
            <a:solidFill>
              <a:srgbClr val="FFFFFF"/>
            </a:solidFill>
          </a:ln>
        </p:spPr>
        <p:txBody>
          <a:bodyPr vert="horz" wrap="square" lIns="0" tIns="33020" rIns="0" bIns="0" rtlCol="0">
            <a:spAutoFit/>
          </a:bodyPr>
          <a:lstStyle/>
          <a:p>
            <a:pPr marL="767080">
              <a:lnSpc>
                <a:spcPct val="100000"/>
              </a:lnSpc>
              <a:spcBef>
                <a:spcPts val="260"/>
              </a:spcBef>
            </a:pPr>
            <a:r>
              <a:rPr sz="2400" spc="-55" dirty="0">
                <a:solidFill>
                  <a:srgbClr val="404040"/>
                </a:solidFill>
                <a:latin typeface="Verdana" panose="020B0604030504040204"/>
                <a:cs typeface="Verdana" panose="020B0604030504040204"/>
              </a:rPr>
              <a:t>100</a:t>
            </a:r>
            <a:endParaRPr sz="2400">
              <a:latin typeface="Verdana" panose="020B0604030504040204"/>
              <a:cs typeface="Verdana" panose="020B0604030504040204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2484882" y="2815569"/>
            <a:ext cx="1529080" cy="457200"/>
            <a:chOff x="2484882" y="2815569"/>
            <a:chExt cx="1529080" cy="457200"/>
          </a:xfrm>
        </p:grpSpPr>
        <p:sp>
          <p:nvSpPr>
            <p:cNvPr id="35" name="object 35"/>
            <p:cNvSpPr/>
            <p:nvPr/>
          </p:nvSpPr>
          <p:spPr>
            <a:xfrm>
              <a:off x="2484882" y="2967989"/>
              <a:ext cx="1148080" cy="152400"/>
            </a:xfrm>
            <a:custGeom>
              <a:avLst/>
              <a:gdLst/>
              <a:ahLst/>
              <a:cxnLst/>
              <a:rect l="l" t="t" r="r" b="b"/>
              <a:pathLst>
                <a:path w="1148079" h="152400">
                  <a:moveTo>
                    <a:pt x="0" y="152400"/>
                  </a:moveTo>
                  <a:lnTo>
                    <a:pt x="1147991" y="152400"/>
                  </a:lnTo>
                  <a:lnTo>
                    <a:pt x="1147991" y="0"/>
                  </a:ln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EF5A2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3556664" y="2815569"/>
              <a:ext cx="457834" cy="457200"/>
            </a:xfrm>
            <a:custGeom>
              <a:avLst/>
              <a:gdLst/>
              <a:ahLst/>
              <a:cxnLst/>
              <a:rect l="l" t="t" r="r" b="b"/>
              <a:pathLst>
                <a:path w="457835" h="457200">
                  <a:moveTo>
                    <a:pt x="25" y="0"/>
                  </a:moveTo>
                  <a:lnTo>
                    <a:pt x="0" y="457200"/>
                  </a:lnTo>
                  <a:lnTo>
                    <a:pt x="457212" y="228625"/>
                  </a:lnTo>
                  <a:lnTo>
                    <a:pt x="25" y="0"/>
                  </a:lnTo>
                  <a:close/>
                </a:path>
              </a:pathLst>
            </a:custGeom>
            <a:solidFill>
              <a:srgbClr val="EF5A2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7" name="object 37"/>
          <p:cNvGrpSpPr/>
          <p:nvPr/>
        </p:nvGrpSpPr>
        <p:grpSpPr>
          <a:xfrm>
            <a:off x="8177023" y="2815610"/>
            <a:ext cx="1529080" cy="457200"/>
            <a:chOff x="8177023" y="2815610"/>
            <a:chExt cx="1529080" cy="457200"/>
          </a:xfrm>
        </p:grpSpPr>
        <p:sp>
          <p:nvSpPr>
            <p:cNvPr id="38" name="object 38"/>
            <p:cNvSpPr/>
            <p:nvPr/>
          </p:nvSpPr>
          <p:spPr>
            <a:xfrm>
              <a:off x="8558027" y="2967989"/>
              <a:ext cx="1148080" cy="152400"/>
            </a:xfrm>
            <a:custGeom>
              <a:avLst/>
              <a:gdLst/>
              <a:ahLst/>
              <a:cxnLst/>
              <a:rect l="l" t="t" r="r" b="b"/>
              <a:pathLst>
                <a:path w="1148079" h="152400">
                  <a:moveTo>
                    <a:pt x="0" y="152400"/>
                  </a:moveTo>
                  <a:lnTo>
                    <a:pt x="1147991" y="152400"/>
                  </a:lnTo>
                  <a:lnTo>
                    <a:pt x="1147991" y="0"/>
                  </a:ln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2A9F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8177023" y="2815610"/>
              <a:ext cx="457834" cy="457200"/>
            </a:xfrm>
            <a:custGeom>
              <a:avLst/>
              <a:gdLst/>
              <a:ahLst/>
              <a:cxnLst/>
              <a:rect l="l" t="t" r="r" b="b"/>
              <a:pathLst>
                <a:path w="457834" h="457200">
                  <a:moveTo>
                    <a:pt x="457212" y="0"/>
                  </a:moveTo>
                  <a:lnTo>
                    <a:pt x="0" y="228574"/>
                  </a:lnTo>
                  <a:lnTo>
                    <a:pt x="457187" y="457200"/>
                  </a:lnTo>
                  <a:lnTo>
                    <a:pt x="457212" y="0"/>
                  </a:lnTo>
                  <a:close/>
                </a:path>
              </a:pathLst>
            </a:custGeom>
            <a:solidFill>
              <a:srgbClr val="2A9F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Slide Number Placeholder 39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/>
              <a:t>5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6096000" cy="6858000"/>
          </a:xfrm>
          <a:custGeom>
            <a:avLst/>
            <a:gdLst/>
            <a:ahLst/>
            <a:cxnLst/>
            <a:rect l="l" t="t" r="r" b="b"/>
            <a:pathLst>
              <a:path w="6096000" h="6858000">
                <a:moveTo>
                  <a:pt x="6096000" y="0"/>
                </a:moveTo>
                <a:lnTo>
                  <a:pt x="0" y="0"/>
                </a:lnTo>
                <a:lnTo>
                  <a:pt x="0" y="6858000"/>
                </a:lnTo>
                <a:lnTo>
                  <a:pt x="6096000" y="6858000"/>
                </a:lnTo>
                <a:lnTo>
                  <a:pt x="6096000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98995" y="754380"/>
            <a:ext cx="3095625" cy="2052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5" dirty="0">
                <a:latin typeface="Arial MT"/>
                <a:cs typeface="Arial MT"/>
              </a:rPr>
              <a:t>SELECT</a:t>
            </a:r>
            <a:r>
              <a:rPr sz="2200" spc="-12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name,</a:t>
            </a:r>
            <a:endParaRPr sz="2200">
              <a:latin typeface="Arial MT"/>
              <a:cs typeface="Arial MT"/>
            </a:endParaRPr>
          </a:p>
          <a:p>
            <a:pPr marL="556895">
              <a:lnSpc>
                <a:spcPct val="100000"/>
              </a:lnSpc>
              <a:spcBef>
                <a:spcPts val="1800"/>
              </a:spcBef>
            </a:pPr>
            <a:r>
              <a:rPr sz="2200" dirty="0">
                <a:latin typeface="Arial MT"/>
                <a:cs typeface="Arial MT"/>
              </a:rPr>
              <a:t>state</a:t>
            </a:r>
            <a:endParaRPr sz="2200">
              <a:latin typeface="Arial MT"/>
              <a:cs typeface="Arial MT"/>
            </a:endParaRPr>
          </a:p>
          <a:p>
            <a:pPr marL="90170" marR="5080" indent="77470">
              <a:lnSpc>
                <a:spcPts val="4440"/>
              </a:lnSpc>
              <a:spcBef>
                <a:spcPts val="245"/>
              </a:spcBef>
            </a:pPr>
            <a:r>
              <a:rPr sz="2200" spc="-5" dirty="0">
                <a:latin typeface="Arial MT"/>
                <a:cs typeface="Arial MT"/>
              </a:rPr>
              <a:t>FROM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residency 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ORDER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BY</a:t>
            </a:r>
            <a:r>
              <a:rPr sz="2200" spc="-75" dirty="0"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9BC750"/>
                </a:solidFill>
                <a:latin typeface="Arial MT"/>
                <a:cs typeface="Arial MT"/>
              </a:rPr>
              <a:t>state</a:t>
            </a:r>
            <a:r>
              <a:rPr sz="2200" dirty="0">
                <a:latin typeface="Arial MT"/>
                <a:cs typeface="Arial MT"/>
              </a:rPr>
              <a:t>,</a:t>
            </a:r>
            <a:r>
              <a:rPr sz="2200" spc="-20" dirty="0"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EF5A28"/>
                </a:solidFill>
                <a:latin typeface="Arial MT"/>
                <a:cs typeface="Arial MT"/>
              </a:rPr>
              <a:t>name</a:t>
            </a:r>
            <a:endParaRPr sz="22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34556" y="774954"/>
            <a:ext cx="752093" cy="68198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7761795" y="810296"/>
            <a:ext cx="24758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30" dirty="0">
                <a:solidFill>
                  <a:srgbClr val="404040"/>
                </a:solidFill>
                <a:latin typeface="Verdana" panose="020B0604030504040204"/>
                <a:cs typeface="Verdana" panose="020B0604030504040204"/>
              </a:rPr>
              <a:t>Residency</a:t>
            </a:r>
            <a:r>
              <a:rPr sz="2400" spc="-160" dirty="0">
                <a:solidFill>
                  <a:srgbClr val="404040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400" spc="30" dirty="0">
                <a:solidFill>
                  <a:srgbClr val="404040"/>
                </a:solidFill>
                <a:latin typeface="Verdana" panose="020B0604030504040204"/>
                <a:cs typeface="Verdana" panose="020B0604030504040204"/>
              </a:rPr>
              <a:t>table</a:t>
            </a:r>
            <a:endParaRPr sz="2400">
              <a:latin typeface="Verdana" panose="020B0604030504040204"/>
              <a:cs typeface="Verdana" panose="020B0604030504040204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6728431" y="2035810"/>
          <a:ext cx="4899660" cy="27736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498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9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623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spc="25" dirty="0">
                          <a:solidFill>
                            <a:srgbClr val="FFFFFF"/>
                          </a:solidFill>
                          <a:latin typeface="Verdana" panose="020B0604030504040204"/>
                          <a:cs typeface="Verdana" panose="020B0604030504040204"/>
                        </a:rPr>
                        <a:t>name</a:t>
                      </a:r>
                      <a:endParaRPr sz="2000">
                        <a:latin typeface="Verdana" panose="020B0604030504040204"/>
                        <a:cs typeface="Verdana" panose="020B0604030504040204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2A9FBB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spc="35" dirty="0">
                          <a:solidFill>
                            <a:srgbClr val="FFFFFF"/>
                          </a:solidFill>
                          <a:latin typeface="Verdana" panose="020B0604030504040204"/>
                          <a:cs typeface="Verdana" panose="020B0604030504040204"/>
                        </a:rPr>
                        <a:t>state</a:t>
                      </a:r>
                      <a:endParaRPr sz="2000">
                        <a:latin typeface="Verdana" panose="020B0604030504040204"/>
                        <a:cs typeface="Verdana" panose="020B0604030504040204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2A9FB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3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spc="30" dirty="0">
                          <a:solidFill>
                            <a:srgbClr val="404040"/>
                          </a:solidFill>
                          <a:latin typeface="Verdana" panose="020B0604030504040204"/>
                          <a:cs typeface="Verdana" panose="020B0604030504040204"/>
                        </a:rPr>
                        <a:t>Amy</a:t>
                      </a:r>
                      <a:endParaRPr sz="2000">
                        <a:latin typeface="Verdana" panose="020B0604030504040204"/>
                        <a:cs typeface="Verdana" panose="020B0604030504040204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FE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spc="35" dirty="0">
                          <a:solidFill>
                            <a:srgbClr val="404040"/>
                          </a:solidFill>
                          <a:latin typeface="Verdana" panose="020B0604030504040204"/>
                          <a:cs typeface="Verdana" panose="020B0604030504040204"/>
                        </a:rPr>
                        <a:t>Oregon</a:t>
                      </a:r>
                      <a:endParaRPr sz="2000">
                        <a:latin typeface="Verdana" panose="020B0604030504040204"/>
                        <a:cs typeface="Verdana" panose="020B0604030504040204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F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3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spc="15" dirty="0">
                          <a:solidFill>
                            <a:srgbClr val="404040"/>
                          </a:solidFill>
                          <a:latin typeface="Verdana" panose="020B0604030504040204"/>
                          <a:cs typeface="Verdana" panose="020B0604030504040204"/>
                        </a:rPr>
                        <a:t>Justin</a:t>
                      </a:r>
                      <a:endParaRPr sz="2000">
                        <a:latin typeface="Verdana" panose="020B0604030504040204"/>
                        <a:cs typeface="Verdana" panose="020B0604030504040204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FF4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spc="30" dirty="0">
                          <a:solidFill>
                            <a:srgbClr val="404040"/>
                          </a:solidFill>
                          <a:latin typeface="Verdana" panose="020B0604030504040204"/>
                          <a:cs typeface="Verdana" panose="020B0604030504040204"/>
                        </a:rPr>
                        <a:t>Wyoming</a:t>
                      </a:r>
                      <a:endParaRPr sz="2000">
                        <a:latin typeface="Verdana" panose="020B0604030504040204"/>
                        <a:cs typeface="Verdana" panose="020B0604030504040204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F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spc="-20" dirty="0">
                          <a:solidFill>
                            <a:srgbClr val="404040"/>
                          </a:solidFill>
                          <a:latin typeface="Verdana" panose="020B0604030504040204"/>
                          <a:cs typeface="Verdana" panose="020B0604030504040204"/>
                        </a:rPr>
                        <a:t>Sheila</a:t>
                      </a:r>
                      <a:endParaRPr sz="2000">
                        <a:latin typeface="Verdana" panose="020B0604030504040204"/>
                        <a:cs typeface="Verdana" panose="020B0604030504040204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FE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spc="-75" dirty="0">
                          <a:solidFill>
                            <a:srgbClr val="404040"/>
                          </a:solidFill>
                          <a:latin typeface="Verdana" panose="020B0604030504040204"/>
                          <a:cs typeface="Verdana" panose="020B0604030504040204"/>
                        </a:rPr>
                        <a:t>Texas</a:t>
                      </a:r>
                      <a:endParaRPr sz="2000">
                        <a:latin typeface="Verdana" panose="020B0604030504040204"/>
                        <a:cs typeface="Verdana" panose="020B0604030504040204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F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spc="55" dirty="0">
                          <a:solidFill>
                            <a:srgbClr val="404040"/>
                          </a:solidFill>
                          <a:latin typeface="Verdana" panose="020B0604030504040204"/>
                          <a:cs typeface="Verdana" panose="020B0604030504040204"/>
                        </a:rPr>
                        <a:t>Jim</a:t>
                      </a:r>
                      <a:endParaRPr sz="2000">
                        <a:latin typeface="Verdana" panose="020B0604030504040204"/>
                        <a:cs typeface="Verdana" panose="020B0604030504040204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FF4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spc="-75" dirty="0">
                          <a:solidFill>
                            <a:srgbClr val="404040"/>
                          </a:solidFill>
                          <a:latin typeface="Verdana" panose="020B0604030504040204"/>
                          <a:cs typeface="Verdana" panose="020B0604030504040204"/>
                        </a:rPr>
                        <a:t>Texas</a:t>
                      </a:r>
                      <a:endParaRPr sz="2000">
                        <a:latin typeface="Verdana" panose="020B0604030504040204"/>
                        <a:cs typeface="Verdana" panose="020B0604030504040204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F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23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spc="-25" dirty="0">
                          <a:solidFill>
                            <a:srgbClr val="404040"/>
                          </a:solidFill>
                          <a:latin typeface="Verdana" panose="020B0604030504040204"/>
                          <a:cs typeface="Verdana" panose="020B0604030504040204"/>
                        </a:rPr>
                        <a:t>Marsha</a:t>
                      </a:r>
                      <a:endParaRPr sz="2000">
                        <a:latin typeface="Verdana" panose="020B0604030504040204"/>
                        <a:cs typeface="Verdana" panose="020B0604030504040204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FE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spc="40" dirty="0">
                          <a:solidFill>
                            <a:srgbClr val="404040"/>
                          </a:solidFill>
                          <a:latin typeface="Verdana" panose="020B0604030504040204"/>
                          <a:cs typeface="Verdana" panose="020B0604030504040204"/>
                        </a:rPr>
                        <a:t>Oregon</a:t>
                      </a:r>
                      <a:endParaRPr sz="2000">
                        <a:latin typeface="Verdana" panose="020B0604030504040204"/>
                        <a:cs typeface="Verdana" panose="020B0604030504040204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F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623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000" spc="15" dirty="0">
                          <a:solidFill>
                            <a:srgbClr val="404040"/>
                          </a:solidFill>
                          <a:latin typeface="Verdana" panose="020B0604030504040204"/>
                          <a:cs typeface="Verdana" panose="020B0604030504040204"/>
                        </a:rPr>
                        <a:t>Richard</a:t>
                      </a:r>
                      <a:endParaRPr sz="2000">
                        <a:latin typeface="Verdana" panose="020B0604030504040204"/>
                        <a:cs typeface="Verdana" panose="020B0604030504040204"/>
                      </a:endParaRPr>
                    </a:p>
                  </a:txBody>
                  <a:tcPr marL="0" marR="0" marT="3619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FF4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000" spc="35" dirty="0">
                          <a:solidFill>
                            <a:srgbClr val="404040"/>
                          </a:solidFill>
                          <a:latin typeface="Verdana" panose="020B0604030504040204"/>
                          <a:cs typeface="Verdana" panose="020B0604030504040204"/>
                        </a:rPr>
                        <a:t>Arizona</a:t>
                      </a:r>
                      <a:endParaRPr sz="2000">
                        <a:latin typeface="Verdana" panose="020B0604030504040204"/>
                        <a:cs typeface="Verdana" panose="020B0604030504040204"/>
                      </a:endParaRPr>
                    </a:p>
                  </a:txBody>
                  <a:tcPr marL="0" marR="0" marT="3619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F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705344" y="3567239"/>
          <a:ext cx="4610100" cy="277367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05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05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spc="25" dirty="0">
                          <a:solidFill>
                            <a:srgbClr val="FFFFFF"/>
                          </a:solidFill>
                          <a:latin typeface="Verdana" panose="020B0604030504040204"/>
                          <a:cs typeface="Verdana" panose="020B0604030504040204"/>
                        </a:rPr>
                        <a:t>name</a:t>
                      </a:r>
                      <a:endParaRPr sz="2000">
                        <a:latin typeface="Verdana" panose="020B0604030504040204"/>
                        <a:cs typeface="Verdana" panose="020B0604030504040204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9BC750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spc="35" dirty="0">
                          <a:solidFill>
                            <a:srgbClr val="FFFFFF"/>
                          </a:solidFill>
                          <a:latin typeface="Verdana" panose="020B0604030504040204"/>
                          <a:cs typeface="Verdana" panose="020B0604030504040204"/>
                        </a:rPr>
                        <a:t>state</a:t>
                      </a:r>
                      <a:endParaRPr sz="2000">
                        <a:latin typeface="Verdana" panose="020B0604030504040204"/>
                        <a:cs typeface="Verdana" panose="020B0604030504040204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9BC7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3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spc="15" dirty="0">
                          <a:solidFill>
                            <a:srgbClr val="404040"/>
                          </a:solidFill>
                          <a:latin typeface="Verdana" panose="020B0604030504040204"/>
                          <a:cs typeface="Verdana" panose="020B0604030504040204"/>
                        </a:rPr>
                        <a:t>Richard</a:t>
                      </a:r>
                      <a:endParaRPr sz="2000">
                        <a:latin typeface="Verdana" panose="020B0604030504040204"/>
                        <a:cs typeface="Verdana" panose="020B0604030504040204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EEBD0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spc="35" dirty="0">
                          <a:solidFill>
                            <a:srgbClr val="404040"/>
                          </a:solidFill>
                          <a:latin typeface="Verdana" panose="020B0604030504040204"/>
                          <a:cs typeface="Verdana" panose="020B0604030504040204"/>
                        </a:rPr>
                        <a:t>Arizona</a:t>
                      </a:r>
                      <a:endParaRPr sz="2000">
                        <a:latin typeface="Verdana" panose="020B0604030504040204"/>
                        <a:cs typeface="Verdana" panose="020B0604030504040204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EEB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spc="30" dirty="0">
                          <a:solidFill>
                            <a:srgbClr val="EF5A28"/>
                          </a:solidFill>
                          <a:latin typeface="Verdana" panose="020B0604030504040204"/>
                          <a:cs typeface="Verdana" panose="020B0604030504040204"/>
                        </a:rPr>
                        <a:t>Amy</a:t>
                      </a:r>
                      <a:endParaRPr sz="2000">
                        <a:latin typeface="Verdana" panose="020B0604030504040204"/>
                        <a:cs typeface="Verdana" panose="020B0604030504040204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F5E9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spc="35" dirty="0">
                          <a:solidFill>
                            <a:srgbClr val="EF5A28"/>
                          </a:solidFill>
                          <a:latin typeface="Verdana" panose="020B0604030504040204"/>
                          <a:cs typeface="Verdana" panose="020B0604030504040204"/>
                        </a:rPr>
                        <a:t>Oregon</a:t>
                      </a:r>
                      <a:endParaRPr sz="2000">
                        <a:latin typeface="Verdana" panose="020B0604030504040204"/>
                        <a:cs typeface="Verdana" panose="020B0604030504040204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3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spc="-25" dirty="0">
                          <a:solidFill>
                            <a:srgbClr val="EF5A28"/>
                          </a:solidFill>
                          <a:latin typeface="Verdana" panose="020B0604030504040204"/>
                          <a:cs typeface="Verdana" panose="020B0604030504040204"/>
                        </a:rPr>
                        <a:t>Marsha</a:t>
                      </a:r>
                      <a:endParaRPr sz="2000">
                        <a:latin typeface="Verdana" panose="020B0604030504040204"/>
                        <a:cs typeface="Verdana" panose="020B0604030504040204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EEBD0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spc="35" dirty="0">
                          <a:solidFill>
                            <a:srgbClr val="404040"/>
                          </a:solidFill>
                          <a:latin typeface="Verdana" panose="020B0604030504040204"/>
                          <a:cs typeface="Verdana" panose="020B0604030504040204"/>
                        </a:rPr>
                        <a:t>Oregon</a:t>
                      </a:r>
                      <a:endParaRPr sz="2000">
                        <a:latin typeface="Verdana" panose="020B0604030504040204"/>
                        <a:cs typeface="Verdana" panose="020B0604030504040204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EEB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spc="55" dirty="0">
                          <a:solidFill>
                            <a:srgbClr val="EF5A28"/>
                          </a:solidFill>
                          <a:latin typeface="Verdana" panose="020B0604030504040204"/>
                          <a:cs typeface="Verdana" panose="020B0604030504040204"/>
                        </a:rPr>
                        <a:t>Jim</a:t>
                      </a:r>
                      <a:endParaRPr sz="2000">
                        <a:latin typeface="Verdana" panose="020B0604030504040204"/>
                        <a:cs typeface="Verdana" panose="020B0604030504040204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F5E9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spc="-75" dirty="0">
                          <a:solidFill>
                            <a:srgbClr val="EF5A28"/>
                          </a:solidFill>
                          <a:latin typeface="Verdana" panose="020B0604030504040204"/>
                          <a:cs typeface="Verdana" panose="020B0604030504040204"/>
                        </a:rPr>
                        <a:t>Texas</a:t>
                      </a:r>
                      <a:endParaRPr sz="2000">
                        <a:latin typeface="Verdana" panose="020B0604030504040204"/>
                        <a:cs typeface="Verdana" panose="020B0604030504040204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23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spc="-20" dirty="0">
                          <a:solidFill>
                            <a:srgbClr val="EF5A28"/>
                          </a:solidFill>
                          <a:latin typeface="Verdana" panose="020B0604030504040204"/>
                          <a:cs typeface="Verdana" panose="020B0604030504040204"/>
                        </a:rPr>
                        <a:t>Sheila</a:t>
                      </a:r>
                      <a:endParaRPr sz="2000">
                        <a:latin typeface="Verdana" panose="020B0604030504040204"/>
                        <a:cs typeface="Verdana" panose="020B0604030504040204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EEBD0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spc="-75" dirty="0">
                          <a:solidFill>
                            <a:srgbClr val="404040"/>
                          </a:solidFill>
                          <a:latin typeface="Verdana" panose="020B0604030504040204"/>
                          <a:cs typeface="Verdana" panose="020B0604030504040204"/>
                        </a:rPr>
                        <a:t>Texas</a:t>
                      </a:r>
                      <a:endParaRPr sz="2000">
                        <a:latin typeface="Verdana" panose="020B0604030504040204"/>
                        <a:cs typeface="Verdana" panose="020B0604030504040204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EEB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000" spc="15" dirty="0">
                          <a:solidFill>
                            <a:srgbClr val="404040"/>
                          </a:solidFill>
                          <a:latin typeface="Verdana" panose="020B0604030504040204"/>
                          <a:cs typeface="Verdana" panose="020B0604030504040204"/>
                        </a:rPr>
                        <a:t>Justin</a:t>
                      </a:r>
                      <a:endParaRPr sz="2000">
                        <a:latin typeface="Verdana" panose="020B0604030504040204"/>
                        <a:cs typeface="Verdana" panose="020B0604030504040204"/>
                      </a:endParaRPr>
                    </a:p>
                  </a:txBody>
                  <a:tcPr marL="0" marR="0" marT="3619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F5E9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000" spc="30" dirty="0">
                          <a:solidFill>
                            <a:srgbClr val="404040"/>
                          </a:solidFill>
                          <a:latin typeface="Verdana" panose="020B0604030504040204"/>
                          <a:cs typeface="Verdana" panose="020B0604030504040204"/>
                        </a:rPr>
                        <a:t>Wyoming</a:t>
                      </a:r>
                      <a:endParaRPr sz="2000">
                        <a:latin typeface="Verdana" panose="020B0604030504040204"/>
                        <a:cs typeface="Verdana" panose="020B0604030504040204"/>
                      </a:endParaRPr>
                    </a:p>
                  </a:txBody>
                  <a:tcPr marL="0" marR="0" marT="3619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Slide Number Placeholder 7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/>
              <a:t>6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6096000" cy="6858000"/>
          </a:xfrm>
          <a:custGeom>
            <a:avLst/>
            <a:gdLst/>
            <a:ahLst/>
            <a:cxnLst/>
            <a:rect l="l" t="t" r="r" b="b"/>
            <a:pathLst>
              <a:path w="6096000" h="6858000">
                <a:moveTo>
                  <a:pt x="6096000" y="0"/>
                </a:moveTo>
                <a:lnTo>
                  <a:pt x="0" y="0"/>
                </a:lnTo>
                <a:lnTo>
                  <a:pt x="0" y="6858000"/>
                </a:lnTo>
                <a:lnTo>
                  <a:pt x="6096000" y="6858000"/>
                </a:lnTo>
                <a:lnTo>
                  <a:pt x="6096000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45343" y="754380"/>
            <a:ext cx="1961514" cy="9251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5" dirty="0">
                <a:latin typeface="Arial MT"/>
                <a:cs typeface="Arial MT"/>
              </a:rPr>
              <a:t>SELECT</a:t>
            </a:r>
            <a:r>
              <a:rPr sz="2200" spc="-12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name,</a:t>
            </a:r>
            <a:endParaRPr sz="2200">
              <a:latin typeface="Arial MT"/>
              <a:cs typeface="Arial MT"/>
            </a:endParaRPr>
          </a:p>
          <a:p>
            <a:pPr marL="556895">
              <a:lnSpc>
                <a:spcPct val="100000"/>
              </a:lnSpc>
              <a:spcBef>
                <a:spcPts val="1800"/>
              </a:spcBef>
            </a:pPr>
            <a:r>
              <a:rPr sz="2200" dirty="0">
                <a:latin typeface="Arial MT"/>
                <a:cs typeface="Arial MT"/>
              </a:rPr>
              <a:t>state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23086" y="1881945"/>
            <a:ext cx="4507865" cy="9251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100"/>
              </a:spcBef>
            </a:pP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FROM</a:t>
            </a:r>
            <a:r>
              <a:rPr sz="22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residency</a:t>
            </a:r>
            <a:endParaRPr sz="2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800"/>
              </a:spcBef>
            </a:pP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ORDER</a:t>
            </a:r>
            <a:r>
              <a:rPr sz="22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FFFFFF"/>
                </a:solidFill>
                <a:latin typeface="Arial MT"/>
                <a:cs typeface="Arial MT"/>
              </a:rPr>
              <a:t>BY</a:t>
            </a:r>
            <a:r>
              <a:rPr sz="2200" spc="-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A9FBB"/>
                </a:solidFill>
                <a:latin typeface="Arial MT"/>
                <a:cs typeface="Arial MT"/>
              </a:rPr>
              <a:t>state</a:t>
            </a:r>
            <a:r>
              <a:rPr sz="2200" spc="-10" dirty="0">
                <a:solidFill>
                  <a:srgbClr val="2A9FBB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A9FBB"/>
                </a:solidFill>
                <a:latin typeface="Arial MT"/>
                <a:cs typeface="Arial MT"/>
              </a:rPr>
              <a:t>DESC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,</a:t>
            </a:r>
            <a:r>
              <a:rPr sz="22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EF5A28"/>
                </a:solidFill>
                <a:latin typeface="Arial MT"/>
                <a:cs typeface="Arial MT"/>
              </a:rPr>
              <a:t>name</a:t>
            </a:r>
            <a:r>
              <a:rPr sz="2200" spc="-125" dirty="0">
                <a:solidFill>
                  <a:srgbClr val="EF5A28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EF5A28"/>
                </a:solidFill>
                <a:latin typeface="Arial MT"/>
                <a:cs typeface="Arial MT"/>
              </a:rPr>
              <a:t>ASC</a:t>
            </a:r>
            <a:endParaRPr sz="22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34556" y="774954"/>
            <a:ext cx="752093" cy="68198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7761795" y="810296"/>
            <a:ext cx="24758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30" dirty="0">
                <a:solidFill>
                  <a:srgbClr val="404040"/>
                </a:solidFill>
                <a:latin typeface="Verdana" panose="020B0604030504040204"/>
                <a:cs typeface="Verdana" panose="020B0604030504040204"/>
              </a:rPr>
              <a:t>Residency</a:t>
            </a:r>
            <a:r>
              <a:rPr sz="2400" spc="-160" dirty="0">
                <a:solidFill>
                  <a:srgbClr val="404040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400" spc="30" dirty="0">
                <a:solidFill>
                  <a:srgbClr val="404040"/>
                </a:solidFill>
                <a:latin typeface="Verdana" panose="020B0604030504040204"/>
                <a:cs typeface="Verdana" panose="020B0604030504040204"/>
              </a:rPr>
              <a:t>table</a:t>
            </a:r>
            <a:endParaRPr sz="2400">
              <a:latin typeface="Verdana" panose="020B0604030504040204"/>
              <a:cs typeface="Verdana" panose="020B0604030504040204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6728431" y="2035810"/>
          <a:ext cx="4899660" cy="27736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498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9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623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spc="25" dirty="0">
                          <a:solidFill>
                            <a:srgbClr val="FFFFFF"/>
                          </a:solidFill>
                          <a:latin typeface="Verdana" panose="020B0604030504040204"/>
                          <a:cs typeface="Verdana" panose="020B0604030504040204"/>
                        </a:rPr>
                        <a:t>name</a:t>
                      </a:r>
                      <a:endParaRPr sz="2000">
                        <a:latin typeface="Verdana" panose="020B0604030504040204"/>
                        <a:cs typeface="Verdana" panose="020B0604030504040204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2A9FBB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spc="35" dirty="0">
                          <a:solidFill>
                            <a:srgbClr val="FFFFFF"/>
                          </a:solidFill>
                          <a:latin typeface="Verdana" panose="020B0604030504040204"/>
                          <a:cs typeface="Verdana" panose="020B0604030504040204"/>
                        </a:rPr>
                        <a:t>state</a:t>
                      </a:r>
                      <a:endParaRPr sz="2000">
                        <a:latin typeface="Verdana" panose="020B0604030504040204"/>
                        <a:cs typeface="Verdana" panose="020B0604030504040204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2A9FB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3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spc="30" dirty="0">
                          <a:solidFill>
                            <a:srgbClr val="404040"/>
                          </a:solidFill>
                          <a:latin typeface="Verdana" panose="020B0604030504040204"/>
                          <a:cs typeface="Verdana" panose="020B0604030504040204"/>
                        </a:rPr>
                        <a:t>Amy</a:t>
                      </a:r>
                      <a:endParaRPr sz="2000">
                        <a:latin typeface="Verdana" panose="020B0604030504040204"/>
                        <a:cs typeface="Verdana" panose="020B0604030504040204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FE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spc="35" dirty="0">
                          <a:solidFill>
                            <a:srgbClr val="404040"/>
                          </a:solidFill>
                          <a:latin typeface="Verdana" panose="020B0604030504040204"/>
                          <a:cs typeface="Verdana" panose="020B0604030504040204"/>
                        </a:rPr>
                        <a:t>Oregon</a:t>
                      </a:r>
                      <a:endParaRPr sz="2000">
                        <a:latin typeface="Verdana" panose="020B0604030504040204"/>
                        <a:cs typeface="Verdana" panose="020B0604030504040204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F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3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spc="15" dirty="0">
                          <a:solidFill>
                            <a:srgbClr val="404040"/>
                          </a:solidFill>
                          <a:latin typeface="Verdana" panose="020B0604030504040204"/>
                          <a:cs typeface="Verdana" panose="020B0604030504040204"/>
                        </a:rPr>
                        <a:t>Justin</a:t>
                      </a:r>
                      <a:endParaRPr sz="2000">
                        <a:latin typeface="Verdana" panose="020B0604030504040204"/>
                        <a:cs typeface="Verdana" panose="020B0604030504040204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FF4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spc="30" dirty="0">
                          <a:solidFill>
                            <a:srgbClr val="404040"/>
                          </a:solidFill>
                          <a:latin typeface="Verdana" panose="020B0604030504040204"/>
                          <a:cs typeface="Verdana" panose="020B0604030504040204"/>
                        </a:rPr>
                        <a:t>Wyoming</a:t>
                      </a:r>
                      <a:endParaRPr sz="2000">
                        <a:latin typeface="Verdana" panose="020B0604030504040204"/>
                        <a:cs typeface="Verdana" panose="020B0604030504040204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F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spc="-20" dirty="0">
                          <a:solidFill>
                            <a:srgbClr val="404040"/>
                          </a:solidFill>
                          <a:latin typeface="Verdana" panose="020B0604030504040204"/>
                          <a:cs typeface="Verdana" panose="020B0604030504040204"/>
                        </a:rPr>
                        <a:t>Sheila</a:t>
                      </a:r>
                      <a:endParaRPr sz="2000">
                        <a:latin typeface="Verdana" panose="020B0604030504040204"/>
                        <a:cs typeface="Verdana" panose="020B0604030504040204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FE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spc="-75" dirty="0">
                          <a:solidFill>
                            <a:srgbClr val="404040"/>
                          </a:solidFill>
                          <a:latin typeface="Verdana" panose="020B0604030504040204"/>
                          <a:cs typeface="Verdana" panose="020B0604030504040204"/>
                        </a:rPr>
                        <a:t>Texas</a:t>
                      </a:r>
                      <a:endParaRPr sz="2000">
                        <a:latin typeface="Verdana" panose="020B0604030504040204"/>
                        <a:cs typeface="Verdana" panose="020B0604030504040204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F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spc="55" dirty="0">
                          <a:solidFill>
                            <a:srgbClr val="404040"/>
                          </a:solidFill>
                          <a:latin typeface="Verdana" panose="020B0604030504040204"/>
                          <a:cs typeface="Verdana" panose="020B0604030504040204"/>
                        </a:rPr>
                        <a:t>Jim</a:t>
                      </a:r>
                      <a:endParaRPr sz="2000">
                        <a:latin typeface="Verdana" panose="020B0604030504040204"/>
                        <a:cs typeface="Verdana" panose="020B0604030504040204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FF4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spc="-75" dirty="0">
                          <a:solidFill>
                            <a:srgbClr val="404040"/>
                          </a:solidFill>
                          <a:latin typeface="Verdana" panose="020B0604030504040204"/>
                          <a:cs typeface="Verdana" panose="020B0604030504040204"/>
                        </a:rPr>
                        <a:t>Texas</a:t>
                      </a:r>
                      <a:endParaRPr sz="2000">
                        <a:latin typeface="Verdana" panose="020B0604030504040204"/>
                        <a:cs typeface="Verdana" panose="020B0604030504040204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F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23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spc="-25" dirty="0">
                          <a:solidFill>
                            <a:srgbClr val="404040"/>
                          </a:solidFill>
                          <a:latin typeface="Verdana" panose="020B0604030504040204"/>
                          <a:cs typeface="Verdana" panose="020B0604030504040204"/>
                        </a:rPr>
                        <a:t>Marsha</a:t>
                      </a:r>
                      <a:endParaRPr sz="2000">
                        <a:latin typeface="Verdana" panose="020B0604030504040204"/>
                        <a:cs typeface="Verdana" panose="020B0604030504040204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FE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spc="40" dirty="0">
                          <a:solidFill>
                            <a:srgbClr val="404040"/>
                          </a:solidFill>
                          <a:latin typeface="Verdana" panose="020B0604030504040204"/>
                          <a:cs typeface="Verdana" panose="020B0604030504040204"/>
                        </a:rPr>
                        <a:t>Oregon</a:t>
                      </a:r>
                      <a:endParaRPr sz="2000">
                        <a:latin typeface="Verdana" panose="020B0604030504040204"/>
                        <a:cs typeface="Verdana" panose="020B0604030504040204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F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623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000" spc="15" dirty="0">
                          <a:solidFill>
                            <a:srgbClr val="404040"/>
                          </a:solidFill>
                          <a:latin typeface="Verdana" panose="020B0604030504040204"/>
                          <a:cs typeface="Verdana" panose="020B0604030504040204"/>
                        </a:rPr>
                        <a:t>Richard</a:t>
                      </a:r>
                      <a:endParaRPr sz="2000">
                        <a:latin typeface="Verdana" panose="020B0604030504040204"/>
                        <a:cs typeface="Verdana" panose="020B0604030504040204"/>
                      </a:endParaRPr>
                    </a:p>
                  </a:txBody>
                  <a:tcPr marL="0" marR="0" marT="3619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FF4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000" spc="35" dirty="0">
                          <a:solidFill>
                            <a:srgbClr val="404040"/>
                          </a:solidFill>
                          <a:latin typeface="Verdana" panose="020B0604030504040204"/>
                          <a:cs typeface="Verdana" panose="020B0604030504040204"/>
                        </a:rPr>
                        <a:t>Arizona</a:t>
                      </a:r>
                      <a:endParaRPr sz="2000">
                        <a:latin typeface="Verdana" panose="020B0604030504040204"/>
                        <a:cs typeface="Verdana" panose="020B0604030504040204"/>
                      </a:endParaRPr>
                    </a:p>
                  </a:txBody>
                  <a:tcPr marL="0" marR="0" marT="3619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F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8" name="object 8"/>
          <p:cNvGrpSpPr/>
          <p:nvPr/>
        </p:nvGrpSpPr>
        <p:grpSpPr>
          <a:xfrm>
            <a:off x="686294" y="3560889"/>
            <a:ext cx="4950460" cy="2799080"/>
            <a:chOff x="686294" y="3560889"/>
            <a:chExt cx="4950460" cy="2799080"/>
          </a:xfrm>
        </p:grpSpPr>
        <p:sp>
          <p:nvSpPr>
            <p:cNvPr id="9" name="object 9"/>
            <p:cNvSpPr/>
            <p:nvPr/>
          </p:nvSpPr>
          <p:spPr>
            <a:xfrm>
              <a:off x="711695" y="3969829"/>
              <a:ext cx="4899660" cy="396240"/>
            </a:xfrm>
            <a:custGeom>
              <a:avLst/>
              <a:gdLst/>
              <a:ahLst/>
              <a:cxnLst/>
              <a:rect l="l" t="t" r="r" b="b"/>
              <a:pathLst>
                <a:path w="4899660" h="396239">
                  <a:moveTo>
                    <a:pt x="4899177" y="0"/>
                  </a:moveTo>
                  <a:lnTo>
                    <a:pt x="2449588" y="0"/>
                  </a:lnTo>
                  <a:lnTo>
                    <a:pt x="0" y="0"/>
                  </a:lnTo>
                  <a:lnTo>
                    <a:pt x="0" y="396240"/>
                  </a:lnTo>
                  <a:lnTo>
                    <a:pt x="2449588" y="396240"/>
                  </a:lnTo>
                  <a:lnTo>
                    <a:pt x="4899177" y="396240"/>
                  </a:lnTo>
                  <a:lnTo>
                    <a:pt x="4899177" y="137350"/>
                  </a:lnTo>
                  <a:lnTo>
                    <a:pt x="4899177" y="0"/>
                  </a:lnTo>
                  <a:close/>
                </a:path>
              </a:pathLst>
            </a:custGeom>
            <a:solidFill>
              <a:srgbClr val="DEEB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11695" y="4366069"/>
              <a:ext cx="4899660" cy="396240"/>
            </a:xfrm>
            <a:custGeom>
              <a:avLst/>
              <a:gdLst/>
              <a:ahLst/>
              <a:cxnLst/>
              <a:rect l="l" t="t" r="r" b="b"/>
              <a:pathLst>
                <a:path w="4899660" h="396239">
                  <a:moveTo>
                    <a:pt x="2449588" y="0"/>
                  </a:moveTo>
                  <a:lnTo>
                    <a:pt x="0" y="0"/>
                  </a:lnTo>
                  <a:lnTo>
                    <a:pt x="0" y="122123"/>
                  </a:lnTo>
                  <a:lnTo>
                    <a:pt x="0" y="396240"/>
                  </a:lnTo>
                  <a:lnTo>
                    <a:pt x="2449588" y="396240"/>
                  </a:lnTo>
                  <a:lnTo>
                    <a:pt x="2449588" y="122123"/>
                  </a:lnTo>
                  <a:lnTo>
                    <a:pt x="2449588" y="0"/>
                  </a:lnTo>
                  <a:close/>
                </a:path>
                <a:path w="4899660" h="396239">
                  <a:moveTo>
                    <a:pt x="4899177" y="0"/>
                  </a:moveTo>
                  <a:lnTo>
                    <a:pt x="4536198" y="0"/>
                  </a:lnTo>
                  <a:lnTo>
                    <a:pt x="4536198" y="396240"/>
                  </a:lnTo>
                  <a:lnTo>
                    <a:pt x="4899177" y="396240"/>
                  </a:lnTo>
                  <a:lnTo>
                    <a:pt x="4899177" y="0"/>
                  </a:lnTo>
                  <a:close/>
                </a:path>
              </a:pathLst>
            </a:custGeom>
            <a:solidFill>
              <a:srgbClr val="EEF5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650998" y="4762309"/>
              <a:ext cx="2960370" cy="396240"/>
            </a:xfrm>
            <a:custGeom>
              <a:avLst/>
              <a:gdLst/>
              <a:ahLst/>
              <a:cxnLst/>
              <a:rect l="l" t="t" r="r" b="b"/>
              <a:pathLst>
                <a:path w="2960370" h="396239">
                  <a:moveTo>
                    <a:pt x="2444496" y="0"/>
                  </a:moveTo>
                  <a:lnTo>
                    <a:pt x="510286" y="0"/>
                  </a:lnTo>
                  <a:lnTo>
                    <a:pt x="0" y="0"/>
                  </a:lnTo>
                  <a:lnTo>
                    <a:pt x="0" y="396240"/>
                  </a:lnTo>
                  <a:lnTo>
                    <a:pt x="510286" y="396240"/>
                  </a:lnTo>
                  <a:lnTo>
                    <a:pt x="2444496" y="396240"/>
                  </a:lnTo>
                  <a:lnTo>
                    <a:pt x="2444496" y="0"/>
                  </a:lnTo>
                  <a:close/>
                </a:path>
                <a:path w="2960370" h="396239">
                  <a:moveTo>
                    <a:pt x="2959874" y="0"/>
                  </a:moveTo>
                  <a:lnTo>
                    <a:pt x="2596896" y="0"/>
                  </a:lnTo>
                  <a:lnTo>
                    <a:pt x="2596896" y="396240"/>
                  </a:lnTo>
                  <a:lnTo>
                    <a:pt x="2959874" y="396240"/>
                  </a:lnTo>
                  <a:lnTo>
                    <a:pt x="2959874" y="0"/>
                  </a:lnTo>
                  <a:close/>
                </a:path>
              </a:pathLst>
            </a:custGeom>
            <a:solidFill>
              <a:srgbClr val="DEEB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11695" y="5158549"/>
              <a:ext cx="4899660" cy="396240"/>
            </a:xfrm>
            <a:custGeom>
              <a:avLst/>
              <a:gdLst/>
              <a:ahLst/>
              <a:cxnLst/>
              <a:rect l="l" t="t" r="r" b="b"/>
              <a:pathLst>
                <a:path w="4899660" h="396239">
                  <a:moveTo>
                    <a:pt x="1786902" y="0"/>
                  </a:moveTo>
                  <a:lnTo>
                    <a:pt x="0" y="0"/>
                  </a:lnTo>
                  <a:lnTo>
                    <a:pt x="0" y="396240"/>
                  </a:lnTo>
                  <a:lnTo>
                    <a:pt x="1786902" y="396240"/>
                  </a:lnTo>
                  <a:lnTo>
                    <a:pt x="1786902" y="0"/>
                  </a:lnTo>
                  <a:close/>
                </a:path>
                <a:path w="4899660" h="396239">
                  <a:moveTo>
                    <a:pt x="4383798" y="0"/>
                  </a:moveTo>
                  <a:lnTo>
                    <a:pt x="2449588" y="0"/>
                  </a:lnTo>
                  <a:lnTo>
                    <a:pt x="1939302" y="0"/>
                  </a:lnTo>
                  <a:lnTo>
                    <a:pt x="1939302" y="396240"/>
                  </a:lnTo>
                  <a:lnTo>
                    <a:pt x="2449588" y="396240"/>
                  </a:lnTo>
                  <a:lnTo>
                    <a:pt x="4383798" y="396240"/>
                  </a:lnTo>
                  <a:lnTo>
                    <a:pt x="4383798" y="0"/>
                  </a:lnTo>
                  <a:close/>
                </a:path>
                <a:path w="4899660" h="396239">
                  <a:moveTo>
                    <a:pt x="4899177" y="0"/>
                  </a:moveTo>
                  <a:lnTo>
                    <a:pt x="4536198" y="0"/>
                  </a:lnTo>
                  <a:lnTo>
                    <a:pt x="4536198" y="396240"/>
                  </a:lnTo>
                  <a:lnTo>
                    <a:pt x="4899177" y="396240"/>
                  </a:lnTo>
                  <a:lnTo>
                    <a:pt x="4899177" y="0"/>
                  </a:lnTo>
                  <a:close/>
                </a:path>
              </a:pathLst>
            </a:custGeom>
            <a:solidFill>
              <a:srgbClr val="EEF5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11695" y="5554789"/>
              <a:ext cx="4899660" cy="396875"/>
            </a:xfrm>
            <a:custGeom>
              <a:avLst/>
              <a:gdLst/>
              <a:ahLst/>
              <a:cxnLst/>
              <a:rect l="l" t="t" r="r" b="b"/>
              <a:pathLst>
                <a:path w="4899660" h="396875">
                  <a:moveTo>
                    <a:pt x="1786902" y="0"/>
                  </a:moveTo>
                  <a:lnTo>
                    <a:pt x="0" y="0"/>
                  </a:lnTo>
                  <a:lnTo>
                    <a:pt x="0" y="396252"/>
                  </a:lnTo>
                  <a:lnTo>
                    <a:pt x="1786902" y="396252"/>
                  </a:lnTo>
                  <a:lnTo>
                    <a:pt x="1786902" y="0"/>
                  </a:lnTo>
                  <a:close/>
                </a:path>
                <a:path w="4899660" h="396875">
                  <a:moveTo>
                    <a:pt x="4899177" y="0"/>
                  </a:moveTo>
                  <a:lnTo>
                    <a:pt x="2449588" y="0"/>
                  </a:lnTo>
                  <a:lnTo>
                    <a:pt x="1939302" y="0"/>
                  </a:lnTo>
                  <a:lnTo>
                    <a:pt x="1939302" y="396252"/>
                  </a:lnTo>
                  <a:lnTo>
                    <a:pt x="2449588" y="396252"/>
                  </a:lnTo>
                  <a:lnTo>
                    <a:pt x="4899177" y="396252"/>
                  </a:lnTo>
                  <a:lnTo>
                    <a:pt x="4899177" y="299999"/>
                  </a:lnTo>
                  <a:lnTo>
                    <a:pt x="4899177" y="0"/>
                  </a:lnTo>
                  <a:close/>
                </a:path>
              </a:pathLst>
            </a:custGeom>
            <a:solidFill>
              <a:srgbClr val="DEEB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11695" y="5951029"/>
              <a:ext cx="4899660" cy="396240"/>
            </a:xfrm>
            <a:custGeom>
              <a:avLst/>
              <a:gdLst/>
              <a:ahLst/>
              <a:cxnLst/>
              <a:rect l="l" t="t" r="r" b="b"/>
              <a:pathLst>
                <a:path w="4899660" h="396239">
                  <a:moveTo>
                    <a:pt x="4899177" y="0"/>
                  </a:moveTo>
                  <a:lnTo>
                    <a:pt x="2449588" y="0"/>
                  </a:lnTo>
                  <a:lnTo>
                    <a:pt x="0" y="0"/>
                  </a:lnTo>
                  <a:lnTo>
                    <a:pt x="0" y="284759"/>
                  </a:lnTo>
                  <a:lnTo>
                    <a:pt x="0" y="396240"/>
                  </a:lnTo>
                  <a:lnTo>
                    <a:pt x="2449588" y="396240"/>
                  </a:lnTo>
                  <a:lnTo>
                    <a:pt x="4899177" y="396240"/>
                  </a:lnTo>
                  <a:lnTo>
                    <a:pt x="4899177" y="0"/>
                  </a:lnTo>
                  <a:close/>
                </a:path>
              </a:pathLst>
            </a:custGeom>
            <a:solidFill>
              <a:srgbClr val="EEF5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161281" y="3567239"/>
              <a:ext cx="0" cy="2786380"/>
            </a:xfrm>
            <a:custGeom>
              <a:avLst/>
              <a:gdLst/>
              <a:ahLst/>
              <a:cxnLst/>
              <a:rect l="l" t="t" r="r" b="b"/>
              <a:pathLst>
                <a:path h="2786379">
                  <a:moveTo>
                    <a:pt x="0" y="0"/>
                  </a:moveTo>
                  <a:lnTo>
                    <a:pt x="0" y="278638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05344" y="3969829"/>
              <a:ext cx="4912360" cy="0"/>
            </a:xfrm>
            <a:custGeom>
              <a:avLst/>
              <a:gdLst/>
              <a:ahLst/>
              <a:cxnLst/>
              <a:rect l="l" t="t" r="r" b="b"/>
              <a:pathLst>
                <a:path w="4912360">
                  <a:moveTo>
                    <a:pt x="0" y="0"/>
                  </a:moveTo>
                  <a:lnTo>
                    <a:pt x="4911877" y="0"/>
                  </a:lnTo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05344" y="4366069"/>
              <a:ext cx="4390390" cy="0"/>
            </a:xfrm>
            <a:custGeom>
              <a:avLst/>
              <a:gdLst/>
              <a:ahLst/>
              <a:cxnLst/>
              <a:rect l="l" t="t" r="r" b="b"/>
              <a:pathLst>
                <a:path w="4390390">
                  <a:moveTo>
                    <a:pt x="0" y="0"/>
                  </a:moveTo>
                  <a:lnTo>
                    <a:pt x="4390149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05332" y="4359719"/>
              <a:ext cx="4912360" cy="408940"/>
            </a:xfrm>
            <a:custGeom>
              <a:avLst/>
              <a:gdLst/>
              <a:ahLst/>
              <a:cxnLst/>
              <a:rect l="l" t="t" r="r" b="b"/>
              <a:pathLst>
                <a:path w="4912360" h="408939">
                  <a:moveTo>
                    <a:pt x="1793265" y="396240"/>
                  </a:moveTo>
                  <a:lnTo>
                    <a:pt x="0" y="396240"/>
                  </a:lnTo>
                  <a:lnTo>
                    <a:pt x="0" y="408940"/>
                  </a:lnTo>
                  <a:lnTo>
                    <a:pt x="1793265" y="408940"/>
                  </a:lnTo>
                  <a:lnTo>
                    <a:pt x="1793265" y="396240"/>
                  </a:lnTo>
                  <a:close/>
                </a:path>
                <a:path w="4912360" h="408939">
                  <a:moveTo>
                    <a:pt x="4911877" y="0"/>
                  </a:moveTo>
                  <a:lnTo>
                    <a:pt x="4542561" y="0"/>
                  </a:lnTo>
                  <a:lnTo>
                    <a:pt x="4542561" y="12700"/>
                  </a:lnTo>
                  <a:lnTo>
                    <a:pt x="4911877" y="12700"/>
                  </a:lnTo>
                  <a:lnTo>
                    <a:pt x="491187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650997" y="4762309"/>
              <a:ext cx="2444750" cy="0"/>
            </a:xfrm>
            <a:custGeom>
              <a:avLst/>
              <a:gdLst/>
              <a:ahLst/>
              <a:cxnLst/>
              <a:rect l="l" t="t" r="r" b="b"/>
              <a:pathLst>
                <a:path w="2444750">
                  <a:moveTo>
                    <a:pt x="0" y="0"/>
                  </a:moveTo>
                  <a:lnTo>
                    <a:pt x="2444496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247893" y="4755959"/>
              <a:ext cx="369570" cy="12700"/>
            </a:xfrm>
            <a:custGeom>
              <a:avLst/>
              <a:gdLst/>
              <a:ahLst/>
              <a:cxnLst/>
              <a:rect l="l" t="t" r="r" b="b"/>
              <a:pathLst>
                <a:path w="369570" h="12700">
                  <a:moveTo>
                    <a:pt x="0" y="12700"/>
                  </a:moveTo>
                  <a:lnTo>
                    <a:pt x="369327" y="12700"/>
                  </a:lnTo>
                  <a:lnTo>
                    <a:pt x="369327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650997" y="5158549"/>
              <a:ext cx="2444750" cy="0"/>
            </a:xfrm>
            <a:custGeom>
              <a:avLst/>
              <a:gdLst/>
              <a:ahLst/>
              <a:cxnLst/>
              <a:rect l="l" t="t" r="r" b="b"/>
              <a:pathLst>
                <a:path w="2444750">
                  <a:moveTo>
                    <a:pt x="0" y="0"/>
                  </a:moveTo>
                  <a:lnTo>
                    <a:pt x="2444496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247893" y="5152199"/>
              <a:ext cx="369570" cy="12700"/>
            </a:xfrm>
            <a:custGeom>
              <a:avLst/>
              <a:gdLst/>
              <a:ahLst/>
              <a:cxnLst/>
              <a:rect l="l" t="t" r="r" b="b"/>
              <a:pathLst>
                <a:path w="369570" h="12700">
                  <a:moveTo>
                    <a:pt x="0" y="12700"/>
                  </a:moveTo>
                  <a:lnTo>
                    <a:pt x="369327" y="12700"/>
                  </a:lnTo>
                  <a:lnTo>
                    <a:pt x="369327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650997" y="5554789"/>
              <a:ext cx="2966720" cy="396240"/>
            </a:xfrm>
            <a:custGeom>
              <a:avLst/>
              <a:gdLst/>
              <a:ahLst/>
              <a:cxnLst/>
              <a:rect l="l" t="t" r="r" b="b"/>
              <a:pathLst>
                <a:path w="2966720" h="396239">
                  <a:moveTo>
                    <a:pt x="0" y="0"/>
                  </a:moveTo>
                  <a:lnTo>
                    <a:pt x="2444496" y="0"/>
                  </a:lnTo>
                </a:path>
                <a:path w="2966720" h="396239">
                  <a:moveTo>
                    <a:pt x="2596896" y="0"/>
                  </a:moveTo>
                  <a:lnTo>
                    <a:pt x="2966223" y="0"/>
                  </a:lnTo>
                </a:path>
                <a:path w="2966720" h="396239">
                  <a:moveTo>
                    <a:pt x="0" y="396240"/>
                  </a:moveTo>
                  <a:lnTo>
                    <a:pt x="2966223" y="39624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711694" y="3567239"/>
              <a:ext cx="0" cy="2786380"/>
            </a:xfrm>
            <a:custGeom>
              <a:avLst/>
              <a:gdLst/>
              <a:ahLst/>
              <a:cxnLst/>
              <a:rect l="l" t="t" r="r" b="b"/>
              <a:pathLst>
                <a:path h="2786379">
                  <a:moveTo>
                    <a:pt x="0" y="0"/>
                  </a:moveTo>
                  <a:lnTo>
                    <a:pt x="0" y="278638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610870" y="3567239"/>
              <a:ext cx="0" cy="2786380"/>
            </a:xfrm>
            <a:custGeom>
              <a:avLst/>
              <a:gdLst/>
              <a:ahLst/>
              <a:cxnLst/>
              <a:rect l="l" t="t" r="r" b="b"/>
              <a:pathLst>
                <a:path h="2786379">
                  <a:moveTo>
                    <a:pt x="0" y="0"/>
                  </a:moveTo>
                  <a:lnTo>
                    <a:pt x="0" y="278638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705344" y="3573589"/>
              <a:ext cx="4912360" cy="0"/>
            </a:xfrm>
            <a:custGeom>
              <a:avLst/>
              <a:gdLst/>
              <a:ahLst/>
              <a:cxnLst/>
              <a:rect l="l" t="t" r="r" b="b"/>
              <a:pathLst>
                <a:path w="4912360">
                  <a:moveTo>
                    <a:pt x="0" y="0"/>
                  </a:moveTo>
                  <a:lnTo>
                    <a:pt x="4911877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705344" y="6347269"/>
              <a:ext cx="4912360" cy="0"/>
            </a:xfrm>
            <a:custGeom>
              <a:avLst/>
              <a:gdLst/>
              <a:ahLst/>
              <a:cxnLst/>
              <a:rect l="l" t="t" r="r" b="b"/>
              <a:pathLst>
                <a:path w="4912360">
                  <a:moveTo>
                    <a:pt x="0" y="0"/>
                  </a:moveTo>
                  <a:lnTo>
                    <a:pt x="4911877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718044" y="3579939"/>
            <a:ext cx="2437130" cy="370840"/>
          </a:xfrm>
          <a:prstGeom prst="rect">
            <a:avLst/>
          </a:prstGeom>
          <a:solidFill>
            <a:srgbClr val="9BC750"/>
          </a:solidFill>
        </p:spPr>
        <p:txBody>
          <a:bodyPr vert="horz" wrap="square" lIns="0" tIns="29209" rIns="0" bIns="0" rtlCol="0">
            <a:spAutoFit/>
          </a:bodyPr>
          <a:lstStyle/>
          <a:p>
            <a:pPr marL="85090">
              <a:lnSpc>
                <a:spcPct val="100000"/>
              </a:lnSpc>
              <a:spcBef>
                <a:spcPts val="230"/>
              </a:spcBef>
            </a:pPr>
            <a:r>
              <a:rPr sz="2000" spc="5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Name</a:t>
            </a:r>
            <a:endParaRPr sz="2000">
              <a:latin typeface="Verdana" panose="020B0604030504040204"/>
              <a:cs typeface="Verdana" panose="020B0604030504040204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167631" y="3579939"/>
            <a:ext cx="2437130" cy="370840"/>
          </a:xfrm>
          <a:prstGeom prst="rect">
            <a:avLst/>
          </a:prstGeom>
          <a:solidFill>
            <a:srgbClr val="9BC750"/>
          </a:solidFill>
        </p:spPr>
        <p:txBody>
          <a:bodyPr vert="horz" wrap="square" lIns="0" tIns="29209" rIns="0" bIns="0" rtlCol="0">
            <a:spAutoFit/>
          </a:bodyPr>
          <a:lstStyle/>
          <a:p>
            <a:pPr marL="84455">
              <a:lnSpc>
                <a:spcPct val="100000"/>
              </a:lnSpc>
              <a:spcBef>
                <a:spcPts val="230"/>
              </a:spcBef>
            </a:pPr>
            <a:r>
              <a:rPr sz="2000" spc="3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state</a:t>
            </a:r>
            <a:endParaRPr sz="2000">
              <a:latin typeface="Verdana" panose="020B0604030504040204"/>
              <a:cs typeface="Verdana" panose="020B0604030504040204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718044" y="3992942"/>
            <a:ext cx="243713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5090">
              <a:lnSpc>
                <a:spcPct val="100000"/>
              </a:lnSpc>
              <a:spcBef>
                <a:spcPts val="95"/>
              </a:spcBef>
            </a:pPr>
            <a:r>
              <a:rPr sz="2000" spc="15" dirty="0">
                <a:solidFill>
                  <a:srgbClr val="404040"/>
                </a:solidFill>
                <a:latin typeface="Verdana" panose="020B0604030504040204"/>
                <a:cs typeface="Verdana" panose="020B0604030504040204"/>
              </a:rPr>
              <a:t>Justin</a:t>
            </a:r>
            <a:endParaRPr sz="2000">
              <a:latin typeface="Verdana" panose="020B0604030504040204"/>
              <a:cs typeface="Verdana" panose="020B0604030504040204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240097" y="3992942"/>
            <a:ext cx="125031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30" dirty="0">
                <a:solidFill>
                  <a:srgbClr val="404040"/>
                </a:solidFill>
                <a:latin typeface="Verdana" panose="020B0604030504040204"/>
                <a:cs typeface="Verdana" panose="020B0604030504040204"/>
              </a:rPr>
              <a:t>Wyoming</a:t>
            </a:r>
            <a:endParaRPr sz="2000">
              <a:latin typeface="Verdana" panose="020B0604030504040204"/>
              <a:cs typeface="Verdana" panose="020B0604030504040204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711694" y="4366069"/>
            <a:ext cx="2449830" cy="396240"/>
          </a:xfrm>
          <a:prstGeom prst="rect">
            <a:avLst/>
          </a:prstGeom>
          <a:ln w="12700">
            <a:solidFill>
              <a:srgbClr val="FFFFFF"/>
            </a:solidFill>
          </a:ln>
        </p:spPr>
        <p:txBody>
          <a:bodyPr vert="horz" wrap="square" lIns="0" tIns="3556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280"/>
              </a:spcBef>
            </a:pPr>
            <a:r>
              <a:rPr sz="2000" spc="55" dirty="0">
                <a:solidFill>
                  <a:srgbClr val="404040"/>
                </a:solidFill>
                <a:latin typeface="Verdana" panose="020B0604030504040204"/>
                <a:cs typeface="Verdana" panose="020B0604030504040204"/>
              </a:rPr>
              <a:t>Jim</a:t>
            </a:r>
            <a:endParaRPr sz="2000">
              <a:latin typeface="Verdana" panose="020B0604030504040204"/>
              <a:cs typeface="Verdana" panose="020B0604030504040204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167631" y="4372419"/>
            <a:ext cx="1927860" cy="383540"/>
          </a:xfrm>
          <a:prstGeom prst="rect">
            <a:avLst/>
          </a:prstGeom>
          <a:solidFill>
            <a:srgbClr val="EEF5E9"/>
          </a:solidFill>
        </p:spPr>
        <p:txBody>
          <a:bodyPr vert="horz" wrap="square" lIns="0" tIns="29209" rIns="0" bIns="0" rtlCol="0">
            <a:spAutoFit/>
          </a:bodyPr>
          <a:lstStyle/>
          <a:p>
            <a:pPr marL="85090">
              <a:lnSpc>
                <a:spcPct val="100000"/>
              </a:lnSpc>
              <a:spcBef>
                <a:spcPts val="230"/>
              </a:spcBef>
            </a:pPr>
            <a:r>
              <a:rPr sz="2000" spc="-75" dirty="0">
                <a:solidFill>
                  <a:srgbClr val="404040"/>
                </a:solidFill>
                <a:latin typeface="Verdana" panose="020B0604030504040204"/>
                <a:cs typeface="Verdana" panose="020B0604030504040204"/>
              </a:rPr>
              <a:t>Texas</a:t>
            </a:r>
            <a:endParaRPr sz="2000">
              <a:latin typeface="Verdana" panose="020B0604030504040204"/>
              <a:cs typeface="Verdana" panose="020B0604030504040204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718044" y="4768659"/>
            <a:ext cx="1781175" cy="383540"/>
          </a:xfrm>
          <a:prstGeom prst="rect">
            <a:avLst/>
          </a:prstGeom>
          <a:solidFill>
            <a:srgbClr val="DEEBD0"/>
          </a:solidFill>
        </p:spPr>
        <p:txBody>
          <a:bodyPr vert="horz" wrap="square" lIns="0" tIns="29209" rIns="0" bIns="0" rtlCol="0">
            <a:spAutoFit/>
          </a:bodyPr>
          <a:lstStyle/>
          <a:p>
            <a:pPr marL="84455">
              <a:lnSpc>
                <a:spcPct val="100000"/>
              </a:lnSpc>
              <a:spcBef>
                <a:spcPts val="230"/>
              </a:spcBef>
            </a:pPr>
            <a:r>
              <a:rPr sz="2000" spc="-20" dirty="0">
                <a:solidFill>
                  <a:srgbClr val="404040"/>
                </a:solidFill>
                <a:latin typeface="Verdana" panose="020B0604030504040204"/>
                <a:cs typeface="Verdana" panose="020B0604030504040204"/>
              </a:rPr>
              <a:t>Sheila</a:t>
            </a:r>
            <a:endParaRPr sz="2000">
              <a:latin typeface="Verdana" panose="020B0604030504040204"/>
              <a:cs typeface="Verdana" panose="020B0604030504040204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3161281" y="4762309"/>
            <a:ext cx="2449830" cy="396240"/>
          </a:xfrm>
          <a:prstGeom prst="rect">
            <a:avLst/>
          </a:prstGeom>
          <a:ln w="12700">
            <a:solidFill>
              <a:srgbClr val="FFFFFF"/>
            </a:solidFill>
          </a:ln>
        </p:spPr>
        <p:txBody>
          <a:bodyPr vert="horz" wrap="square" lIns="0" tIns="3556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280"/>
              </a:spcBef>
            </a:pPr>
            <a:r>
              <a:rPr sz="2000" spc="-75" dirty="0">
                <a:solidFill>
                  <a:srgbClr val="404040"/>
                </a:solidFill>
                <a:latin typeface="Verdana" panose="020B0604030504040204"/>
                <a:cs typeface="Verdana" panose="020B0604030504040204"/>
              </a:rPr>
              <a:t>Texas</a:t>
            </a:r>
            <a:endParaRPr sz="2000">
              <a:latin typeface="Verdana" panose="020B0604030504040204"/>
              <a:cs typeface="Verdana" panose="020B0604030504040204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711694" y="5158549"/>
            <a:ext cx="2449830" cy="396240"/>
          </a:xfrm>
          <a:prstGeom prst="rect">
            <a:avLst/>
          </a:prstGeom>
          <a:ln w="12700">
            <a:solidFill>
              <a:srgbClr val="FFFFFF"/>
            </a:solidFill>
          </a:ln>
        </p:spPr>
        <p:txBody>
          <a:bodyPr vert="horz" wrap="square" lIns="0" tIns="3556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280"/>
              </a:spcBef>
            </a:pPr>
            <a:r>
              <a:rPr sz="2000" spc="30" dirty="0">
                <a:solidFill>
                  <a:srgbClr val="404040"/>
                </a:solidFill>
                <a:latin typeface="Verdana" panose="020B0604030504040204"/>
                <a:cs typeface="Verdana" panose="020B0604030504040204"/>
              </a:rPr>
              <a:t>Amy</a:t>
            </a:r>
            <a:endParaRPr sz="2000">
              <a:latin typeface="Verdana" panose="020B0604030504040204"/>
              <a:cs typeface="Verdana" panose="020B0604030504040204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3161281" y="5158549"/>
            <a:ext cx="2449830" cy="396240"/>
          </a:xfrm>
          <a:prstGeom prst="rect">
            <a:avLst/>
          </a:prstGeom>
          <a:ln w="12700">
            <a:solidFill>
              <a:srgbClr val="FFFFFF"/>
            </a:solidFill>
          </a:ln>
        </p:spPr>
        <p:txBody>
          <a:bodyPr vert="horz" wrap="square" lIns="0" tIns="3556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280"/>
              </a:spcBef>
            </a:pPr>
            <a:r>
              <a:rPr sz="2000" spc="35" dirty="0">
                <a:solidFill>
                  <a:srgbClr val="404040"/>
                </a:solidFill>
                <a:latin typeface="Verdana" panose="020B0604030504040204"/>
                <a:cs typeface="Verdana" panose="020B0604030504040204"/>
              </a:rPr>
              <a:t>Oregon</a:t>
            </a:r>
            <a:endParaRPr sz="2000">
              <a:latin typeface="Verdana" panose="020B0604030504040204"/>
              <a:cs typeface="Verdana" panose="020B0604030504040204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711694" y="5554789"/>
            <a:ext cx="2449830" cy="396240"/>
          </a:xfrm>
          <a:prstGeom prst="rect">
            <a:avLst/>
          </a:prstGeom>
          <a:ln w="12700">
            <a:solidFill>
              <a:srgbClr val="FFFFFF"/>
            </a:solidFill>
          </a:ln>
        </p:spPr>
        <p:txBody>
          <a:bodyPr vert="horz" wrap="square" lIns="0" tIns="3556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280"/>
              </a:spcBef>
            </a:pPr>
            <a:r>
              <a:rPr sz="2000" spc="-25" dirty="0">
                <a:solidFill>
                  <a:srgbClr val="404040"/>
                </a:solidFill>
                <a:latin typeface="Verdana" panose="020B0604030504040204"/>
                <a:cs typeface="Verdana" panose="020B0604030504040204"/>
              </a:rPr>
              <a:t>Marsha</a:t>
            </a:r>
            <a:endParaRPr sz="2000">
              <a:latin typeface="Verdana" panose="020B0604030504040204"/>
              <a:cs typeface="Verdana" panose="020B0604030504040204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3240097" y="5578347"/>
            <a:ext cx="98933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60" dirty="0">
                <a:solidFill>
                  <a:srgbClr val="404040"/>
                </a:solidFill>
                <a:latin typeface="Verdana" panose="020B0604030504040204"/>
                <a:cs typeface="Verdana" panose="020B0604030504040204"/>
              </a:rPr>
              <a:t>O</a:t>
            </a:r>
            <a:r>
              <a:rPr sz="2000" spc="-5" dirty="0">
                <a:solidFill>
                  <a:srgbClr val="404040"/>
                </a:solidFill>
                <a:latin typeface="Verdana" panose="020B0604030504040204"/>
                <a:cs typeface="Verdana" panose="020B0604030504040204"/>
              </a:rPr>
              <a:t>r</a:t>
            </a:r>
            <a:r>
              <a:rPr sz="2000" spc="10" dirty="0">
                <a:solidFill>
                  <a:srgbClr val="404040"/>
                </a:solidFill>
                <a:latin typeface="Verdana" panose="020B0604030504040204"/>
                <a:cs typeface="Verdana" panose="020B0604030504040204"/>
              </a:rPr>
              <a:t>e</a:t>
            </a:r>
            <a:r>
              <a:rPr sz="2000" spc="95" dirty="0">
                <a:solidFill>
                  <a:srgbClr val="404040"/>
                </a:solidFill>
                <a:latin typeface="Verdana" panose="020B0604030504040204"/>
                <a:cs typeface="Verdana" panose="020B0604030504040204"/>
              </a:rPr>
              <a:t>go</a:t>
            </a:r>
            <a:r>
              <a:rPr sz="2000" spc="-30" dirty="0">
                <a:solidFill>
                  <a:srgbClr val="404040"/>
                </a:solidFill>
                <a:latin typeface="Verdana" panose="020B0604030504040204"/>
                <a:cs typeface="Verdana" panose="020B0604030504040204"/>
              </a:rPr>
              <a:t>n</a:t>
            </a:r>
            <a:endParaRPr sz="2000">
              <a:latin typeface="Verdana" panose="020B0604030504040204"/>
              <a:cs typeface="Verdana" panose="020B0604030504040204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711694" y="5951029"/>
            <a:ext cx="2449830" cy="396240"/>
          </a:xfrm>
          <a:prstGeom prst="rect">
            <a:avLst/>
          </a:prstGeom>
          <a:ln w="12700">
            <a:solidFill>
              <a:srgbClr val="FFFFFF"/>
            </a:solidFill>
          </a:ln>
        </p:spPr>
        <p:txBody>
          <a:bodyPr vert="horz" wrap="square" lIns="0" tIns="36194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285"/>
              </a:spcBef>
            </a:pPr>
            <a:r>
              <a:rPr sz="2000" spc="15" dirty="0">
                <a:solidFill>
                  <a:srgbClr val="404040"/>
                </a:solidFill>
                <a:latin typeface="Verdana" panose="020B0604030504040204"/>
                <a:cs typeface="Verdana" panose="020B0604030504040204"/>
              </a:rPr>
              <a:t>Richard</a:t>
            </a:r>
            <a:endParaRPr sz="2000">
              <a:latin typeface="Verdana" panose="020B0604030504040204"/>
              <a:cs typeface="Verdana" panose="020B0604030504040204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3161281" y="5951029"/>
            <a:ext cx="2449830" cy="396240"/>
          </a:xfrm>
          <a:prstGeom prst="rect">
            <a:avLst/>
          </a:prstGeom>
          <a:ln w="12700">
            <a:solidFill>
              <a:srgbClr val="FFFFFF"/>
            </a:solidFill>
          </a:ln>
        </p:spPr>
        <p:txBody>
          <a:bodyPr vert="horz" wrap="square" lIns="0" tIns="36194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285"/>
              </a:spcBef>
            </a:pPr>
            <a:r>
              <a:rPr sz="2000" spc="35" dirty="0">
                <a:solidFill>
                  <a:srgbClr val="404040"/>
                </a:solidFill>
                <a:latin typeface="Verdana" panose="020B0604030504040204"/>
                <a:cs typeface="Verdana" panose="020B0604030504040204"/>
              </a:rPr>
              <a:t>Arizona</a:t>
            </a:r>
            <a:endParaRPr sz="2000">
              <a:latin typeface="Verdana" panose="020B0604030504040204"/>
              <a:cs typeface="Verdana" panose="020B0604030504040204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2346219" y="4107179"/>
            <a:ext cx="3054350" cy="2129155"/>
            <a:chOff x="2346219" y="4107179"/>
            <a:chExt cx="3054350" cy="2129155"/>
          </a:xfrm>
        </p:grpSpPr>
        <p:sp>
          <p:nvSpPr>
            <p:cNvPr id="43" name="object 43"/>
            <p:cNvSpPr/>
            <p:nvPr/>
          </p:nvSpPr>
          <p:spPr>
            <a:xfrm>
              <a:off x="5095494" y="4107179"/>
              <a:ext cx="152400" cy="1748155"/>
            </a:xfrm>
            <a:custGeom>
              <a:avLst/>
              <a:gdLst/>
              <a:ahLst/>
              <a:cxnLst/>
              <a:rect l="l" t="t" r="r" b="b"/>
              <a:pathLst>
                <a:path w="152400" h="1748154">
                  <a:moveTo>
                    <a:pt x="0" y="1747608"/>
                  </a:moveTo>
                  <a:lnTo>
                    <a:pt x="152400" y="1747608"/>
                  </a:lnTo>
                  <a:lnTo>
                    <a:pt x="152400" y="0"/>
                  </a:lnTo>
                  <a:lnTo>
                    <a:pt x="0" y="0"/>
                  </a:lnTo>
                  <a:lnTo>
                    <a:pt x="0" y="1747608"/>
                  </a:lnTo>
                  <a:close/>
                </a:path>
              </a:pathLst>
            </a:custGeom>
            <a:solidFill>
              <a:srgbClr val="2A9F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4943115" y="5778568"/>
              <a:ext cx="457200" cy="457834"/>
            </a:xfrm>
            <a:custGeom>
              <a:avLst/>
              <a:gdLst/>
              <a:ahLst/>
              <a:cxnLst/>
              <a:rect l="l" t="t" r="r" b="b"/>
              <a:pathLst>
                <a:path w="457200" h="457835">
                  <a:moveTo>
                    <a:pt x="457200" y="25"/>
                  </a:moveTo>
                  <a:lnTo>
                    <a:pt x="0" y="0"/>
                  </a:lnTo>
                  <a:lnTo>
                    <a:pt x="228574" y="457212"/>
                  </a:lnTo>
                  <a:lnTo>
                    <a:pt x="457200" y="25"/>
                  </a:lnTo>
                  <a:close/>
                </a:path>
              </a:pathLst>
            </a:custGeom>
            <a:solidFill>
              <a:srgbClr val="2A9F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2498597" y="4488185"/>
              <a:ext cx="152400" cy="1748155"/>
            </a:xfrm>
            <a:custGeom>
              <a:avLst/>
              <a:gdLst/>
              <a:ahLst/>
              <a:cxnLst/>
              <a:rect l="l" t="t" r="r" b="b"/>
              <a:pathLst>
                <a:path w="152400" h="1748154">
                  <a:moveTo>
                    <a:pt x="0" y="1747596"/>
                  </a:moveTo>
                  <a:lnTo>
                    <a:pt x="152400" y="1747596"/>
                  </a:lnTo>
                  <a:lnTo>
                    <a:pt x="152400" y="0"/>
                  </a:lnTo>
                  <a:lnTo>
                    <a:pt x="0" y="0"/>
                  </a:lnTo>
                  <a:lnTo>
                    <a:pt x="0" y="1747596"/>
                  </a:lnTo>
                  <a:close/>
                </a:path>
              </a:pathLst>
            </a:custGeom>
            <a:solidFill>
              <a:srgbClr val="EF5A2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2346219" y="4107182"/>
              <a:ext cx="457200" cy="457834"/>
            </a:xfrm>
            <a:custGeom>
              <a:avLst/>
              <a:gdLst/>
              <a:ahLst/>
              <a:cxnLst/>
              <a:rect l="l" t="t" r="r" b="b"/>
              <a:pathLst>
                <a:path w="457200" h="457835">
                  <a:moveTo>
                    <a:pt x="228574" y="0"/>
                  </a:moveTo>
                  <a:lnTo>
                    <a:pt x="0" y="457212"/>
                  </a:lnTo>
                  <a:lnTo>
                    <a:pt x="457200" y="457187"/>
                  </a:lnTo>
                  <a:lnTo>
                    <a:pt x="228574" y="0"/>
                  </a:lnTo>
                  <a:close/>
                </a:path>
              </a:pathLst>
            </a:custGeom>
            <a:solidFill>
              <a:srgbClr val="EF5A2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Slide Number Placeholder 46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/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6096000" cy="6858000"/>
          </a:xfrm>
          <a:custGeom>
            <a:avLst/>
            <a:gdLst/>
            <a:ahLst/>
            <a:cxnLst/>
            <a:rect l="l" t="t" r="r" b="b"/>
            <a:pathLst>
              <a:path w="6096000" h="6858000">
                <a:moveTo>
                  <a:pt x="6096000" y="0"/>
                </a:moveTo>
                <a:lnTo>
                  <a:pt x="0" y="0"/>
                </a:lnTo>
                <a:lnTo>
                  <a:pt x="0" y="6858000"/>
                </a:lnTo>
                <a:lnTo>
                  <a:pt x="6096000" y="6858000"/>
                </a:lnTo>
                <a:lnTo>
                  <a:pt x="6096000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45343" y="754380"/>
            <a:ext cx="1961514" cy="9251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5" dirty="0">
                <a:latin typeface="Arial MT"/>
                <a:cs typeface="Arial MT"/>
              </a:rPr>
              <a:t>SELECT</a:t>
            </a:r>
            <a:r>
              <a:rPr sz="2200" spc="-12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name,</a:t>
            </a:r>
            <a:endParaRPr sz="2200">
              <a:latin typeface="Arial MT"/>
              <a:cs typeface="Arial MT"/>
            </a:endParaRPr>
          </a:p>
          <a:p>
            <a:pPr marL="556895">
              <a:lnSpc>
                <a:spcPct val="100000"/>
              </a:lnSpc>
              <a:spcBef>
                <a:spcPts val="1800"/>
              </a:spcBef>
            </a:pPr>
            <a:r>
              <a:rPr sz="2200" dirty="0">
                <a:latin typeface="Arial MT"/>
                <a:cs typeface="Arial MT"/>
              </a:rPr>
              <a:t>state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23086" y="1881945"/>
            <a:ext cx="3512820" cy="9251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100"/>
              </a:spcBef>
            </a:pP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FROM</a:t>
            </a:r>
            <a:r>
              <a:rPr sz="22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residency</a:t>
            </a:r>
            <a:endParaRPr sz="2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800"/>
              </a:spcBef>
            </a:pP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ORDER</a:t>
            </a:r>
            <a:r>
              <a:rPr sz="22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FFFFFF"/>
                </a:solidFill>
                <a:latin typeface="Arial MT"/>
                <a:cs typeface="Arial MT"/>
              </a:rPr>
              <a:t>BY</a:t>
            </a:r>
            <a:r>
              <a:rPr sz="2200" spc="-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A9FBB"/>
                </a:solidFill>
                <a:latin typeface="Arial MT"/>
                <a:cs typeface="Arial MT"/>
              </a:rPr>
              <a:t>2</a:t>
            </a:r>
            <a:r>
              <a:rPr sz="2200" spc="-10" dirty="0">
                <a:solidFill>
                  <a:srgbClr val="2A9FBB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A9FBB"/>
                </a:solidFill>
                <a:latin typeface="Arial MT"/>
                <a:cs typeface="Arial MT"/>
              </a:rPr>
              <a:t>DESC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,</a:t>
            </a:r>
            <a:r>
              <a:rPr sz="22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EF5A28"/>
                </a:solidFill>
                <a:latin typeface="Arial MT"/>
                <a:cs typeface="Arial MT"/>
              </a:rPr>
              <a:t>1</a:t>
            </a:r>
            <a:r>
              <a:rPr sz="2200" spc="-125" dirty="0">
                <a:solidFill>
                  <a:srgbClr val="EF5A28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EF5A28"/>
                </a:solidFill>
                <a:latin typeface="Arial MT"/>
                <a:cs typeface="Arial MT"/>
              </a:rPr>
              <a:t>ASC</a:t>
            </a:r>
            <a:endParaRPr sz="22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34556" y="774954"/>
            <a:ext cx="752093" cy="68198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7761795" y="810296"/>
            <a:ext cx="24758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30" dirty="0">
                <a:solidFill>
                  <a:srgbClr val="404040"/>
                </a:solidFill>
                <a:latin typeface="Verdana" panose="020B0604030504040204"/>
                <a:cs typeface="Verdana" panose="020B0604030504040204"/>
              </a:rPr>
              <a:t>Residency</a:t>
            </a:r>
            <a:r>
              <a:rPr sz="2400" spc="-160" dirty="0">
                <a:solidFill>
                  <a:srgbClr val="404040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400" spc="30" dirty="0">
                <a:solidFill>
                  <a:srgbClr val="404040"/>
                </a:solidFill>
                <a:latin typeface="Verdana" panose="020B0604030504040204"/>
                <a:cs typeface="Verdana" panose="020B0604030504040204"/>
              </a:rPr>
              <a:t>table</a:t>
            </a:r>
            <a:endParaRPr sz="2400">
              <a:latin typeface="Verdana" panose="020B0604030504040204"/>
              <a:cs typeface="Verdana" panose="020B0604030504040204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6728431" y="2035810"/>
          <a:ext cx="4899660" cy="27736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498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9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623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spc="25" dirty="0">
                          <a:solidFill>
                            <a:srgbClr val="FFFFFF"/>
                          </a:solidFill>
                          <a:latin typeface="Verdana" panose="020B0604030504040204"/>
                          <a:cs typeface="Verdana" panose="020B0604030504040204"/>
                        </a:rPr>
                        <a:t>name</a:t>
                      </a:r>
                      <a:endParaRPr sz="2000">
                        <a:latin typeface="Verdana" panose="020B0604030504040204"/>
                        <a:cs typeface="Verdana" panose="020B0604030504040204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2A9FBB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spc="35" dirty="0">
                          <a:solidFill>
                            <a:srgbClr val="FFFFFF"/>
                          </a:solidFill>
                          <a:latin typeface="Verdana" panose="020B0604030504040204"/>
                          <a:cs typeface="Verdana" panose="020B0604030504040204"/>
                        </a:rPr>
                        <a:t>state</a:t>
                      </a:r>
                      <a:endParaRPr sz="2000">
                        <a:latin typeface="Verdana" panose="020B0604030504040204"/>
                        <a:cs typeface="Verdana" panose="020B0604030504040204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2A9FB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3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spc="30" dirty="0">
                          <a:solidFill>
                            <a:srgbClr val="404040"/>
                          </a:solidFill>
                          <a:latin typeface="Verdana" panose="020B0604030504040204"/>
                          <a:cs typeface="Verdana" panose="020B0604030504040204"/>
                        </a:rPr>
                        <a:t>Amy</a:t>
                      </a:r>
                      <a:endParaRPr sz="2000">
                        <a:latin typeface="Verdana" panose="020B0604030504040204"/>
                        <a:cs typeface="Verdana" panose="020B0604030504040204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FE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spc="35" dirty="0">
                          <a:solidFill>
                            <a:srgbClr val="404040"/>
                          </a:solidFill>
                          <a:latin typeface="Verdana" panose="020B0604030504040204"/>
                          <a:cs typeface="Verdana" panose="020B0604030504040204"/>
                        </a:rPr>
                        <a:t>Oregon</a:t>
                      </a:r>
                      <a:endParaRPr sz="2000">
                        <a:latin typeface="Verdana" panose="020B0604030504040204"/>
                        <a:cs typeface="Verdana" panose="020B0604030504040204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F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3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spc="15" dirty="0">
                          <a:solidFill>
                            <a:srgbClr val="404040"/>
                          </a:solidFill>
                          <a:latin typeface="Verdana" panose="020B0604030504040204"/>
                          <a:cs typeface="Verdana" panose="020B0604030504040204"/>
                        </a:rPr>
                        <a:t>Justin</a:t>
                      </a:r>
                      <a:endParaRPr sz="2000">
                        <a:latin typeface="Verdana" panose="020B0604030504040204"/>
                        <a:cs typeface="Verdana" panose="020B0604030504040204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FF4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spc="30" dirty="0">
                          <a:solidFill>
                            <a:srgbClr val="404040"/>
                          </a:solidFill>
                          <a:latin typeface="Verdana" panose="020B0604030504040204"/>
                          <a:cs typeface="Verdana" panose="020B0604030504040204"/>
                        </a:rPr>
                        <a:t>Wyoming</a:t>
                      </a:r>
                      <a:endParaRPr sz="2000">
                        <a:latin typeface="Verdana" panose="020B0604030504040204"/>
                        <a:cs typeface="Verdana" panose="020B0604030504040204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F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spc="-20" dirty="0">
                          <a:solidFill>
                            <a:srgbClr val="404040"/>
                          </a:solidFill>
                          <a:latin typeface="Verdana" panose="020B0604030504040204"/>
                          <a:cs typeface="Verdana" panose="020B0604030504040204"/>
                        </a:rPr>
                        <a:t>Sheila</a:t>
                      </a:r>
                      <a:endParaRPr sz="2000">
                        <a:latin typeface="Verdana" panose="020B0604030504040204"/>
                        <a:cs typeface="Verdana" panose="020B0604030504040204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FE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spc="-75" dirty="0">
                          <a:solidFill>
                            <a:srgbClr val="404040"/>
                          </a:solidFill>
                          <a:latin typeface="Verdana" panose="020B0604030504040204"/>
                          <a:cs typeface="Verdana" panose="020B0604030504040204"/>
                        </a:rPr>
                        <a:t>Texas</a:t>
                      </a:r>
                      <a:endParaRPr sz="2000">
                        <a:latin typeface="Verdana" panose="020B0604030504040204"/>
                        <a:cs typeface="Verdana" panose="020B0604030504040204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F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spc="55" dirty="0">
                          <a:solidFill>
                            <a:srgbClr val="404040"/>
                          </a:solidFill>
                          <a:latin typeface="Verdana" panose="020B0604030504040204"/>
                          <a:cs typeface="Verdana" panose="020B0604030504040204"/>
                        </a:rPr>
                        <a:t>Jim</a:t>
                      </a:r>
                      <a:endParaRPr sz="2000">
                        <a:latin typeface="Verdana" panose="020B0604030504040204"/>
                        <a:cs typeface="Verdana" panose="020B0604030504040204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FF4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spc="-75" dirty="0">
                          <a:solidFill>
                            <a:srgbClr val="404040"/>
                          </a:solidFill>
                          <a:latin typeface="Verdana" panose="020B0604030504040204"/>
                          <a:cs typeface="Verdana" panose="020B0604030504040204"/>
                        </a:rPr>
                        <a:t>Texas</a:t>
                      </a:r>
                      <a:endParaRPr sz="2000">
                        <a:latin typeface="Verdana" panose="020B0604030504040204"/>
                        <a:cs typeface="Verdana" panose="020B0604030504040204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F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23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spc="-25" dirty="0">
                          <a:solidFill>
                            <a:srgbClr val="404040"/>
                          </a:solidFill>
                          <a:latin typeface="Verdana" panose="020B0604030504040204"/>
                          <a:cs typeface="Verdana" panose="020B0604030504040204"/>
                        </a:rPr>
                        <a:t>Marsha</a:t>
                      </a:r>
                      <a:endParaRPr sz="2000">
                        <a:latin typeface="Verdana" panose="020B0604030504040204"/>
                        <a:cs typeface="Verdana" panose="020B0604030504040204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FE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spc="40" dirty="0">
                          <a:solidFill>
                            <a:srgbClr val="404040"/>
                          </a:solidFill>
                          <a:latin typeface="Verdana" panose="020B0604030504040204"/>
                          <a:cs typeface="Verdana" panose="020B0604030504040204"/>
                        </a:rPr>
                        <a:t>Oregon</a:t>
                      </a:r>
                      <a:endParaRPr sz="2000">
                        <a:latin typeface="Verdana" panose="020B0604030504040204"/>
                        <a:cs typeface="Verdana" panose="020B0604030504040204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F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623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000" spc="15" dirty="0">
                          <a:solidFill>
                            <a:srgbClr val="404040"/>
                          </a:solidFill>
                          <a:latin typeface="Verdana" panose="020B0604030504040204"/>
                          <a:cs typeface="Verdana" panose="020B0604030504040204"/>
                        </a:rPr>
                        <a:t>Richard</a:t>
                      </a:r>
                      <a:endParaRPr sz="2000">
                        <a:latin typeface="Verdana" panose="020B0604030504040204"/>
                        <a:cs typeface="Verdana" panose="020B0604030504040204"/>
                      </a:endParaRPr>
                    </a:p>
                  </a:txBody>
                  <a:tcPr marL="0" marR="0" marT="3619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FF4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000" spc="35" dirty="0">
                          <a:solidFill>
                            <a:srgbClr val="404040"/>
                          </a:solidFill>
                          <a:latin typeface="Verdana" panose="020B0604030504040204"/>
                          <a:cs typeface="Verdana" panose="020B0604030504040204"/>
                        </a:rPr>
                        <a:t>Arizona</a:t>
                      </a:r>
                      <a:endParaRPr sz="2000">
                        <a:latin typeface="Verdana" panose="020B0604030504040204"/>
                        <a:cs typeface="Verdana" panose="020B0604030504040204"/>
                      </a:endParaRPr>
                    </a:p>
                  </a:txBody>
                  <a:tcPr marL="0" marR="0" marT="3619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F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705344" y="3567239"/>
          <a:ext cx="4899660" cy="277367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498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9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spc="55" dirty="0">
                          <a:solidFill>
                            <a:srgbClr val="FFFFFF"/>
                          </a:solidFill>
                          <a:latin typeface="Verdana" panose="020B0604030504040204"/>
                          <a:cs typeface="Verdana" panose="020B0604030504040204"/>
                        </a:rPr>
                        <a:t>Name</a:t>
                      </a:r>
                      <a:endParaRPr sz="2000">
                        <a:latin typeface="Verdana" panose="020B0604030504040204"/>
                        <a:cs typeface="Verdana" panose="020B0604030504040204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9BC750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spc="35" dirty="0">
                          <a:solidFill>
                            <a:srgbClr val="FFFFFF"/>
                          </a:solidFill>
                          <a:latin typeface="Verdana" panose="020B0604030504040204"/>
                          <a:cs typeface="Verdana" panose="020B0604030504040204"/>
                        </a:rPr>
                        <a:t>state</a:t>
                      </a:r>
                      <a:endParaRPr sz="2000">
                        <a:latin typeface="Verdana" panose="020B0604030504040204"/>
                        <a:cs typeface="Verdana" panose="020B0604030504040204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9BC7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3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spc="15" dirty="0">
                          <a:solidFill>
                            <a:srgbClr val="404040"/>
                          </a:solidFill>
                          <a:latin typeface="Verdana" panose="020B0604030504040204"/>
                          <a:cs typeface="Verdana" panose="020B0604030504040204"/>
                        </a:rPr>
                        <a:t>Justin</a:t>
                      </a:r>
                      <a:endParaRPr sz="2000">
                        <a:latin typeface="Verdana" panose="020B0604030504040204"/>
                        <a:cs typeface="Verdana" panose="020B0604030504040204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EEBD0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spc="30" dirty="0">
                          <a:solidFill>
                            <a:srgbClr val="404040"/>
                          </a:solidFill>
                          <a:latin typeface="Verdana" panose="020B0604030504040204"/>
                          <a:cs typeface="Verdana" panose="020B0604030504040204"/>
                        </a:rPr>
                        <a:t>Wyoming</a:t>
                      </a:r>
                      <a:endParaRPr sz="2000">
                        <a:latin typeface="Verdana" panose="020B0604030504040204"/>
                        <a:cs typeface="Verdana" panose="020B0604030504040204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EEB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spc="55" dirty="0">
                          <a:solidFill>
                            <a:srgbClr val="404040"/>
                          </a:solidFill>
                          <a:latin typeface="Verdana" panose="020B0604030504040204"/>
                          <a:cs typeface="Verdana" panose="020B0604030504040204"/>
                        </a:rPr>
                        <a:t>Jim</a:t>
                      </a:r>
                      <a:endParaRPr sz="2000">
                        <a:latin typeface="Verdana" panose="020B0604030504040204"/>
                        <a:cs typeface="Verdana" panose="020B0604030504040204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F5E9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spc="-75" dirty="0">
                          <a:solidFill>
                            <a:srgbClr val="404040"/>
                          </a:solidFill>
                          <a:latin typeface="Verdana" panose="020B0604030504040204"/>
                          <a:cs typeface="Verdana" panose="020B0604030504040204"/>
                        </a:rPr>
                        <a:t>Texas</a:t>
                      </a:r>
                      <a:endParaRPr sz="2000">
                        <a:latin typeface="Verdana" panose="020B0604030504040204"/>
                        <a:cs typeface="Verdana" panose="020B0604030504040204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39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spc="-20" dirty="0">
                          <a:solidFill>
                            <a:srgbClr val="404040"/>
                          </a:solidFill>
                          <a:latin typeface="Verdana" panose="020B0604030504040204"/>
                          <a:cs typeface="Verdana" panose="020B0604030504040204"/>
                        </a:rPr>
                        <a:t>Sheila</a:t>
                      </a:r>
                      <a:endParaRPr sz="2000">
                        <a:latin typeface="Verdana" panose="020B0604030504040204"/>
                        <a:cs typeface="Verdana" panose="020B0604030504040204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EEBD0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spc="-75" dirty="0">
                          <a:solidFill>
                            <a:srgbClr val="404040"/>
                          </a:solidFill>
                          <a:latin typeface="Verdana" panose="020B0604030504040204"/>
                          <a:cs typeface="Verdana" panose="020B0604030504040204"/>
                        </a:rPr>
                        <a:t>Texas</a:t>
                      </a:r>
                      <a:endParaRPr sz="2000">
                        <a:latin typeface="Verdana" panose="020B0604030504040204"/>
                        <a:cs typeface="Verdana" panose="020B0604030504040204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EEB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spc="30" dirty="0">
                          <a:solidFill>
                            <a:srgbClr val="404040"/>
                          </a:solidFill>
                          <a:latin typeface="Verdana" panose="020B0604030504040204"/>
                          <a:cs typeface="Verdana" panose="020B0604030504040204"/>
                        </a:rPr>
                        <a:t>Amy</a:t>
                      </a:r>
                      <a:endParaRPr sz="2000">
                        <a:latin typeface="Verdana" panose="020B0604030504040204"/>
                        <a:cs typeface="Verdana" panose="020B0604030504040204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F5E9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spc="35" dirty="0">
                          <a:solidFill>
                            <a:srgbClr val="404040"/>
                          </a:solidFill>
                          <a:latin typeface="Verdana" panose="020B0604030504040204"/>
                          <a:cs typeface="Verdana" panose="020B0604030504040204"/>
                        </a:rPr>
                        <a:t>Oregon</a:t>
                      </a:r>
                      <a:endParaRPr sz="2000">
                        <a:latin typeface="Verdana" panose="020B0604030504040204"/>
                        <a:cs typeface="Verdana" panose="020B0604030504040204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239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spc="-25" dirty="0">
                          <a:solidFill>
                            <a:srgbClr val="404040"/>
                          </a:solidFill>
                          <a:latin typeface="Verdana" panose="020B0604030504040204"/>
                          <a:cs typeface="Verdana" panose="020B0604030504040204"/>
                        </a:rPr>
                        <a:t>Marsha</a:t>
                      </a:r>
                      <a:endParaRPr sz="2000">
                        <a:latin typeface="Verdana" panose="020B0604030504040204"/>
                        <a:cs typeface="Verdana" panose="020B0604030504040204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EEBD0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spc="35" dirty="0">
                          <a:solidFill>
                            <a:srgbClr val="404040"/>
                          </a:solidFill>
                          <a:latin typeface="Verdana" panose="020B0604030504040204"/>
                          <a:cs typeface="Verdana" panose="020B0604030504040204"/>
                        </a:rPr>
                        <a:t>Oregon</a:t>
                      </a:r>
                      <a:endParaRPr sz="2000">
                        <a:latin typeface="Verdana" panose="020B0604030504040204"/>
                        <a:cs typeface="Verdana" panose="020B0604030504040204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EEB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000" spc="15" dirty="0">
                          <a:solidFill>
                            <a:srgbClr val="404040"/>
                          </a:solidFill>
                          <a:latin typeface="Verdana" panose="020B0604030504040204"/>
                          <a:cs typeface="Verdana" panose="020B0604030504040204"/>
                        </a:rPr>
                        <a:t>Richard</a:t>
                      </a:r>
                      <a:endParaRPr sz="2000">
                        <a:latin typeface="Verdana" panose="020B0604030504040204"/>
                        <a:cs typeface="Verdana" panose="020B0604030504040204"/>
                      </a:endParaRPr>
                    </a:p>
                  </a:txBody>
                  <a:tcPr marL="0" marR="0" marT="3619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F5E9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000" spc="35" dirty="0">
                          <a:solidFill>
                            <a:srgbClr val="404040"/>
                          </a:solidFill>
                          <a:latin typeface="Verdana" panose="020B0604030504040204"/>
                          <a:cs typeface="Verdana" panose="020B0604030504040204"/>
                        </a:rPr>
                        <a:t>Arizona</a:t>
                      </a:r>
                      <a:endParaRPr sz="2000">
                        <a:latin typeface="Verdana" panose="020B0604030504040204"/>
                        <a:cs typeface="Verdana" panose="020B0604030504040204"/>
                      </a:endParaRPr>
                    </a:p>
                  </a:txBody>
                  <a:tcPr marL="0" marR="0" marT="3619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Slide Number Placeholder 8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/>
              <a:t>8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30873" y="4052315"/>
            <a:ext cx="3429000" cy="1644650"/>
          </a:xfrm>
          <a:prstGeom prst="rect">
            <a:avLst/>
          </a:prstGeom>
          <a:solidFill>
            <a:srgbClr val="E4E4E4"/>
          </a:solidFill>
        </p:spPr>
        <p:txBody>
          <a:bodyPr vert="horz" wrap="square" lIns="0" tIns="63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0"/>
              </a:spcBef>
            </a:pPr>
            <a:endParaRPr sz="4250">
              <a:latin typeface="Times New Roman" panose="02020603050405020304"/>
              <a:cs typeface="Times New Roman" panose="02020603050405020304"/>
            </a:endParaRPr>
          </a:p>
          <a:p>
            <a:pPr algn="ctr">
              <a:lnSpc>
                <a:spcPct val="100000"/>
              </a:lnSpc>
            </a:pPr>
            <a:r>
              <a:rPr sz="2400" spc="110" dirty="0">
                <a:solidFill>
                  <a:srgbClr val="404040"/>
                </a:solidFill>
                <a:latin typeface="Verdana" panose="020B0604030504040204"/>
                <a:cs typeface="Verdana" panose="020B0604030504040204"/>
              </a:rPr>
              <a:t>MAX</a:t>
            </a:r>
            <a:endParaRPr sz="2400">
              <a:latin typeface="Verdana" panose="020B0604030504040204"/>
              <a:cs typeface="Verdana" panose="020B060403050404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555748" y="4052315"/>
            <a:ext cx="3429000" cy="1644650"/>
          </a:xfrm>
          <a:prstGeom prst="rect">
            <a:avLst/>
          </a:prstGeom>
          <a:solidFill>
            <a:srgbClr val="E4E4E4"/>
          </a:solidFill>
        </p:spPr>
        <p:txBody>
          <a:bodyPr vert="horz" wrap="square" lIns="0" tIns="63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0"/>
              </a:spcBef>
            </a:pPr>
            <a:endParaRPr sz="4250">
              <a:latin typeface="Times New Roman" panose="02020603050405020304"/>
              <a:cs typeface="Times New Roman" panose="02020603050405020304"/>
            </a:endParaRPr>
          </a:p>
          <a:p>
            <a:pPr algn="ctr">
              <a:lnSpc>
                <a:spcPct val="100000"/>
              </a:lnSpc>
            </a:pPr>
            <a:r>
              <a:rPr sz="2400" spc="-35" dirty="0">
                <a:solidFill>
                  <a:srgbClr val="404040"/>
                </a:solidFill>
                <a:latin typeface="Verdana" panose="020B0604030504040204"/>
                <a:cs typeface="Verdana" panose="020B0604030504040204"/>
              </a:rPr>
              <a:t>MIN</a:t>
            </a:r>
            <a:endParaRPr sz="2400">
              <a:latin typeface="Verdana" panose="020B0604030504040204"/>
              <a:cs typeface="Verdana" panose="020B060403050404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051292" y="2173985"/>
            <a:ext cx="3429000" cy="1644014"/>
          </a:xfrm>
          <a:prstGeom prst="rect">
            <a:avLst/>
          </a:prstGeom>
          <a:solidFill>
            <a:srgbClr val="E4E4E4"/>
          </a:solidFill>
        </p:spPr>
        <p:txBody>
          <a:bodyPr vert="horz" wrap="square" lIns="0" tIns="63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0"/>
              </a:spcBef>
            </a:pPr>
            <a:endParaRPr sz="4250">
              <a:latin typeface="Times New Roman" panose="02020603050405020304"/>
              <a:cs typeface="Times New Roman" panose="02020603050405020304"/>
            </a:endParaRPr>
          </a:p>
          <a:p>
            <a:pPr algn="ctr">
              <a:lnSpc>
                <a:spcPct val="100000"/>
              </a:lnSpc>
            </a:pPr>
            <a:r>
              <a:rPr sz="2400" spc="30" dirty="0">
                <a:solidFill>
                  <a:srgbClr val="404040"/>
                </a:solidFill>
                <a:latin typeface="Verdana" panose="020B0604030504040204"/>
                <a:cs typeface="Verdana" panose="020B0604030504040204"/>
              </a:rPr>
              <a:t>AVG</a:t>
            </a:r>
            <a:endParaRPr sz="2400">
              <a:latin typeface="Verdana" panose="020B0604030504040204"/>
              <a:cs typeface="Verdana" panose="020B060403050404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376165" y="2173985"/>
            <a:ext cx="3429000" cy="1644014"/>
          </a:xfrm>
          <a:prstGeom prst="rect">
            <a:avLst/>
          </a:prstGeom>
          <a:solidFill>
            <a:srgbClr val="E4E4E4"/>
          </a:solidFill>
        </p:spPr>
        <p:txBody>
          <a:bodyPr vert="horz" wrap="square" lIns="0" tIns="63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0"/>
              </a:spcBef>
            </a:pPr>
            <a:endParaRPr sz="4250">
              <a:latin typeface="Times New Roman" panose="02020603050405020304"/>
              <a:cs typeface="Times New Roman" panose="02020603050405020304"/>
            </a:endParaRPr>
          </a:p>
          <a:p>
            <a:pPr algn="ctr">
              <a:lnSpc>
                <a:spcPct val="100000"/>
              </a:lnSpc>
            </a:pPr>
            <a:r>
              <a:rPr sz="2400" spc="5" dirty="0">
                <a:solidFill>
                  <a:srgbClr val="404040"/>
                </a:solidFill>
                <a:latin typeface="Verdana" panose="020B0604030504040204"/>
                <a:cs typeface="Verdana" panose="020B0604030504040204"/>
              </a:rPr>
              <a:t>SUM</a:t>
            </a:r>
            <a:endParaRPr sz="2400">
              <a:latin typeface="Verdana" panose="020B0604030504040204"/>
              <a:cs typeface="Verdana" panose="020B060403050404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06373" y="2173985"/>
            <a:ext cx="3429000" cy="1644014"/>
          </a:xfrm>
          <a:prstGeom prst="rect">
            <a:avLst/>
          </a:prstGeom>
          <a:solidFill>
            <a:srgbClr val="E4E4E4"/>
          </a:solidFill>
        </p:spPr>
        <p:txBody>
          <a:bodyPr vert="horz" wrap="square" lIns="0" tIns="63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0"/>
              </a:spcBef>
            </a:pPr>
            <a:endParaRPr sz="4250">
              <a:latin typeface="Times New Roman" panose="02020603050405020304"/>
              <a:cs typeface="Times New Roman" panose="02020603050405020304"/>
            </a:endParaRPr>
          </a:p>
          <a:p>
            <a:pPr marL="1141095">
              <a:lnSpc>
                <a:spcPct val="100000"/>
              </a:lnSpc>
            </a:pPr>
            <a:r>
              <a:rPr sz="2400" spc="85" dirty="0">
                <a:solidFill>
                  <a:srgbClr val="404040"/>
                </a:solidFill>
                <a:latin typeface="Verdana" panose="020B0604030504040204"/>
                <a:cs typeface="Verdana" panose="020B0604030504040204"/>
              </a:rPr>
              <a:t>COUNT</a:t>
            </a:r>
            <a:endParaRPr sz="2400">
              <a:latin typeface="Verdana" panose="020B0604030504040204"/>
              <a:cs typeface="Verdana" panose="020B0604030504040204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663777" y="519066"/>
            <a:ext cx="47764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5" dirty="0">
                <a:solidFill>
                  <a:srgbClr val="404040"/>
                </a:solidFill>
              </a:rPr>
              <a:t>Aggregate</a:t>
            </a:r>
            <a:r>
              <a:rPr spc="-225" dirty="0">
                <a:solidFill>
                  <a:srgbClr val="404040"/>
                </a:solidFill>
              </a:rPr>
              <a:t> </a:t>
            </a:r>
            <a:r>
              <a:rPr spc="20" dirty="0">
                <a:solidFill>
                  <a:srgbClr val="404040"/>
                </a:solidFill>
              </a:rPr>
              <a:t>Functions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/>
              <a:t>9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3888740"/>
          </a:xfrm>
          <a:custGeom>
            <a:avLst/>
            <a:gdLst/>
            <a:ahLst/>
            <a:cxnLst/>
            <a:rect l="l" t="t" r="r" b="b"/>
            <a:pathLst>
              <a:path w="12192000" h="3888740">
                <a:moveTo>
                  <a:pt x="12192000" y="0"/>
                </a:moveTo>
                <a:lnTo>
                  <a:pt x="0" y="0"/>
                </a:lnTo>
                <a:lnTo>
                  <a:pt x="0" y="3888486"/>
                </a:lnTo>
                <a:lnTo>
                  <a:pt x="12192000" y="3888486"/>
                </a:lnTo>
                <a:lnTo>
                  <a:pt x="12192000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92444" y="2618731"/>
            <a:ext cx="26041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SE</a:t>
            </a:r>
            <a:r>
              <a:rPr sz="2400" spc="-5" dirty="0">
                <a:latin typeface="Arial MT"/>
                <a:cs typeface="Arial MT"/>
              </a:rPr>
              <a:t>L</a:t>
            </a:r>
            <a:r>
              <a:rPr sz="2400" dirty="0">
                <a:latin typeface="Arial MT"/>
                <a:cs typeface="Arial MT"/>
              </a:rPr>
              <a:t>ECT</a:t>
            </a:r>
            <a:r>
              <a:rPr sz="2400" spc="-185" dirty="0">
                <a:latin typeface="Arial MT"/>
                <a:cs typeface="Arial MT"/>
              </a:rPr>
              <a:t> </a:t>
            </a:r>
            <a:r>
              <a:rPr sz="2400" spc="-180" dirty="0">
                <a:solidFill>
                  <a:srgbClr val="EF5A28"/>
                </a:solidFill>
                <a:latin typeface="Arial MT"/>
                <a:cs typeface="Arial MT"/>
              </a:rPr>
              <a:t>A</a:t>
            </a:r>
            <a:r>
              <a:rPr sz="2400" dirty="0">
                <a:solidFill>
                  <a:srgbClr val="EF5A28"/>
                </a:solidFill>
                <a:latin typeface="Arial MT"/>
                <a:cs typeface="Arial MT"/>
              </a:rPr>
              <a:t>VG</a:t>
            </a:r>
            <a:r>
              <a:rPr sz="2400" spc="-5" dirty="0">
                <a:latin typeface="Arial MT"/>
                <a:cs typeface="Arial MT"/>
              </a:rPr>
              <a:t>(age)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45468" y="3213091"/>
            <a:ext cx="9418320" cy="2426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7965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FROM</a:t>
            </a:r>
            <a:r>
              <a:rPr sz="240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person;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3050">
              <a:latin typeface="Arial MT"/>
              <a:cs typeface="Arial MT"/>
            </a:endParaRPr>
          </a:p>
          <a:p>
            <a:pPr marL="55245">
              <a:lnSpc>
                <a:spcPct val="100000"/>
              </a:lnSpc>
              <a:spcBef>
                <a:spcPts val="5"/>
              </a:spcBef>
            </a:pPr>
            <a:r>
              <a:rPr sz="3600" spc="25" dirty="0">
                <a:solidFill>
                  <a:srgbClr val="404040"/>
                </a:solidFill>
                <a:latin typeface="Verdana" panose="020B0604030504040204"/>
                <a:cs typeface="Verdana" panose="020B0604030504040204"/>
              </a:rPr>
              <a:t>Aggregate</a:t>
            </a:r>
            <a:r>
              <a:rPr sz="3600" spc="-215" dirty="0">
                <a:solidFill>
                  <a:srgbClr val="404040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3600" spc="20" dirty="0">
                <a:solidFill>
                  <a:srgbClr val="404040"/>
                </a:solidFill>
                <a:latin typeface="Verdana" panose="020B0604030504040204"/>
                <a:cs typeface="Verdana" panose="020B0604030504040204"/>
              </a:rPr>
              <a:t>Functions</a:t>
            </a:r>
            <a:endParaRPr sz="3600">
              <a:latin typeface="Verdana" panose="020B0604030504040204"/>
              <a:cs typeface="Verdana" panose="020B0604030504040204"/>
            </a:endParaRPr>
          </a:p>
          <a:p>
            <a:pPr marL="12700">
              <a:lnSpc>
                <a:spcPct val="100000"/>
              </a:lnSpc>
              <a:spcBef>
                <a:spcPts val="630"/>
              </a:spcBef>
            </a:pPr>
            <a:r>
              <a:rPr sz="2400" spc="-45" dirty="0">
                <a:solidFill>
                  <a:srgbClr val="404040"/>
                </a:solidFill>
                <a:latin typeface="Verdana" panose="020B0604030504040204"/>
                <a:cs typeface="Verdana" panose="020B0604030504040204"/>
              </a:rPr>
              <a:t>To</a:t>
            </a:r>
            <a:r>
              <a:rPr sz="2400" spc="-125" dirty="0">
                <a:solidFill>
                  <a:srgbClr val="404040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400" spc="-25" dirty="0">
                <a:solidFill>
                  <a:srgbClr val="404040"/>
                </a:solidFill>
                <a:latin typeface="Verdana" panose="020B0604030504040204"/>
                <a:cs typeface="Verdana" panose="020B0604030504040204"/>
              </a:rPr>
              <a:t>use</a:t>
            </a:r>
            <a:r>
              <a:rPr sz="2400" spc="-114" dirty="0">
                <a:solidFill>
                  <a:srgbClr val="404040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400" spc="-35" dirty="0">
                <a:solidFill>
                  <a:srgbClr val="404040"/>
                </a:solidFill>
                <a:latin typeface="Verdana" panose="020B0604030504040204"/>
                <a:cs typeface="Verdana" panose="020B0604030504040204"/>
              </a:rPr>
              <a:t>an</a:t>
            </a:r>
            <a:r>
              <a:rPr sz="2400" spc="-114" dirty="0">
                <a:solidFill>
                  <a:srgbClr val="404040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400" spc="20" dirty="0">
                <a:solidFill>
                  <a:srgbClr val="EF5A28"/>
                </a:solidFill>
                <a:latin typeface="Verdana" panose="020B0604030504040204"/>
                <a:cs typeface="Verdana" panose="020B0604030504040204"/>
              </a:rPr>
              <a:t>aggregate</a:t>
            </a:r>
            <a:r>
              <a:rPr sz="2400" spc="-100" dirty="0">
                <a:solidFill>
                  <a:srgbClr val="EF5A28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400" dirty="0">
                <a:solidFill>
                  <a:srgbClr val="404040"/>
                </a:solidFill>
                <a:latin typeface="Verdana" panose="020B0604030504040204"/>
                <a:cs typeface="Verdana" panose="020B0604030504040204"/>
              </a:rPr>
              <a:t>function,</a:t>
            </a:r>
            <a:r>
              <a:rPr sz="2400" spc="-100" dirty="0">
                <a:solidFill>
                  <a:srgbClr val="404040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400" spc="30" dirty="0">
                <a:solidFill>
                  <a:srgbClr val="404040"/>
                </a:solidFill>
                <a:latin typeface="Verdana" panose="020B0604030504040204"/>
                <a:cs typeface="Verdana" panose="020B0604030504040204"/>
              </a:rPr>
              <a:t>include</a:t>
            </a:r>
            <a:r>
              <a:rPr sz="2400" spc="-100" dirty="0">
                <a:solidFill>
                  <a:srgbClr val="404040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400" spc="30" dirty="0">
                <a:solidFill>
                  <a:srgbClr val="404040"/>
                </a:solidFill>
                <a:latin typeface="Verdana" panose="020B0604030504040204"/>
                <a:cs typeface="Verdana" panose="020B0604030504040204"/>
              </a:rPr>
              <a:t>it</a:t>
            </a:r>
            <a:r>
              <a:rPr sz="2400" spc="-110" dirty="0">
                <a:solidFill>
                  <a:srgbClr val="404040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Verdana" panose="020B0604030504040204"/>
                <a:cs typeface="Verdana" panose="020B0604030504040204"/>
              </a:rPr>
              <a:t>in</a:t>
            </a:r>
            <a:r>
              <a:rPr sz="2400" spc="-114" dirty="0">
                <a:solidFill>
                  <a:srgbClr val="404040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400" spc="5" dirty="0">
                <a:solidFill>
                  <a:srgbClr val="404040"/>
                </a:solidFill>
                <a:latin typeface="Verdana" panose="020B0604030504040204"/>
                <a:cs typeface="Verdana" panose="020B0604030504040204"/>
              </a:rPr>
              <a:t>the</a:t>
            </a:r>
            <a:r>
              <a:rPr sz="2400" spc="-114" dirty="0">
                <a:solidFill>
                  <a:srgbClr val="404040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400" spc="65" dirty="0">
                <a:solidFill>
                  <a:srgbClr val="404040"/>
                </a:solidFill>
                <a:latin typeface="Verdana" panose="020B0604030504040204"/>
                <a:cs typeface="Verdana" panose="020B0604030504040204"/>
              </a:rPr>
              <a:t>SELECT</a:t>
            </a:r>
            <a:r>
              <a:rPr sz="2400" spc="-105" dirty="0">
                <a:solidFill>
                  <a:srgbClr val="404040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400" spc="5" dirty="0">
                <a:solidFill>
                  <a:srgbClr val="404040"/>
                </a:solidFill>
                <a:latin typeface="Verdana" panose="020B0604030504040204"/>
                <a:cs typeface="Verdana" panose="020B0604030504040204"/>
              </a:rPr>
              <a:t>clause</a:t>
            </a:r>
            <a:endParaRPr sz="2400">
              <a:latin typeface="Verdana" panose="020B0604030504040204"/>
              <a:cs typeface="Verdana" panose="020B0604030504040204"/>
            </a:endParaRPr>
          </a:p>
          <a:p>
            <a:pPr marL="12700">
              <a:lnSpc>
                <a:spcPct val="100000"/>
              </a:lnSpc>
              <a:spcBef>
                <a:spcPts val="1800"/>
              </a:spcBef>
            </a:pPr>
            <a:r>
              <a:rPr sz="2400" spc="10" dirty="0">
                <a:solidFill>
                  <a:srgbClr val="404040"/>
                </a:solidFill>
                <a:latin typeface="Verdana" panose="020B0604030504040204"/>
                <a:cs typeface="Verdana" panose="020B0604030504040204"/>
              </a:rPr>
              <a:t>The</a:t>
            </a:r>
            <a:r>
              <a:rPr sz="2400" spc="-130" dirty="0">
                <a:solidFill>
                  <a:srgbClr val="404040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400" spc="15" dirty="0">
                <a:solidFill>
                  <a:srgbClr val="404040"/>
                </a:solidFill>
                <a:latin typeface="Verdana" panose="020B0604030504040204"/>
                <a:cs typeface="Verdana" panose="020B0604030504040204"/>
              </a:rPr>
              <a:t>above</a:t>
            </a:r>
            <a:r>
              <a:rPr sz="2400" spc="-130" dirty="0">
                <a:solidFill>
                  <a:srgbClr val="404040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400" spc="80" dirty="0">
                <a:solidFill>
                  <a:srgbClr val="404040"/>
                </a:solidFill>
                <a:latin typeface="Verdana" panose="020B0604030504040204"/>
                <a:cs typeface="Verdana" panose="020B0604030504040204"/>
              </a:rPr>
              <a:t>code</a:t>
            </a:r>
            <a:r>
              <a:rPr sz="2400" spc="-114" dirty="0">
                <a:solidFill>
                  <a:srgbClr val="404040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400" spc="-25" dirty="0">
                <a:solidFill>
                  <a:srgbClr val="404040"/>
                </a:solidFill>
                <a:latin typeface="Verdana" panose="020B0604030504040204"/>
                <a:cs typeface="Verdana" panose="020B0604030504040204"/>
              </a:rPr>
              <a:t>returns</a:t>
            </a:r>
            <a:r>
              <a:rPr sz="2400" spc="-125" dirty="0">
                <a:solidFill>
                  <a:srgbClr val="404040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400" spc="-35" dirty="0">
                <a:solidFill>
                  <a:srgbClr val="404040"/>
                </a:solidFill>
                <a:latin typeface="Verdana" panose="020B0604030504040204"/>
                <a:cs typeface="Verdana" panose="020B0604030504040204"/>
              </a:rPr>
              <a:t>an</a:t>
            </a:r>
            <a:r>
              <a:rPr sz="2400" spc="-125" dirty="0">
                <a:solidFill>
                  <a:srgbClr val="404040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400" spc="-20" dirty="0">
                <a:solidFill>
                  <a:srgbClr val="EF5A28"/>
                </a:solidFill>
                <a:latin typeface="Verdana" panose="020B0604030504040204"/>
                <a:cs typeface="Verdana" panose="020B0604030504040204"/>
              </a:rPr>
              <a:t>average</a:t>
            </a:r>
            <a:r>
              <a:rPr sz="2400" spc="-125" dirty="0">
                <a:solidFill>
                  <a:srgbClr val="EF5A28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400" spc="30" dirty="0">
                <a:solidFill>
                  <a:srgbClr val="404040"/>
                </a:solidFill>
                <a:latin typeface="Verdana" panose="020B0604030504040204"/>
                <a:cs typeface="Verdana" panose="020B0604030504040204"/>
              </a:rPr>
              <a:t>age</a:t>
            </a:r>
            <a:r>
              <a:rPr sz="2400" spc="-110" dirty="0">
                <a:solidFill>
                  <a:srgbClr val="404040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400" spc="85" dirty="0">
                <a:solidFill>
                  <a:srgbClr val="404040"/>
                </a:solidFill>
                <a:latin typeface="Verdana" panose="020B0604030504040204"/>
                <a:cs typeface="Verdana" panose="020B0604030504040204"/>
              </a:rPr>
              <a:t>of</a:t>
            </a:r>
            <a:r>
              <a:rPr sz="2400" spc="-135" dirty="0">
                <a:solidFill>
                  <a:srgbClr val="404040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400" spc="-325" dirty="0">
                <a:solidFill>
                  <a:srgbClr val="404040"/>
                </a:solidFill>
                <a:latin typeface="Verdana" panose="020B0604030504040204"/>
                <a:cs typeface="Verdana" panose="020B0604030504040204"/>
              </a:rPr>
              <a:t>17</a:t>
            </a:r>
            <a:endParaRPr sz="2400">
              <a:latin typeface="Verdana" panose="020B0604030504040204"/>
              <a:cs typeface="Verdana" panose="020B0604030504040204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6615421" y="553811"/>
          <a:ext cx="4899659" cy="277367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33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332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332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6242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spc="25" dirty="0">
                          <a:solidFill>
                            <a:srgbClr val="FFFFFF"/>
                          </a:solidFill>
                          <a:latin typeface="Verdana" panose="020B0604030504040204"/>
                          <a:cs typeface="Verdana" panose="020B0604030504040204"/>
                        </a:rPr>
                        <a:t>name</a:t>
                      </a:r>
                      <a:endParaRPr sz="2000">
                        <a:latin typeface="Verdana" panose="020B0604030504040204"/>
                        <a:cs typeface="Verdana" panose="020B0604030504040204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2A9FBB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spc="55" dirty="0">
                          <a:solidFill>
                            <a:srgbClr val="FFFFFF"/>
                          </a:solidFill>
                          <a:latin typeface="Verdana" panose="020B0604030504040204"/>
                          <a:cs typeface="Verdana" panose="020B0604030504040204"/>
                        </a:rPr>
                        <a:t>grade_lvl</a:t>
                      </a:r>
                      <a:endParaRPr sz="2000">
                        <a:latin typeface="Verdana" panose="020B0604030504040204"/>
                        <a:cs typeface="Verdana" panose="020B0604030504040204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2A9F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spc="55" dirty="0">
                          <a:solidFill>
                            <a:srgbClr val="FFFFFF"/>
                          </a:solidFill>
                          <a:latin typeface="Verdana" panose="020B0604030504040204"/>
                          <a:cs typeface="Verdana" panose="020B0604030504040204"/>
                        </a:rPr>
                        <a:t>age</a:t>
                      </a:r>
                      <a:endParaRPr sz="2000">
                        <a:latin typeface="Verdana" panose="020B0604030504040204"/>
                        <a:cs typeface="Verdana" panose="020B0604030504040204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2A9FB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spc="25" dirty="0">
                          <a:solidFill>
                            <a:srgbClr val="404040"/>
                          </a:solidFill>
                          <a:latin typeface="Verdana" panose="020B0604030504040204"/>
                          <a:cs typeface="Verdana" panose="020B0604030504040204"/>
                        </a:rPr>
                        <a:t>Eliza</a:t>
                      </a:r>
                      <a:endParaRPr sz="2000">
                        <a:latin typeface="Verdana" panose="020B0604030504040204"/>
                        <a:cs typeface="Verdana" panose="020B0604030504040204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FE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spc="35" dirty="0">
                          <a:solidFill>
                            <a:srgbClr val="404040"/>
                          </a:solidFill>
                          <a:latin typeface="Verdana" panose="020B0604030504040204"/>
                          <a:cs typeface="Verdana" panose="020B0604030504040204"/>
                        </a:rPr>
                        <a:t>Junior</a:t>
                      </a:r>
                      <a:endParaRPr sz="2000">
                        <a:latin typeface="Verdana" panose="020B0604030504040204"/>
                        <a:cs typeface="Verdana" panose="020B0604030504040204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FE7"/>
                    </a:solidFill>
                  </a:tcPr>
                </a:tc>
                <a:tc>
                  <a:txBody>
                    <a:bodyPr/>
                    <a:lstStyle/>
                    <a:p>
                      <a:pPr marR="84455" algn="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spc="-270" dirty="0">
                          <a:solidFill>
                            <a:srgbClr val="404040"/>
                          </a:solidFill>
                          <a:latin typeface="Verdana" panose="020B0604030504040204"/>
                          <a:cs typeface="Verdana" panose="020B0604030504040204"/>
                        </a:rPr>
                        <a:t>17</a:t>
                      </a:r>
                      <a:endParaRPr sz="2000">
                        <a:latin typeface="Verdana" panose="020B0604030504040204"/>
                        <a:cs typeface="Verdana" panose="020B0604030504040204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F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3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spc="35" dirty="0">
                          <a:solidFill>
                            <a:srgbClr val="404040"/>
                          </a:solidFill>
                          <a:latin typeface="Verdana" panose="020B0604030504040204"/>
                          <a:cs typeface="Verdana" panose="020B0604030504040204"/>
                        </a:rPr>
                        <a:t>Jane</a:t>
                      </a:r>
                      <a:endParaRPr sz="2000">
                        <a:latin typeface="Verdana" panose="020B0604030504040204"/>
                        <a:cs typeface="Verdana" panose="020B0604030504040204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FF4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spc="35" dirty="0">
                          <a:solidFill>
                            <a:srgbClr val="404040"/>
                          </a:solidFill>
                          <a:latin typeface="Verdana" panose="020B0604030504040204"/>
                          <a:cs typeface="Verdana" panose="020B0604030504040204"/>
                        </a:rPr>
                        <a:t>Junior</a:t>
                      </a:r>
                      <a:endParaRPr sz="2000">
                        <a:latin typeface="Verdana" panose="020B0604030504040204"/>
                        <a:cs typeface="Verdana" panose="020B0604030504040204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FF4"/>
                    </a:solidFill>
                  </a:tcPr>
                </a:tc>
                <a:tc>
                  <a:txBody>
                    <a:bodyPr/>
                    <a:lstStyle/>
                    <a:p>
                      <a:pPr marR="84455" algn="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spc="-270" dirty="0">
                          <a:solidFill>
                            <a:srgbClr val="404040"/>
                          </a:solidFill>
                          <a:latin typeface="Verdana" panose="020B0604030504040204"/>
                          <a:cs typeface="Verdana" panose="020B0604030504040204"/>
                        </a:rPr>
                        <a:t>17</a:t>
                      </a:r>
                      <a:endParaRPr sz="2000">
                        <a:latin typeface="Verdana" panose="020B0604030504040204"/>
                        <a:cs typeface="Verdana" panose="020B0604030504040204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F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38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spc="15" dirty="0">
                          <a:solidFill>
                            <a:srgbClr val="404040"/>
                          </a:solidFill>
                          <a:latin typeface="Verdana" panose="020B0604030504040204"/>
                          <a:cs typeface="Verdana" panose="020B0604030504040204"/>
                        </a:rPr>
                        <a:t>Leslie</a:t>
                      </a:r>
                      <a:endParaRPr sz="2000">
                        <a:latin typeface="Verdana" panose="020B0604030504040204"/>
                        <a:cs typeface="Verdana" panose="020B0604030504040204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FE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spc="-5" dirty="0">
                          <a:solidFill>
                            <a:srgbClr val="404040"/>
                          </a:solidFill>
                          <a:latin typeface="Verdana" panose="020B0604030504040204"/>
                          <a:cs typeface="Verdana" panose="020B0604030504040204"/>
                        </a:rPr>
                        <a:t>Senior</a:t>
                      </a:r>
                      <a:endParaRPr sz="2000">
                        <a:latin typeface="Verdana" panose="020B0604030504040204"/>
                        <a:cs typeface="Verdana" panose="020B0604030504040204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FE7"/>
                    </a:solidFill>
                  </a:tcPr>
                </a:tc>
                <a:tc>
                  <a:txBody>
                    <a:bodyPr/>
                    <a:lstStyle/>
                    <a:p>
                      <a:pPr marR="83820" algn="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spc="-225" dirty="0">
                          <a:solidFill>
                            <a:srgbClr val="404040"/>
                          </a:solidFill>
                          <a:latin typeface="Verdana" panose="020B0604030504040204"/>
                          <a:cs typeface="Verdana" panose="020B0604030504040204"/>
                        </a:rPr>
                        <a:t>19</a:t>
                      </a:r>
                      <a:endParaRPr sz="2000">
                        <a:latin typeface="Verdana" panose="020B0604030504040204"/>
                        <a:cs typeface="Verdana" panose="020B0604030504040204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F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23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spc="15" dirty="0">
                          <a:solidFill>
                            <a:srgbClr val="404040"/>
                          </a:solidFill>
                          <a:latin typeface="Verdana" panose="020B0604030504040204"/>
                          <a:cs typeface="Verdana" panose="020B0604030504040204"/>
                        </a:rPr>
                        <a:t>Matt</a:t>
                      </a:r>
                      <a:endParaRPr sz="2000">
                        <a:latin typeface="Verdana" panose="020B0604030504040204"/>
                        <a:cs typeface="Verdana" panose="020B0604030504040204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FF4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spc="35" dirty="0">
                          <a:solidFill>
                            <a:srgbClr val="404040"/>
                          </a:solidFill>
                          <a:latin typeface="Verdana" panose="020B0604030504040204"/>
                          <a:cs typeface="Verdana" panose="020B0604030504040204"/>
                        </a:rPr>
                        <a:t>Junior</a:t>
                      </a:r>
                      <a:endParaRPr sz="2000">
                        <a:latin typeface="Verdana" panose="020B0604030504040204"/>
                        <a:cs typeface="Verdana" panose="020B0604030504040204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FF4"/>
                    </a:solidFill>
                  </a:tcPr>
                </a:tc>
                <a:tc>
                  <a:txBody>
                    <a:bodyPr/>
                    <a:lstStyle/>
                    <a:p>
                      <a:pPr marR="83820" algn="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spc="-225" dirty="0">
                          <a:solidFill>
                            <a:srgbClr val="404040"/>
                          </a:solidFill>
                          <a:latin typeface="Verdana" panose="020B0604030504040204"/>
                          <a:cs typeface="Verdana" panose="020B0604030504040204"/>
                        </a:rPr>
                        <a:t>16</a:t>
                      </a:r>
                      <a:endParaRPr sz="2000">
                        <a:latin typeface="Verdana" panose="020B0604030504040204"/>
                        <a:cs typeface="Verdana" panose="020B0604030504040204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F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23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spc="60" dirty="0">
                          <a:solidFill>
                            <a:srgbClr val="404040"/>
                          </a:solidFill>
                          <a:latin typeface="Verdana" panose="020B0604030504040204"/>
                          <a:cs typeface="Verdana" panose="020B0604030504040204"/>
                        </a:rPr>
                        <a:t>Ned</a:t>
                      </a:r>
                      <a:endParaRPr sz="2000">
                        <a:latin typeface="Verdana" panose="020B0604030504040204"/>
                        <a:cs typeface="Verdana" panose="020B0604030504040204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FE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spc="-15" dirty="0">
                          <a:solidFill>
                            <a:srgbClr val="404040"/>
                          </a:solidFill>
                          <a:latin typeface="Verdana" panose="020B0604030504040204"/>
                          <a:cs typeface="Verdana" panose="020B0604030504040204"/>
                        </a:rPr>
                        <a:t>Freshman</a:t>
                      </a:r>
                      <a:endParaRPr sz="2000">
                        <a:latin typeface="Verdana" panose="020B0604030504040204"/>
                        <a:cs typeface="Verdana" panose="020B0604030504040204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FE7"/>
                    </a:solidFill>
                  </a:tcPr>
                </a:tc>
                <a:tc>
                  <a:txBody>
                    <a:bodyPr/>
                    <a:lstStyle/>
                    <a:p>
                      <a:pPr marR="83820" algn="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spc="-254" dirty="0">
                          <a:solidFill>
                            <a:srgbClr val="404040"/>
                          </a:solidFill>
                          <a:latin typeface="Verdana" panose="020B0604030504040204"/>
                          <a:cs typeface="Verdana" panose="020B0604030504040204"/>
                        </a:rPr>
                        <a:t>15</a:t>
                      </a:r>
                      <a:endParaRPr sz="2000">
                        <a:latin typeface="Verdana" panose="020B0604030504040204"/>
                        <a:cs typeface="Verdana" panose="020B0604030504040204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F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6237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000" spc="-30" dirty="0">
                          <a:solidFill>
                            <a:srgbClr val="404040"/>
                          </a:solidFill>
                          <a:latin typeface="Verdana" panose="020B0604030504040204"/>
                          <a:cs typeface="Verdana" panose="020B0604030504040204"/>
                        </a:rPr>
                        <a:t>Susie</a:t>
                      </a:r>
                      <a:endParaRPr sz="2000">
                        <a:latin typeface="Verdana" panose="020B0604030504040204"/>
                        <a:cs typeface="Verdana" panose="020B0604030504040204"/>
                      </a:endParaRPr>
                    </a:p>
                  </a:txBody>
                  <a:tcPr marL="0" marR="0" marT="3619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FF4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000" spc="35" dirty="0">
                          <a:solidFill>
                            <a:srgbClr val="404040"/>
                          </a:solidFill>
                          <a:latin typeface="Verdana" panose="020B0604030504040204"/>
                          <a:cs typeface="Verdana" panose="020B0604030504040204"/>
                        </a:rPr>
                        <a:t>Junior</a:t>
                      </a:r>
                      <a:endParaRPr sz="2000">
                        <a:latin typeface="Verdana" panose="020B0604030504040204"/>
                        <a:cs typeface="Verdana" panose="020B0604030504040204"/>
                      </a:endParaRPr>
                    </a:p>
                  </a:txBody>
                  <a:tcPr marL="0" marR="0" marT="3619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FF4"/>
                    </a:solidFill>
                  </a:tcPr>
                </a:tc>
                <a:tc>
                  <a:txBody>
                    <a:bodyPr/>
                    <a:lstStyle/>
                    <a:p>
                      <a:pPr marR="83820" algn="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000" spc="-250" dirty="0">
                          <a:solidFill>
                            <a:srgbClr val="404040"/>
                          </a:solidFill>
                          <a:latin typeface="Verdana" panose="020B0604030504040204"/>
                          <a:cs typeface="Verdana" panose="020B0604030504040204"/>
                        </a:rPr>
                        <a:t>18</a:t>
                      </a:r>
                      <a:endParaRPr sz="2000">
                        <a:latin typeface="Verdana" panose="020B0604030504040204"/>
                        <a:cs typeface="Verdana" panose="020B0604030504040204"/>
                      </a:endParaRPr>
                    </a:p>
                  </a:txBody>
                  <a:tcPr marL="0" marR="0" marT="3619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F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3630322" y="2622063"/>
            <a:ext cx="16840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9BC750"/>
                </a:solidFill>
                <a:latin typeface="Arial MT"/>
                <a:cs typeface="Arial MT"/>
              </a:rPr>
              <a:t>AS</a:t>
            </a:r>
            <a:r>
              <a:rPr sz="2400" spc="-95" dirty="0">
                <a:solidFill>
                  <a:srgbClr val="9BC750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9BC750"/>
                </a:solidFill>
                <a:latin typeface="Arial MT"/>
                <a:cs typeface="Arial MT"/>
              </a:rPr>
              <a:t>avg_age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/>
              <a:t>10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27304" y="1877108"/>
            <a:ext cx="2452547" cy="2340543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34053" y="1871561"/>
            <a:ext cx="2317347" cy="234938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604138" y="2566073"/>
            <a:ext cx="2447889" cy="961942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947819" y="4545905"/>
            <a:ext cx="2813050" cy="939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84455" algn="just">
              <a:lnSpc>
                <a:spcPct val="100000"/>
              </a:lnSpc>
              <a:spcBef>
                <a:spcPts val="95"/>
              </a:spcBef>
            </a:pPr>
            <a:r>
              <a:rPr sz="2000" spc="35" dirty="0">
                <a:solidFill>
                  <a:srgbClr val="404040"/>
                </a:solidFill>
                <a:latin typeface="Verdana" panose="020B0604030504040204"/>
                <a:cs typeface="Verdana" panose="020B0604030504040204"/>
              </a:rPr>
              <a:t>Aggregate </a:t>
            </a:r>
            <a:r>
              <a:rPr sz="2000" spc="15" dirty="0">
                <a:solidFill>
                  <a:srgbClr val="404040"/>
                </a:solidFill>
                <a:latin typeface="Verdana" panose="020B0604030504040204"/>
                <a:cs typeface="Verdana" panose="020B0604030504040204"/>
              </a:rPr>
              <a:t>functions </a:t>
            </a:r>
            <a:r>
              <a:rPr sz="2000" spc="-690" dirty="0">
                <a:solidFill>
                  <a:srgbClr val="404040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000" spc="10" dirty="0">
                <a:solidFill>
                  <a:srgbClr val="404040"/>
                </a:solidFill>
                <a:latin typeface="Verdana" panose="020B0604030504040204"/>
                <a:cs typeface="Verdana" panose="020B0604030504040204"/>
              </a:rPr>
              <a:t>can </a:t>
            </a:r>
            <a:r>
              <a:rPr sz="2000" spc="50" dirty="0">
                <a:solidFill>
                  <a:srgbClr val="404040"/>
                </a:solidFill>
                <a:latin typeface="Verdana" panose="020B0604030504040204"/>
                <a:cs typeface="Verdana" panose="020B0604030504040204"/>
              </a:rPr>
              <a:t>be </a:t>
            </a:r>
            <a:r>
              <a:rPr sz="2000" spc="5" dirty="0">
                <a:solidFill>
                  <a:srgbClr val="404040"/>
                </a:solidFill>
                <a:latin typeface="Verdana" panose="020B0604030504040204"/>
                <a:cs typeface="Verdana" panose="020B0604030504040204"/>
              </a:rPr>
              <a:t>used </a:t>
            </a:r>
            <a:r>
              <a:rPr sz="2000" spc="30" dirty="0">
                <a:solidFill>
                  <a:srgbClr val="404040"/>
                </a:solidFill>
                <a:latin typeface="Verdana" panose="020B0604030504040204"/>
                <a:cs typeface="Verdana" panose="020B0604030504040204"/>
              </a:rPr>
              <a:t>for </a:t>
            </a:r>
            <a:r>
              <a:rPr sz="2000" spc="-5" dirty="0">
                <a:solidFill>
                  <a:srgbClr val="404040"/>
                </a:solidFill>
                <a:latin typeface="Verdana" panose="020B0604030504040204"/>
                <a:cs typeface="Verdana" panose="020B0604030504040204"/>
              </a:rPr>
              <a:t>more </a:t>
            </a:r>
            <a:r>
              <a:rPr sz="2000" spc="-690" dirty="0">
                <a:solidFill>
                  <a:srgbClr val="404040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000" spc="20" dirty="0">
                <a:solidFill>
                  <a:srgbClr val="404040"/>
                </a:solidFill>
                <a:latin typeface="Verdana" panose="020B0604030504040204"/>
                <a:cs typeface="Verdana" panose="020B0604030504040204"/>
              </a:rPr>
              <a:t>sophisticated</a:t>
            </a:r>
            <a:r>
              <a:rPr sz="2000" spc="-155" dirty="0">
                <a:solidFill>
                  <a:srgbClr val="404040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000" spc="-25" dirty="0">
                <a:solidFill>
                  <a:srgbClr val="404040"/>
                </a:solidFill>
                <a:latin typeface="Verdana" panose="020B0604030504040204"/>
                <a:cs typeface="Verdana" panose="020B0604030504040204"/>
              </a:rPr>
              <a:t>analysis</a:t>
            </a:r>
            <a:endParaRPr sz="2000">
              <a:latin typeface="Verdana" panose="020B0604030504040204"/>
              <a:cs typeface="Verdana" panose="020B0604030504040204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037157" y="519066"/>
            <a:ext cx="402971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5" dirty="0">
                <a:solidFill>
                  <a:srgbClr val="404040"/>
                </a:solidFill>
              </a:rPr>
              <a:t>Analyzing</a:t>
            </a:r>
            <a:r>
              <a:rPr spc="-229" dirty="0">
                <a:solidFill>
                  <a:srgbClr val="404040"/>
                </a:solidFill>
              </a:rPr>
              <a:t> </a:t>
            </a:r>
            <a:r>
              <a:rPr spc="-15" dirty="0">
                <a:solidFill>
                  <a:srgbClr val="404040"/>
                </a:solidFill>
              </a:rPr>
              <a:t>Groups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811991" y="4545905"/>
            <a:ext cx="258572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1435" marR="5080" indent="-39370">
              <a:lnSpc>
                <a:spcPct val="100000"/>
              </a:lnSpc>
              <a:spcBef>
                <a:spcPts val="95"/>
              </a:spcBef>
            </a:pPr>
            <a:r>
              <a:rPr sz="2000" spc="45" dirty="0">
                <a:solidFill>
                  <a:srgbClr val="404040"/>
                </a:solidFill>
                <a:latin typeface="Verdana" panose="020B0604030504040204"/>
                <a:cs typeface="Verdana" panose="020B0604030504040204"/>
              </a:rPr>
              <a:t>What</a:t>
            </a:r>
            <a:r>
              <a:rPr sz="2000" spc="-110" dirty="0">
                <a:solidFill>
                  <a:srgbClr val="404040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000" spc="-15" dirty="0">
                <a:solidFill>
                  <a:srgbClr val="404040"/>
                </a:solidFill>
                <a:latin typeface="Verdana" panose="020B0604030504040204"/>
                <a:cs typeface="Verdana" panose="020B0604030504040204"/>
              </a:rPr>
              <a:t>is</a:t>
            </a:r>
            <a:r>
              <a:rPr sz="2000" spc="-130" dirty="0">
                <a:solidFill>
                  <a:srgbClr val="404040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000" spc="10" dirty="0">
                <a:solidFill>
                  <a:srgbClr val="404040"/>
                </a:solidFill>
                <a:latin typeface="Verdana" panose="020B0604030504040204"/>
                <a:cs typeface="Verdana" panose="020B0604030504040204"/>
              </a:rPr>
              <a:t>our</a:t>
            </a:r>
            <a:r>
              <a:rPr sz="2000" spc="-125" dirty="0">
                <a:solidFill>
                  <a:srgbClr val="404040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000" spc="-20" dirty="0">
                <a:solidFill>
                  <a:srgbClr val="404040"/>
                </a:solidFill>
                <a:latin typeface="Verdana" panose="020B0604030504040204"/>
                <a:cs typeface="Verdana" panose="020B0604030504040204"/>
              </a:rPr>
              <a:t>average </a:t>
            </a:r>
            <a:r>
              <a:rPr sz="2000" spc="-690" dirty="0">
                <a:solidFill>
                  <a:srgbClr val="404040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000" spc="20" dirty="0">
                <a:solidFill>
                  <a:srgbClr val="404040"/>
                </a:solidFill>
                <a:latin typeface="Verdana" panose="020B0604030504040204"/>
                <a:cs typeface="Verdana" panose="020B0604030504040204"/>
              </a:rPr>
              <a:t>age</a:t>
            </a:r>
            <a:r>
              <a:rPr sz="2000" spc="-114" dirty="0">
                <a:solidFill>
                  <a:srgbClr val="404040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000" spc="20" dirty="0">
                <a:solidFill>
                  <a:srgbClr val="404040"/>
                </a:solidFill>
                <a:latin typeface="Verdana" panose="020B0604030504040204"/>
                <a:cs typeface="Verdana" panose="020B0604030504040204"/>
              </a:rPr>
              <a:t>by</a:t>
            </a:r>
            <a:r>
              <a:rPr sz="2000" spc="-130" dirty="0">
                <a:solidFill>
                  <a:srgbClr val="404040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000" spc="15" dirty="0">
                <a:solidFill>
                  <a:srgbClr val="404040"/>
                </a:solidFill>
                <a:latin typeface="Verdana" panose="020B0604030504040204"/>
                <a:cs typeface="Verdana" panose="020B0604030504040204"/>
              </a:rPr>
              <a:t>grade</a:t>
            </a:r>
            <a:r>
              <a:rPr sz="2000" spc="-114" dirty="0">
                <a:solidFill>
                  <a:srgbClr val="404040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Verdana" panose="020B0604030504040204"/>
                <a:cs typeface="Verdana" panose="020B0604030504040204"/>
              </a:rPr>
              <a:t>level?</a:t>
            </a:r>
            <a:endParaRPr sz="2000">
              <a:latin typeface="Verdana" panose="020B0604030504040204"/>
              <a:cs typeface="Verdana" panose="020B060403050404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362659" y="4545905"/>
            <a:ext cx="293560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36830">
              <a:lnSpc>
                <a:spcPct val="100000"/>
              </a:lnSpc>
              <a:spcBef>
                <a:spcPts val="95"/>
              </a:spcBef>
            </a:pPr>
            <a:r>
              <a:rPr sz="2000" spc="70" dirty="0">
                <a:solidFill>
                  <a:srgbClr val="404040"/>
                </a:solidFill>
                <a:latin typeface="Verdana" panose="020B0604030504040204"/>
                <a:cs typeface="Verdana" panose="020B0604030504040204"/>
              </a:rPr>
              <a:t>GROUP</a:t>
            </a:r>
            <a:r>
              <a:rPr sz="2000" spc="-120" dirty="0">
                <a:solidFill>
                  <a:srgbClr val="404040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000" spc="100" dirty="0">
                <a:solidFill>
                  <a:srgbClr val="404040"/>
                </a:solidFill>
                <a:latin typeface="Verdana" panose="020B0604030504040204"/>
                <a:cs typeface="Verdana" panose="020B0604030504040204"/>
              </a:rPr>
              <a:t>BY</a:t>
            </a:r>
            <a:r>
              <a:rPr sz="2000" spc="-105" dirty="0">
                <a:solidFill>
                  <a:srgbClr val="404040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000" spc="5" dirty="0">
                <a:solidFill>
                  <a:srgbClr val="404040"/>
                </a:solidFill>
                <a:latin typeface="Verdana" panose="020B0604030504040204"/>
                <a:cs typeface="Verdana" panose="020B0604030504040204"/>
              </a:rPr>
              <a:t>keyword</a:t>
            </a:r>
            <a:r>
              <a:rPr sz="2000" spc="-135" dirty="0">
                <a:solidFill>
                  <a:srgbClr val="404040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000" spc="-20" dirty="0">
                <a:solidFill>
                  <a:srgbClr val="404040"/>
                </a:solidFill>
                <a:latin typeface="Verdana" panose="020B0604030504040204"/>
                <a:cs typeface="Verdana" panose="020B0604030504040204"/>
              </a:rPr>
              <a:t>is </a:t>
            </a:r>
            <a:r>
              <a:rPr sz="2000" spc="-690" dirty="0">
                <a:solidFill>
                  <a:srgbClr val="404040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000" spc="5" dirty="0">
                <a:solidFill>
                  <a:srgbClr val="404040"/>
                </a:solidFill>
                <a:latin typeface="Verdana" panose="020B0604030504040204"/>
                <a:cs typeface="Verdana" panose="020B0604030504040204"/>
              </a:rPr>
              <a:t>used</a:t>
            </a:r>
            <a:r>
              <a:rPr sz="2000" spc="-125" dirty="0">
                <a:solidFill>
                  <a:srgbClr val="404040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000" spc="50" dirty="0">
                <a:solidFill>
                  <a:srgbClr val="404040"/>
                </a:solidFill>
                <a:latin typeface="Verdana" panose="020B0604030504040204"/>
                <a:cs typeface="Verdana" panose="020B0604030504040204"/>
              </a:rPr>
              <a:t>to</a:t>
            </a:r>
            <a:r>
              <a:rPr sz="2000" spc="-130" dirty="0">
                <a:solidFill>
                  <a:srgbClr val="404040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000" spc="30" dirty="0">
                <a:solidFill>
                  <a:srgbClr val="404040"/>
                </a:solidFill>
                <a:latin typeface="Verdana" panose="020B0604030504040204"/>
                <a:cs typeface="Verdana" panose="020B0604030504040204"/>
              </a:rPr>
              <a:t>specify</a:t>
            </a:r>
            <a:r>
              <a:rPr sz="2000" spc="-120" dirty="0">
                <a:solidFill>
                  <a:srgbClr val="404040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000" spc="20" dirty="0">
                <a:solidFill>
                  <a:srgbClr val="404040"/>
                </a:solidFill>
                <a:latin typeface="Verdana" panose="020B0604030504040204"/>
                <a:cs typeface="Verdana" panose="020B0604030504040204"/>
              </a:rPr>
              <a:t>groups</a:t>
            </a:r>
            <a:endParaRPr sz="2000">
              <a:latin typeface="Verdana" panose="020B0604030504040204"/>
              <a:cs typeface="Verdana" panose="020B0604030504040204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/>
              <a:t>11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98995" y="754380"/>
            <a:ext cx="3361690" cy="2052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SELECT</a:t>
            </a:r>
            <a:r>
              <a:rPr sz="2200" spc="-1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grade_lvl,</a:t>
            </a:r>
            <a:endParaRPr sz="2200">
              <a:latin typeface="Arial MT"/>
              <a:cs typeface="Arial MT"/>
            </a:endParaRPr>
          </a:p>
          <a:p>
            <a:pPr marL="167640" marR="5080" indent="373380">
              <a:lnSpc>
                <a:spcPts val="4440"/>
              </a:lnSpc>
              <a:spcBef>
                <a:spcPts val="450"/>
              </a:spcBef>
            </a:pPr>
            <a:r>
              <a:rPr sz="2200" spc="-165" dirty="0">
                <a:solidFill>
                  <a:srgbClr val="EF5A28"/>
                </a:solidFill>
                <a:latin typeface="Arial MT"/>
                <a:cs typeface="Arial MT"/>
              </a:rPr>
              <a:t>A</a:t>
            </a:r>
            <a:r>
              <a:rPr sz="2200" dirty="0">
                <a:solidFill>
                  <a:srgbClr val="EF5A28"/>
                </a:solidFill>
                <a:latin typeface="Arial MT"/>
                <a:cs typeface="Arial MT"/>
              </a:rPr>
              <a:t>V</a:t>
            </a:r>
            <a:r>
              <a:rPr sz="2200" spc="-5" dirty="0">
                <a:solidFill>
                  <a:srgbClr val="EF5A28"/>
                </a:solidFill>
                <a:latin typeface="Arial MT"/>
                <a:cs typeface="Arial MT"/>
              </a:rPr>
              <a:t>G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(age</a:t>
            </a:r>
            <a:r>
              <a:rPr sz="2200" dirty="0">
                <a:solidFill>
                  <a:srgbClr val="FFFFFF"/>
                </a:solidFill>
                <a:latin typeface="Arial MT"/>
                <a:cs typeface="Arial MT"/>
              </a:rPr>
              <a:t>)</a:t>
            </a:r>
            <a:r>
              <a:rPr sz="2200" spc="-1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FFFFFF"/>
                </a:solidFill>
                <a:latin typeface="Arial MT"/>
                <a:cs typeface="Arial MT"/>
              </a:rPr>
              <a:t>AS</a:t>
            </a:r>
            <a:r>
              <a:rPr sz="22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r>
              <a:rPr sz="2200" dirty="0">
                <a:solidFill>
                  <a:srgbClr val="FFFFFF"/>
                </a:solidFill>
                <a:latin typeface="Arial MT"/>
                <a:cs typeface="Arial MT"/>
              </a:rPr>
              <a:t>v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g_age  FROM</a:t>
            </a:r>
            <a:r>
              <a:rPr sz="22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person</a:t>
            </a:r>
            <a:endParaRPr sz="2200">
              <a:latin typeface="Arial MT"/>
              <a:cs typeface="Arial MT"/>
            </a:endParaRPr>
          </a:p>
          <a:p>
            <a:pPr marL="89535">
              <a:lnSpc>
                <a:spcPct val="100000"/>
              </a:lnSpc>
              <a:spcBef>
                <a:spcPts val="1350"/>
              </a:spcBef>
            </a:pPr>
            <a:r>
              <a:rPr sz="2200" spc="-5" dirty="0">
                <a:solidFill>
                  <a:srgbClr val="9BC750"/>
                </a:solidFill>
                <a:latin typeface="Arial MT"/>
                <a:cs typeface="Arial MT"/>
              </a:rPr>
              <a:t>GROUP</a:t>
            </a:r>
            <a:r>
              <a:rPr sz="2200" spc="-70" dirty="0">
                <a:solidFill>
                  <a:srgbClr val="9BC75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9BC750"/>
                </a:solidFill>
                <a:latin typeface="Arial MT"/>
                <a:cs typeface="Arial MT"/>
              </a:rPr>
              <a:t>BY</a:t>
            </a:r>
            <a:r>
              <a:rPr sz="2200" spc="-70" dirty="0">
                <a:solidFill>
                  <a:srgbClr val="9BC750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A9FBB"/>
                </a:solidFill>
                <a:latin typeface="Arial MT"/>
                <a:cs typeface="Arial MT"/>
              </a:rPr>
              <a:t>grade_lvl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;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66425" y="753923"/>
            <a:ext cx="4257675" cy="1042035"/>
          </a:xfrm>
          <a:prstGeom prst="rect">
            <a:avLst/>
          </a:prstGeom>
        </p:spPr>
        <p:txBody>
          <a:bodyPr vert="horz" wrap="square" lIns="0" tIns="1854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60"/>
              </a:spcBef>
            </a:pPr>
            <a:r>
              <a:rPr sz="1550" spc="-155" dirty="0">
                <a:solidFill>
                  <a:srgbClr val="404040"/>
                </a:solidFill>
                <a:latin typeface="Lucida Sans Unicode" panose="020B0602030504020204"/>
                <a:cs typeface="Lucida Sans Unicode" panose="020B0602030504020204"/>
              </a:rPr>
              <a:t>◀</a:t>
            </a:r>
            <a:r>
              <a:rPr sz="1550" spc="380" dirty="0">
                <a:solidFill>
                  <a:srgbClr val="404040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200" spc="45" dirty="0">
                <a:solidFill>
                  <a:srgbClr val="404040"/>
                </a:solidFill>
                <a:latin typeface="Verdana" panose="020B0604030504040204"/>
                <a:cs typeface="Verdana" panose="020B0604030504040204"/>
              </a:rPr>
              <a:t>Aggregate</a:t>
            </a:r>
            <a:r>
              <a:rPr sz="2200" spc="-135" dirty="0">
                <a:solidFill>
                  <a:srgbClr val="404040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200" spc="-20" dirty="0">
                <a:solidFill>
                  <a:srgbClr val="EF5A28"/>
                </a:solidFill>
                <a:latin typeface="Verdana" panose="020B0604030504040204"/>
                <a:cs typeface="Verdana" panose="020B0604030504040204"/>
              </a:rPr>
              <a:t>average</a:t>
            </a:r>
            <a:r>
              <a:rPr sz="2200" spc="-135" dirty="0">
                <a:solidFill>
                  <a:srgbClr val="EF5A28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200" spc="25" dirty="0">
                <a:solidFill>
                  <a:srgbClr val="404040"/>
                </a:solidFill>
                <a:latin typeface="Verdana" panose="020B0604030504040204"/>
                <a:cs typeface="Verdana" panose="020B0604030504040204"/>
              </a:rPr>
              <a:t>function</a:t>
            </a:r>
            <a:endParaRPr sz="2200">
              <a:latin typeface="Verdana" panose="020B0604030504040204"/>
              <a:cs typeface="Verdana" panose="020B0604030504040204"/>
            </a:endParaRPr>
          </a:p>
          <a:p>
            <a:pPr marL="12700">
              <a:lnSpc>
                <a:spcPct val="100000"/>
              </a:lnSpc>
              <a:spcBef>
                <a:spcPts val="1360"/>
              </a:spcBef>
            </a:pPr>
            <a:r>
              <a:rPr sz="1550" spc="-155" dirty="0">
                <a:solidFill>
                  <a:srgbClr val="404040"/>
                </a:solidFill>
                <a:latin typeface="Lucida Sans Unicode" panose="020B0602030504020204"/>
                <a:cs typeface="Lucida Sans Unicode" panose="020B0602030504020204"/>
              </a:rPr>
              <a:t>◀</a:t>
            </a:r>
            <a:r>
              <a:rPr sz="1550" spc="380" dirty="0">
                <a:solidFill>
                  <a:srgbClr val="404040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200" spc="25" dirty="0">
                <a:solidFill>
                  <a:srgbClr val="9BC750"/>
                </a:solidFill>
                <a:latin typeface="Verdana" panose="020B0604030504040204"/>
                <a:cs typeface="Verdana" panose="020B0604030504040204"/>
              </a:rPr>
              <a:t>Group</a:t>
            </a:r>
            <a:r>
              <a:rPr sz="2200" spc="-120" dirty="0">
                <a:solidFill>
                  <a:srgbClr val="9BC750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200" spc="-20" dirty="0">
                <a:solidFill>
                  <a:srgbClr val="404040"/>
                </a:solidFill>
                <a:latin typeface="Verdana" panose="020B0604030504040204"/>
                <a:cs typeface="Verdana" panose="020B0604030504040204"/>
              </a:rPr>
              <a:t>results</a:t>
            </a:r>
            <a:r>
              <a:rPr sz="2200" spc="-120" dirty="0">
                <a:solidFill>
                  <a:srgbClr val="404040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200" spc="30" dirty="0">
                <a:solidFill>
                  <a:srgbClr val="404040"/>
                </a:solidFill>
                <a:latin typeface="Verdana" panose="020B0604030504040204"/>
                <a:cs typeface="Verdana" panose="020B0604030504040204"/>
              </a:rPr>
              <a:t>by</a:t>
            </a:r>
            <a:r>
              <a:rPr sz="2200" spc="-130" dirty="0">
                <a:solidFill>
                  <a:srgbClr val="404040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200" spc="20" dirty="0">
                <a:solidFill>
                  <a:srgbClr val="2A9FBB"/>
                </a:solidFill>
                <a:latin typeface="Verdana" panose="020B0604030504040204"/>
                <a:cs typeface="Verdana" panose="020B0604030504040204"/>
              </a:rPr>
              <a:t>grade</a:t>
            </a:r>
            <a:r>
              <a:rPr sz="2200" spc="-130" dirty="0">
                <a:solidFill>
                  <a:srgbClr val="2A9FBB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200" spc="-10" dirty="0">
                <a:solidFill>
                  <a:srgbClr val="2A9FBB"/>
                </a:solidFill>
                <a:latin typeface="Verdana" panose="020B0604030504040204"/>
                <a:cs typeface="Verdana" panose="020B0604030504040204"/>
              </a:rPr>
              <a:t>level</a:t>
            </a:r>
            <a:endParaRPr sz="2200">
              <a:latin typeface="Verdana" panose="020B0604030504040204"/>
              <a:cs typeface="Verdana" panose="020B0604030504040204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6574778" y="3218947"/>
          <a:ext cx="4899659" cy="277367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33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332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332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6239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spc="25" dirty="0">
                          <a:solidFill>
                            <a:srgbClr val="FFFFFF"/>
                          </a:solidFill>
                          <a:latin typeface="Verdana" panose="020B0604030504040204"/>
                          <a:cs typeface="Verdana" panose="020B0604030504040204"/>
                        </a:rPr>
                        <a:t>name</a:t>
                      </a:r>
                      <a:endParaRPr sz="2000">
                        <a:latin typeface="Verdana" panose="020B0604030504040204"/>
                        <a:cs typeface="Verdana" panose="020B0604030504040204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2A9FBB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spc="55" dirty="0">
                          <a:solidFill>
                            <a:srgbClr val="FFFFFF"/>
                          </a:solidFill>
                          <a:latin typeface="Verdana" panose="020B0604030504040204"/>
                          <a:cs typeface="Verdana" panose="020B0604030504040204"/>
                        </a:rPr>
                        <a:t>grade_lvl</a:t>
                      </a:r>
                      <a:endParaRPr sz="2000">
                        <a:latin typeface="Verdana" panose="020B0604030504040204"/>
                        <a:cs typeface="Verdana" panose="020B0604030504040204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2A9F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spc="55" dirty="0">
                          <a:solidFill>
                            <a:srgbClr val="FFFFFF"/>
                          </a:solidFill>
                          <a:latin typeface="Verdana" panose="020B0604030504040204"/>
                          <a:cs typeface="Verdana" panose="020B0604030504040204"/>
                        </a:rPr>
                        <a:t>age</a:t>
                      </a:r>
                      <a:endParaRPr sz="2000">
                        <a:latin typeface="Verdana" panose="020B0604030504040204"/>
                        <a:cs typeface="Verdana" panose="020B0604030504040204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2A9FB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spc="25" dirty="0">
                          <a:solidFill>
                            <a:srgbClr val="404040"/>
                          </a:solidFill>
                          <a:latin typeface="Verdana" panose="020B0604030504040204"/>
                          <a:cs typeface="Verdana" panose="020B0604030504040204"/>
                        </a:rPr>
                        <a:t>Eliza</a:t>
                      </a:r>
                      <a:endParaRPr sz="2000">
                        <a:latin typeface="Verdana" panose="020B0604030504040204"/>
                        <a:cs typeface="Verdana" panose="020B0604030504040204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FE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spc="35" dirty="0">
                          <a:solidFill>
                            <a:srgbClr val="404040"/>
                          </a:solidFill>
                          <a:latin typeface="Verdana" panose="020B0604030504040204"/>
                          <a:cs typeface="Verdana" panose="020B0604030504040204"/>
                        </a:rPr>
                        <a:t>Junior</a:t>
                      </a:r>
                      <a:endParaRPr sz="2000">
                        <a:latin typeface="Verdana" panose="020B0604030504040204"/>
                        <a:cs typeface="Verdana" panose="020B0604030504040204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FE7"/>
                    </a:solidFill>
                  </a:tcPr>
                </a:tc>
                <a:tc>
                  <a:txBody>
                    <a:bodyPr/>
                    <a:lstStyle/>
                    <a:p>
                      <a:pPr marR="84455" algn="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spc="-270" dirty="0">
                          <a:solidFill>
                            <a:srgbClr val="404040"/>
                          </a:solidFill>
                          <a:latin typeface="Verdana" panose="020B0604030504040204"/>
                          <a:cs typeface="Verdana" panose="020B0604030504040204"/>
                        </a:rPr>
                        <a:t>17</a:t>
                      </a:r>
                      <a:endParaRPr sz="2000">
                        <a:latin typeface="Verdana" panose="020B0604030504040204"/>
                        <a:cs typeface="Verdana" panose="020B0604030504040204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F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41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spc="35" dirty="0">
                          <a:solidFill>
                            <a:srgbClr val="404040"/>
                          </a:solidFill>
                          <a:latin typeface="Verdana" panose="020B0604030504040204"/>
                          <a:cs typeface="Verdana" panose="020B0604030504040204"/>
                        </a:rPr>
                        <a:t>Jane</a:t>
                      </a:r>
                      <a:endParaRPr sz="2000">
                        <a:latin typeface="Verdana" panose="020B0604030504040204"/>
                        <a:cs typeface="Verdana" panose="020B0604030504040204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FF4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spc="35" dirty="0">
                          <a:solidFill>
                            <a:srgbClr val="404040"/>
                          </a:solidFill>
                          <a:latin typeface="Verdana" panose="020B0604030504040204"/>
                          <a:cs typeface="Verdana" panose="020B0604030504040204"/>
                        </a:rPr>
                        <a:t>Junior</a:t>
                      </a:r>
                      <a:endParaRPr sz="2000">
                        <a:latin typeface="Verdana" panose="020B0604030504040204"/>
                        <a:cs typeface="Verdana" panose="020B0604030504040204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FF4"/>
                    </a:solidFill>
                  </a:tcPr>
                </a:tc>
                <a:tc>
                  <a:txBody>
                    <a:bodyPr/>
                    <a:lstStyle/>
                    <a:p>
                      <a:pPr marR="84455" algn="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spc="-270" dirty="0">
                          <a:solidFill>
                            <a:srgbClr val="404040"/>
                          </a:solidFill>
                          <a:latin typeface="Verdana" panose="020B0604030504040204"/>
                          <a:cs typeface="Verdana" panose="020B0604030504040204"/>
                        </a:rPr>
                        <a:t>17</a:t>
                      </a:r>
                      <a:endParaRPr sz="2000">
                        <a:latin typeface="Verdana" panose="020B0604030504040204"/>
                        <a:cs typeface="Verdana" panose="020B0604030504040204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F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spc="15" dirty="0">
                          <a:solidFill>
                            <a:srgbClr val="404040"/>
                          </a:solidFill>
                          <a:latin typeface="Verdana" panose="020B0604030504040204"/>
                          <a:cs typeface="Verdana" panose="020B0604030504040204"/>
                        </a:rPr>
                        <a:t>Leslie</a:t>
                      </a:r>
                      <a:endParaRPr sz="2000">
                        <a:latin typeface="Verdana" panose="020B0604030504040204"/>
                        <a:cs typeface="Verdana" panose="020B0604030504040204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FE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spc="-5" dirty="0">
                          <a:solidFill>
                            <a:srgbClr val="404040"/>
                          </a:solidFill>
                          <a:latin typeface="Verdana" panose="020B0604030504040204"/>
                          <a:cs typeface="Verdana" panose="020B0604030504040204"/>
                        </a:rPr>
                        <a:t>Senior</a:t>
                      </a:r>
                      <a:endParaRPr sz="2000">
                        <a:latin typeface="Verdana" panose="020B0604030504040204"/>
                        <a:cs typeface="Verdana" panose="020B0604030504040204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FE7"/>
                    </a:solidFill>
                  </a:tcPr>
                </a:tc>
                <a:tc>
                  <a:txBody>
                    <a:bodyPr/>
                    <a:lstStyle/>
                    <a:p>
                      <a:pPr marR="83820" algn="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spc="-225" dirty="0">
                          <a:solidFill>
                            <a:srgbClr val="404040"/>
                          </a:solidFill>
                          <a:latin typeface="Verdana" panose="020B0604030504040204"/>
                          <a:cs typeface="Verdana" panose="020B0604030504040204"/>
                        </a:rPr>
                        <a:t>19</a:t>
                      </a:r>
                      <a:endParaRPr sz="2000">
                        <a:latin typeface="Verdana" panose="020B0604030504040204"/>
                        <a:cs typeface="Verdana" panose="020B0604030504040204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F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238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spc="15" dirty="0">
                          <a:solidFill>
                            <a:srgbClr val="404040"/>
                          </a:solidFill>
                          <a:latin typeface="Verdana" panose="020B0604030504040204"/>
                          <a:cs typeface="Verdana" panose="020B0604030504040204"/>
                        </a:rPr>
                        <a:t>Matt</a:t>
                      </a:r>
                      <a:endParaRPr sz="2000">
                        <a:latin typeface="Verdana" panose="020B0604030504040204"/>
                        <a:cs typeface="Verdana" panose="020B0604030504040204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FF4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spc="35" dirty="0">
                          <a:solidFill>
                            <a:srgbClr val="404040"/>
                          </a:solidFill>
                          <a:latin typeface="Verdana" panose="020B0604030504040204"/>
                          <a:cs typeface="Verdana" panose="020B0604030504040204"/>
                        </a:rPr>
                        <a:t>Junior</a:t>
                      </a:r>
                      <a:endParaRPr sz="2000">
                        <a:latin typeface="Verdana" panose="020B0604030504040204"/>
                        <a:cs typeface="Verdana" panose="020B0604030504040204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FF4"/>
                    </a:solidFill>
                  </a:tcPr>
                </a:tc>
                <a:tc>
                  <a:txBody>
                    <a:bodyPr/>
                    <a:lstStyle/>
                    <a:p>
                      <a:pPr marR="83820" algn="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spc="-225" dirty="0">
                          <a:solidFill>
                            <a:srgbClr val="404040"/>
                          </a:solidFill>
                          <a:latin typeface="Verdana" panose="020B0604030504040204"/>
                          <a:cs typeface="Verdana" panose="020B0604030504040204"/>
                        </a:rPr>
                        <a:t>16</a:t>
                      </a:r>
                      <a:endParaRPr sz="2000">
                        <a:latin typeface="Verdana" panose="020B0604030504040204"/>
                        <a:cs typeface="Verdana" panose="020B0604030504040204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F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spc="60" dirty="0">
                          <a:solidFill>
                            <a:srgbClr val="404040"/>
                          </a:solidFill>
                          <a:latin typeface="Verdana" panose="020B0604030504040204"/>
                          <a:cs typeface="Verdana" panose="020B0604030504040204"/>
                        </a:rPr>
                        <a:t>Ned</a:t>
                      </a:r>
                      <a:endParaRPr sz="2000">
                        <a:latin typeface="Verdana" panose="020B0604030504040204"/>
                        <a:cs typeface="Verdana" panose="020B0604030504040204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FE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spc="-15" dirty="0">
                          <a:solidFill>
                            <a:srgbClr val="404040"/>
                          </a:solidFill>
                          <a:latin typeface="Verdana" panose="020B0604030504040204"/>
                          <a:cs typeface="Verdana" panose="020B0604030504040204"/>
                        </a:rPr>
                        <a:t>Freshman</a:t>
                      </a:r>
                      <a:endParaRPr sz="2000">
                        <a:latin typeface="Verdana" panose="020B0604030504040204"/>
                        <a:cs typeface="Verdana" panose="020B0604030504040204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FE7"/>
                    </a:solidFill>
                  </a:tcPr>
                </a:tc>
                <a:tc>
                  <a:txBody>
                    <a:bodyPr/>
                    <a:lstStyle/>
                    <a:p>
                      <a:pPr marR="83820" algn="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spc="-254" dirty="0">
                          <a:solidFill>
                            <a:srgbClr val="404040"/>
                          </a:solidFill>
                          <a:latin typeface="Verdana" panose="020B0604030504040204"/>
                          <a:cs typeface="Verdana" panose="020B0604030504040204"/>
                        </a:rPr>
                        <a:t>15</a:t>
                      </a:r>
                      <a:endParaRPr sz="2000">
                        <a:latin typeface="Verdana" panose="020B0604030504040204"/>
                        <a:cs typeface="Verdana" panose="020B0604030504040204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F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6241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000" spc="-30" dirty="0">
                          <a:solidFill>
                            <a:srgbClr val="404040"/>
                          </a:solidFill>
                          <a:latin typeface="Verdana" panose="020B0604030504040204"/>
                          <a:cs typeface="Verdana" panose="020B0604030504040204"/>
                        </a:rPr>
                        <a:t>Susie</a:t>
                      </a:r>
                      <a:endParaRPr sz="2000">
                        <a:latin typeface="Verdana" panose="020B0604030504040204"/>
                        <a:cs typeface="Verdana" panose="020B0604030504040204"/>
                      </a:endParaRPr>
                    </a:p>
                  </a:txBody>
                  <a:tcPr marL="0" marR="0" marT="3619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FF4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000" spc="35" dirty="0">
                          <a:solidFill>
                            <a:srgbClr val="404040"/>
                          </a:solidFill>
                          <a:latin typeface="Verdana" panose="020B0604030504040204"/>
                          <a:cs typeface="Verdana" panose="020B0604030504040204"/>
                        </a:rPr>
                        <a:t>Junior</a:t>
                      </a:r>
                      <a:endParaRPr sz="2000">
                        <a:latin typeface="Verdana" panose="020B0604030504040204"/>
                        <a:cs typeface="Verdana" panose="020B0604030504040204"/>
                      </a:endParaRPr>
                    </a:p>
                  </a:txBody>
                  <a:tcPr marL="0" marR="0" marT="3619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FF4"/>
                    </a:solidFill>
                  </a:tcPr>
                </a:tc>
                <a:tc>
                  <a:txBody>
                    <a:bodyPr/>
                    <a:lstStyle/>
                    <a:p>
                      <a:pPr marR="83820" algn="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000" spc="-250" dirty="0">
                          <a:solidFill>
                            <a:srgbClr val="404040"/>
                          </a:solidFill>
                          <a:latin typeface="Verdana" panose="020B0604030504040204"/>
                          <a:cs typeface="Verdana" panose="020B0604030504040204"/>
                        </a:rPr>
                        <a:t>18</a:t>
                      </a:r>
                      <a:endParaRPr sz="2000">
                        <a:latin typeface="Verdana" panose="020B0604030504040204"/>
                        <a:cs typeface="Verdana" panose="020B0604030504040204"/>
                      </a:endParaRPr>
                    </a:p>
                  </a:txBody>
                  <a:tcPr marL="0" marR="0" marT="3619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F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1189470" y="3813307"/>
          <a:ext cx="3266440" cy="158495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33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332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623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spc="55" dirty="0">
                          <a:solidFill>
                            <a:srgbClr val="FFFFFF"/>
                          </a:solidFill>
                          <a:latin typeface="Verdana" panose="020B0604030504040204"/>
                          <a:cs typeface="Verdana" panose="020B0604030504040204"/>
                        </a:rPr>
                        <a:t>grade_lvl</a:t>
                      </a:r>
                      <a:endParaRPr sz="2000">
                        <a:latin typeface="Verdana" panose="020B0604030504040204"/>
                        <a:cs typeface="Verdana" panose="020B0604030504040204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9BC750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spc="45" dirty="0">
                          <a:solidFill>
                            <a:srgbClr val="FFFFFF"/>
                          </a:solidFill>
                          <a:latin typeface="Verdana" panose="020B0604030504040204"/>
                          <a:cs typeface="Verdana" panose="020B0604030504040204"/>
                        </a:rPr>
                        <a:t>avg_age</a:t>
                      </a:r>
                      <a:endParaRPr sz="2000">
                        <a:latin typeface="Verdana" panose="020B0604030504040204"/>
                        <a:cs typeface="Verdana" panose="020B0604030504040204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9BC7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spc="-15" dirty="0">
                          <a:solidFill>
                            <a:srgbClr val="404040"/>
                          </a:solidFill>
                          <a:latin typeface="Verdana" panose="020B0604030504040204"/>
                          <a:cs typeface="Verdana" panose="020B0604030504040204"/>
                        </a:rPr>
                        <a:t>Freshman</a:t>
                      </a:r>
                      <a:endParaRPr sz="2000">
                        <a:latin typeface="Verdana" panose="020B0604030504040204"/>
                        <a:cs typeface="Verdana" panose="020B0604030504040204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EEBD0"/>
                    </a:solidFill>
                  </a:tcPr>
                </a:tc>
                <a:tc>
                  <a:txBody>
                    <a:bodyPr/>
                    <a:lstStyle/>
                    <a:p>
                      <a:pPr marR="84455" algn="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spc="-254" dirty="0">
                          <a:solidFill>
                            <a:srgbClr val="404040"/>
                          </a:solidFill>
                          <a:latin typeface="Verdana" panose="020B0604030504040204"/>
                          <a:cs typeface="Verdana" panose="020B0604030504040204"/>
                        </a:rPr>
                        <a:t>15</a:t>
                      </a:r>
                      <a:endParaRPr sz="2000">
                        <a:latin typeface="Verdana" panose="020B0604030504040204"/>
                        <a:cs typeface="Verdana" panose="020B0604030504040204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EEB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3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spc="35" dirty="0">
                          <a:solidFill>
                            <a:srgbClr val="404040"/>
                          </a:solidFill>
                          <a:latin typeface="Verdana" panose="020B0604030504040204"/>
                          <a:cs typeface="Verdana" panose="020B0604030504040204"/>
                        </a:rPr>
                        <a:t>Junior</a:t>
                      </a:r>
                      <a:endParaRPr sz="2000">
                        <a:latin typeface="Verdana" panose="020B0604030504040204"/>
                        <a:cs typeface="Verdana" panose="020B0604030504040204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F5E9"/>
                    </a:solidFill>
                  </a:tcPr>
                </a:tc>
                <a:tc>
                  <a:txBody>
                    <a:bodyPr/>
                    <a:lstStyle/>
                    <a:p>
                      <a:pPr marR="84455" algn="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spc="-270" dirty="0">
                          <a:solidFill>
                            <a:srgbClr val="404040"/>
                          </a:solidFill>
                          <a:latin typeface="Verdana" panose="020B0604030504040204"/>
                          <a:cs typeface="Verdana" panose="020B0604030504040204"/>
                        </a:rPr>
                        <a:t>17</a:t>
                      </a:r>
                      <a:endParaRPr sz="2000">
                        <a:latin typeface="Verdana" panose="020B0604030504040204"/>
                        <a:cs typeface="Verdana" panose="020B0604030504040204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spc="-5" dirty="0">
                          <a:solidFill>
                            <a:srgbClr val="404040"/>
                          </a:solidFill>
                          <a:latin typeface="Verdana" panose="020B0604030504040204"/>
                          <a:cs typeface="Verdana" panose="020B0604030504040204"/>
                        </a:rPr>
                        <a:t>Senior</a:t>
                      </a:r>
                      <a:endParaRPr sz="2000">
                        <a:latin typeface="Verdana" panose="020B0604030504040204"/>
                        <a:cs typeface="Verdana" panose="020B0604030504040204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EEBD0"/>
                    </a:solidFill>
                  </a:tcPr>
                </a:tc>
                <a:tc>
                  <a:txBody>
                    <a:bodyPr/>
                    <a:lstStyle/>
                    <a:p>
                      <a:pPr marR="84455" algn="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spc="-225" dirty="0">
                          <a:solidFill>
                            <a:srgbClr val="404040"/>
                          </a:solidFill>
                          <a:latin typeface="Verdana" panose="020B0604030504040204"/>
                          <a:cs typeface="Verdana" panose="020B0604030504040204"/>
                        </a:rPr>
                        <a:t>19</a:t>
                      </a:r>
                      <a:endParaRPr sz="2000">
                        <a:latin typeface="Verdana" panose="020B0604030504040204"/>
                        <a:cs typeface="Verdana" panose="020B0604030504040204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EEB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Slide Number Placeholder 5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/>
              <a:t>12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096380" y="1762886"/>
            <a:ext cx="0" cy="4645660"/>
          </a:xfrm>
          <a:custGeom>
            <a:avLst/>
            <a:gdLst/>
            <a:ahLst/>
            <a:cxnLst/>
            <a:rect l="l" t="t" r="r" b="b"/>
            <a:pathLst>
              <a:path h="4645660">
                <a:moveTo>
                  <a:pt x="0" y="0"/>
                </a:moveTo>
                <a:lnTo>
                  <a:pt x="0" y="4645482"/>
                </a:lnTo>
              </a:path>
            </a:pathLst>
          </a:custGeom>
          <a:ln w="25146">
            <a:solidFill>
              <a:srgbClr val="EF5A2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460384" y="1737233"/>
            <a:ext cx="14230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5" dirty="0">
                <a:solidFill>
                  <a:srgbClr val="EF5A28"/>
                </a:solidFill>
                <a:latin typeface="Verdana" panose="020B0604030504040204"/>
                <a:cs typeface="Verdana" panose="020B0604030504040204"/>
              </a:rPr>
              <a:t>Incorrect</a:t>
            </a:r>
            <a:endParaRPr sz="2400">
              <a:latin typeface="Verdana" panose="020B0604030504040204"/>
              <a:cs typeface="Verdana" panose="020B060403050404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93817" y="2855916"/>
            <a:ext cx="3629660" cy="1336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5" dirty="0">
                <a:solidFill>
                  <a:srgbClr val="404040"/>
                </a:solidFill>
                <a:latin typeface="Arial MT"/>
                <a:cs typeface="Arial MT"/>
              </a:rPr>
              <a:t>SELECT</a:t>
            </a:r>
            <a:r>
              <a:rPr sz="2000" spc="-5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2000" spc="-5" dirty="0">
                <a:solidFill>
                  <a:srgbClr val="EF5A28"/>
                </a:solidFill>
                <a:latin typeface="Arial MT"/>
                <a:cs typeface="Arial MT"/>
              </a:rPr>
              <a:t>grade_lvl</a:t>
            </a:r>
            <a:r>
              <a:rPr sz="2000" spc="-5" dirty="0">
                <a:solidFill>
                  <a:srgbClr val="404040"/>
                </a:solidFill>
                <a:latin typeface="Arial MT"/>
                <a:cs typeface="Arial MT"/>
              </a:rPr>
              <a:t>,</a:t>
            </a:r>
            <a:endParaRPr sz="2000">
              <a:latin typeface="Arial MT"/>
              <a:cs typeface="Arial MT"/>
            </a:endParaRPr>
          </a:p>
          <a:p>
            <a:pPr marL="153670" marR="5080" indent="347980">
              <a:lnSpc>
                <a:spcPct val="165000"/>
              </a:lnSpc>
            </a:pPr>
            <a:r>
              <a:rPr sz="2000" spc="-10" dirty="0">
                <a:solidFill>
                  <a:srgbClr val="404040"/>
                </a:solidFill>
                <a:latin typeface="Arial MT"/>
                <a:cs typeface="Arial MT"/>
              </a:rPr>
              <a:t>M</a:t>
            </a:r>
            <a:r>
              <a:rPr sz="2000" spc="-5" dirty="0">
                <a:solidFill>
                  <a:srgbClr val="404040"/>
                </a:solidFill>
                <a:latin typeface="Arial MT"/>
                <a:cs typeface="Arial MT"/>
              </a:rPr>
              <a:t>I</a:t>
            </a:r>
            <a:r>
              <a:rPr sz="2000" spc="-10" dirty="0">
                <a:solidFill>
                  <a:srgbClr val="404040"/>
                </a:solidFill>
                <a:latin typeface="Arial MT"/>
                <a:cs typeface="Arial MT"/>
              </a:rPr>
              <a:t>N</a:t>
            </a:r>
            <a:r>
              <a:rPr sz="2000" spc="-5" dirty="0">
                <a:solidFill>
                  <a:srgbClr val="404040"/>
                </a:solidFill>
                <a:latin typeface="Arial MT"/>
                <a:cs typeface="Arial MT"/>
              </a:rPr>
              <a:t>(</a:t>
            </a:r>
            <a:r>
              <a:rPr sz="2000" spc="-10" dirty="0">
                <a:solidFill>
                  <a:srgbClr val="404040"/>
                </a:solidFill>
                <a:latin typeface="Arial MT"/>
                <a:cs typeface="Arial MT"/>
              </a:rPr>
              <a:t>age</a:t>
            </a:r>
            <a:r>
              <a:rPr sz="2000" spc="-5" dirty="0">
                <a:solidFill>
                  <a:srgbClr val="404040"/>
                </a:solidFill>
                <a:latin typeface="Arial MT"/>
                <a:cs typeface="Arial MT"/>
              </a:rPr>
              <a:t>)</a:t>
            </a:r>
            <a:r>
              <a:rPr sz="2000" spc="-12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Arial MT"/>
                <a:cs typeface="Arial MT"/>
              </a:rPr>
              <a:t>A</a:t>
            </a:r>
            <a:r>
              <a:rPr sz="2000" spc="-5" dirty="0">
                <a:solidFill>
                  <a:srgbClr val="404040"/>
                </a:solidFill>
                <a:latin typeface="Arial MT"/>
                <a:cs typeface="Arial MT"/>
              </a:rPr>
              <a:t>S</a:t>
            </a:r>
            <a:r>
              <a:rPr sz="2000" spc="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Arial MT"/>
                <a:cs typeface="Arial MT"/>
              </a:rPr>
              <a:t>m</a:t>
            </a:r>
            <a:r>
              <a:rPr sz="2000" spc="-5" dirty="0">
                <a:solidFill>
                  <a:srgbClr val="404040"/>
                </a:solidFill>
                <a:latin typeface="Arial MT"/>
                <a:cs typeface="Arial MT"/>
              </a:rPr>
              <a:t>i</a:t>
            </a:r>
            <a:r>
              <a:rPr sz="2000" spc="-10" dirty="0">
                <a:solidFill>
                  <a:srgbClr val="404040"/>
                </a:solidFill>
                <a:latin typeface="Arial MT"/>
                <a:cs typeface="Arial MT"/>
              </a:rPr>
              <a:t>n</a:t>
            </a:r>
            <a:r>
              <a:rPr sz="2000" spc="-5" dirty="0">
                <a:solidFill>
                  <a:srgbClr val="404040"/>
                </a:solidFill>
                <a:latin typeface="Arial MT"/>
                <a:cs typeface="Arial MT"/>
              </a:rPr>
              <a:t>i</a:t>
            </a:r>
            <a:r>
              <a:rPr sz="2000" spc="-10" dirty="0">
                <a:solidFill>
                  <a:srgbClr val="404040"/>
                </a:solidFill>
                <a:latin typeface="Arial MT"/>
                <a:cs typeface="Arial MT"/>
              </a:rPr>
              <a:t>mum_ag</a:t>
            </a:r>
            <a:r>
              <a:rPr sz="2000" spc="-5" dirty="0">
                <a:solidFill>
                  <a:srgbClr val="404040"/>
                </a:solidFill>
                <a:latin typeface="Arial MT"/>
                <a:cs typeface="Arial MT"/>
              </a:rPr>
              <a:t>e  </a:t>
            </a:r>
            <a:r>
              <a:rPr sz="2000" spc="-10" dirty="0">
                <a:solidFill>
                  <a:srgbClr val="404040"/>
                </a:solidFill>
                <a:latin typeface="Arial MT"/>
                <a:cs typeface="Arial MT"/>
              </a:rPr>
              <a:t>FROM</a:t>
            </a:r>
            <a:r>
              <a:rPr sz="2000" spc="-1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Arial MT"/>
                <a:cs typeface="Arial MT"/>
              </a:rPr>
              <a:t>person;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320365" y="1737233"/>
            <a:ext cx="11772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30" dirty="0">
                <a:solidFill>
                  <a:srgbClr val="2A9FBB"/>
                </a:solidFill>
                <a:latin typeface="Verdana" panose="020B0604030504040204"/>
                <a:cs typeface="Verdana" panose="020B0604030504040204"/>
              </a:rPr>
              <a:t>Correct</a:t>
            </a:r>
            <a:endParaRPr sz="2400">
              <a:latin typeface="Verdana" panose="020B0604030504040204"/>
              <a:cs typeface="Verdana" panose="020B060403050404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320365" y="2855916"/>
            <a:ext cx="3629660" cy="1838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5" dirty="0">
                <a:solidFill>
                  <a:srgbClr val="404040"/>
                </a:solidFill>
                <a:latin typeface="Arial MT"/>
                <a:cs typeface="Arial MT"/>
              </a:rPr>
              <a:t>SELECT</a:t>
            </a:r>
            <a:r>
              <a:rPr sz="2000" spc="-5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2000" spc="-5" dirty="0">
                <a:solidFill>
                  <a:srgbClr val="2A9FBB"/>
                </a:solidFill>
                <a:latin typeface="Arial MT"/>
                <a:cs typeface="Arial MT"/>
              </a:rPr>
              <a:t>grade_lvl</a:t>
            </a:r>
            <a:r>
              <a:rPr sz="2000" spc="-5" dirty="0">
                <a:solidFill>
                  <a:srgbClr val="404040"/>
                </a:solidFill>
                <a:latin typeface="Arial MT"/>
                <a:cs typeface="Arial MT"/>
              </a:rPr>
              <a:t>,</a:t>
            </a:r>
            <a:endParaRPr sz="2000">
              <a:latin typeface="Arial MT"/>
              <a:cs typeface="Arial MT"/>
            </a:endParaRPr>
          </a:p>
          <a:p>
            <a:pPr marL="153670" marR="5080" indent="347980">
              <a:lnSpc>
                <a:spcPct val="165000"/>
              </a:lnSpc>
            </a:pPr>
            <a:r>
              <a:rPr sz="2000" spc="-10" dirty="0">
                <a:solidFill>
                  <a:srgbClr val="404040"/>
                </a:solidFill>
                <a:latin typeface="Arial MT"/>
                <a:cs typeface="Arial MT"/>
              </a:rPr>
              <a:t>M</a:t>
            </a:r>
            <a:r>
              <a:rPr sz="2000" spc="-5" dirty="0">
                <a:solidFill>
                  <a:srgbClr val="404040"/>
                </a:solidFill>
                <a:latin typeface="Arial MT"/>
                <a:cs typeface="Arial MT"/>
              </a:rPr>
              <a:t>I</a:t>
            </a:r>
            <a:r>
              <a:rPr sz="2000" spc="-10" dirty="0">
                <a:solidFill>
                  <a:srgbClr val="404040"/>
                </a:solidFill>
                <a:latin typeface="Arial MT"/>
                <a:cs typeface="Arial MT"/>
              </a:rPr>
              <a:t>N</a:t>
            </a:r>
            <a:r>
              <a:rPr sz="2000" spc="-5" dirty="0">
                <a:solidFill>
                  <a:srgbClr val="404040"/>
                </a:solidFill>
                <a:latin typeface="Arial MT"/>
                <a:cs typeface="Arial MT"/>
              </a:rPr>
              <a:t>(</a:t>
            </a:r>
            <a:r>
              <a:rPr sz="2000" spc="-10" dirty="0">
                <a:solidFill>
                  <a:srgbClr val="404040"/>
                </a:solidFill>
                <a:latin typeface="Arial MT"/>
                <a:cs typeface="Arial MT"/>
              </a:rPr>
              <a:t>age</a:t>
            </a:r>
            <a:r>
              <a:rPr sz="2000" spc="-5" dirty="0">
                <a:solidFill>
                  <a:srgbClr val="404040"/>
                </a:solidFill>
                <a:latin typeface="Arial MT"/>
                <a:cs typeface="Arial MT"/>
              </a:rPr>
              <a:t>)</a:t>
            </a:r>
            <a:r>
              <a:rPr sz="2000" spc="-12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Arial MT"/>
                <a:cs typeface="Arial MT"/>
              </a:rPr>
              <a:t>A</a:t>
            </a:r>
            <a:r>
              <a:rPr sz="2000" spc="-5" dirty="0">
                <a:solidFill>
                  <a:srgbClr val="404040"/>
                </a:solidFill>
                <a:latin typeface="Arial MT"/>
                <a:cs typeface="Arial MT"/>
              </a:rPr>
              <a:t>S</a:t>
            </a:r>
            <a:r>
              <a:rPr sz="2000" spc="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Arial MT"/>
                <a:cs typeface="Arial MT"/>
              </a:rPr>
              <a:t>m</a:t>
            </a:r>
            <a:r>
              <a:rPr sz="2000" spc="-5" dirty="0">
                <a:solidFill>
                  <a:srgbClr val="404040"/>
                </a:solidFill>
                <a:latin typeface="Arial MT"/>
                <a:cs typeface="Arial MT"/>
              </a:rPr>
              <a:t>i</a:t>
            </a:r>
            <a:r>
              <a:rPr sz="2000" spc="-10" dirty="0">
                <a:solidFill>
                  <a:srgbClr val="404040"/>
                </a:solidFill>
                <a:latin typeface="Arial MT"/>
                <a:cs typeface="Arial MT"/>
              </a:rPr>
              <a:t>n</a:t>
            </a:r>
            <a:r>
              <a:rPr sz="2000" spc="-5" dirty="0">
                <a:solidFill>
                  <a:srgbClr val="404040"/>
                </a:solidFill>
                <a:latin typeface="Arial MT"/>
                <a:cs typeface="Arial MT"/>
              </a:rPr>
              <a:t>i</a:t>
            </a:r>
            <a:r>
              <a:rPr sz="2000" spc="-10" dirty="0">
                <a:solidFill>
                  <a:srgbClr val="404040"/>
                </a:solidFill>
                <a:latin typeface="Arial MT"/>
                <a:cs typeface="Arial MT"/>
              </a:rPr>
              <a:t>mum_ag</a:t>
            </a:r>
            <a:r>
              <a:rPr sz="2000" spc="-5" dirty="0">
                <a:solidFill>
                  <a:srgbClr val="404040"/>
                </a:solidFill>
                <a:latin typeface="Arial MT"/>
                <a:cs typeface="Arial MT"/>
              </a:rPr>
              <a:t>e  </a:t>
            </a:r>
            <a:r>
              <a:rPr sz="2000" spc="-10" dirty="0">
                <a:solidFill>
                  <a:srgbClr val="404040"/>
                </a:solidFill>
                <a:latin typeface="Arial MT"/>
                <a:cs typeface="Arial MT"/>
              </a:rPr>
              <a:t>FROM</a:t>
            </a:r>
            <a:r>
              <a:rPr sz="2000" spc="-1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Arial MT"/>
                <a:cs typeface="Arial MT"/>
              </a:rPr>
              <a:t>person</a:t>
            </a:r>
            <a:endParaRPr sz="2000">
              <a:latin typeface="Arial MT"/>
              <a:cs typeface="Arial MT"/>
            </a:endParaRPr>
          </a:p>
          <a:p>
            <a:pPr marL="82550">
              <a:lnSpc>
                <a:spcPct val="100000"/>
              </a:lnSpc>
              <a:spcBef>
                <a:spcPts val="1560"/>
              </a:spcBef>
            </a:pPr>
            <a:r>
              <a:rPr sz="2000" spc="-5" dirty="0">
                <a:solidFill>
                  <a:srgbClr val="2A9FBB"/>
                </a:solidFill>
                <a:latin typeface="Arial MT"/>
                <a:cs typeface="Arial MT"/>
              </a:rPr>
              <a:t>GROUP</a:t>
            </a:r>
            <a:r>
              <a:rPr sz="2000" spc="-55" dirty="0">
                <a:solidFill>
                  <a:srgbClr val="2A9FBB"/>
                </a:solidFill>
                <a:latin typeface="Arial MT"/>
                <a:cs typeface="Arial MT"/>
              </a:rPr>
              <a:t> </a:t>
            </a:r>
            <a:r>
              <a:rPr sz="2000" spc="-5" dirty="0">
                <a:solidFill>
                  <a:srgbClr val="2A9FBB"/>
                </a:solidFill>
                <a:latin typeface="Arial MT"/>
                <a:cs typeface="Arial MT"/>
              </a:rPr>
              <a:t>BY</a:t>
            </a:r>
            <a:r>
              <a:rPr sz="2000" spc="-50" dirty="0">
                <a:solidFill>
                  <a:srgbClr val="2A9FBB"/>
                </a:solidFill>
                <a:latin typeface="Arial MT"/>
                <a:cs typeface="Arial MT"/>
              </a:rPr>
              <a:t> </a:t>
            </a:r>
            <a:r>
              <a:rPr sz="2000" spc="-5" dirty="0">
                <a:solidFill>
                  <a:srgbClr val="2A9FBB"/>
                </a:solidFill>
                <a:latin typeface="Arial MT"/>
                <a:cs typeface="Arial MT"/>
              </a:rPr>
              <a:t>grade_lvl</a:t>
            </a:r>
            <a:r>
              <a:rPr sz="2000" spc="-5" dirty="0">
                <a:solidFill>
                  <a:srgbClr val="404040"/>
                </a:solidFill>
                <a:latin typeface="Arial MT"/>
                <a:cs typeface="Arial MT"/>
              </a:rPr>
              <a:t>;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994964" y="519066"/>
            <a:ext cx="811339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>
                <a:solidFill>
                  <a:srgbClr val="404040"/>
                </a:solidFill>
              </a:rPr>
              <a:t>Using</a:t>
            </a:r>
            <a:r>
              <a:rPr spc="-195" dirty="0">
                <a:solidFill>
                  <a:srgbClr val="404040"/>
                </a:solidFill>
              </a:rPr>
              <a:t> </a:t>
            </a:r>
            <a:r>
              <a:rPr spc="135" dirty="0">
                <a:solidFill>
                  <a:srgbClr val="404040"/>
                </a:solidFill>
              </a:rPr>
              <a:t>GROUP</a:t>
            </a:r>
            <a:r>
              <a:rPr spc="-204" dirty="0">
                <a:solidFill>
                  <a:srgbClr val="404040"/>
                </a:solidFill>
              </a:rPr>
              <a:t> </a:t>
            </a:r>
            <a:r>
              <a:rPr spc="190" dirty="0">
                <a:solidFill>
                  <a:srgbClr val="404040"/>
                </a:solidFill>
              </a:rPr>
              <a:t>BY</a:t>
            </a:r>
            <a:r>
              <a:rPr spc="-204" dirty="0">
                <a:solidFill>
                  <a:srgbClr val="404040"/>
                </a:solidFill>
              </a:rPr>
              <a:t> </a:t>
            </a:r>
            <a:r>
              <a:rPr spc="50" dirty="0">
                <a:solidFill>
                  <a:srgbClr val="404040"/>
                </a:solidFill>
              </a:rPr>
              <a:t>With</a:t>
            </a:r>
            <a:r>
              <a:rPr spc="-200" dirty="0">
                <a:solidFill>
                  <a:srgbClr val="404040"/>
                </a:solidFill>
              </a:rPr>
              <a:t> </a:t>
            </a:r>
            <a:r>
              <a:rPr spc="25" dirty="0">
                <a:solidFill>
                  <a:srgbClr val="404040"/>
                </a:solidFill>
              </a:rPr>
              <a:t>Aggregation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54558" y="4895088"/>
            <a:ext cx="5256530" cy="1405255"/>
          </a:xfrm>
          <a:prstGeom prst="rect">
            <a:avLst/>
          </a:prstGeom>
          <a:solidFill>
            <a:srgbClr val="EF5A28"/>
          </a:solidFill>
        </p:spPr>
        <p:txBody>
          <a:bodyPr vert="horz" wrap="square" lIns="0" tIns="234950" rIns="0" bIns="0" rtlCol="0">
            <a:spAutoFit/>
          </a:bodyPr>
          <a:lstStyle/>
          <a:p>
            <a:pPr marL="322580" marR="314325" indent="-1905" algn="ctr">
              <a:lnSpc>
                <a:spcPct val="100000"/>
              </a:lnSpc>
              <a:spcBef>
                <a:spcPts val="1850"/>
              </a:spcBef>
            </a:pPr>
            <a:r>
              <a:rPr sz="2000" spc="8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All </a:t>
            </a:r>
            <a:r>
              <a:rPr sz="2000" spc="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non-aggregate </a:t>
            </a:r>
            <a:r>
              <a:rPr sz="2000" spc="2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fields </a:t>
            </a:r>
            <a:r>
              <a:rPr sz="2000" spc="-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in </a:t>
            </a:r>
            <a:r>
              <a:rPr sz="20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the </a:t>
            </a:r>
            <a:r>
              <a:rPr sz="2000" spc="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000" spc="5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SELECT</a:t>
            </a:r>
            <a:r>
              <a:rPr sz="2000" spc="-10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0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clause</a:t>
            </a:r>
            <a:r>
              <a:rPr sz="2000" spc="-8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000" spc="-3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must</a:t>
            </a:r>
            <a:r>
              <a:rPr sz="2000" spc="-9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000" spc="5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be</a:t>
            </a:r>
            <a:r>
              <a:rPr sz="2000" spc="-9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0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represented </a:t>
            </a:r>
            <a:r>
              <a:rPr sz="2000" spc="-69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in</a:t>
            </a:r>
            <a:r>
              <a:rPr sz="2000" spc="-10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0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the</a:t>
            </a:r>
            <a:r>
              <a:rPr sz="2000" spc="-9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000" spc="7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GROUP</a:t>
            </a:r>
            <a:r>
              <a:rPr sz="2000" spc="-10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000" spc="1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BY</a:t>
            </a:r>
            <a:r>
              <a:rPr sz="2000" spc="-8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0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clause</a:t>
            </a:r>
            <a:endParaRPr sz="2000">
              <a:latin typeface="Verdana" panose="020B0604030504040204"/>
              <a:cs typeface="Verdana" panose="020B0604030504040204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/>
              <a:t>13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25503" y="1916187"/>
            <a:ext cx="137731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3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D</a:t>
            </a:r>
            <a:r>
              <a:rPr sz="3600" spc="-5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e</a:t>
            </a:r>
            <a:r>
              <a:rPr sz="3600" spc="-7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m</a:t>
            </a:r>
            <a:r>
              <a:rPr sz="3600" spc="114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o</a:t>
            </a:r>
            <a:endParaRPr sz="3600">
              <a:latin typeface="Verdana" panose="020B0604030504040204"/>
              <a:cs typeface="Verdana" panose="020B060403050404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230621" y="3115670"/>
            <a:ext cx="44030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40" dirty="0">
                <a:solidFill>
                  <a:srgbClr val="2A9FBB"/>
                </a:solidFill>
                <a:latin typeface="Verdana" panose="020B0604030504040204"/>
                <a:cs typeface="Verdana" panose="020B0604030504040204"/>
              </a:rPr>
              <a:t>Explore</a:t>
            </a:r>
            <a:r>
              <a:rPr sz="2400" spc="-135" dirty="0">
                <a:solidFill>
                  <a:srgbClr val="2A9FBB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400" spc="35" dirty="0">
                <a:solidFill>
                  <a:srgbClr val="2A9FBB"/>
                </a:solidFill>
                <a:latin typeface="Verdana" panose="020B0604030504040204"/>
                <a:cs typeface="Verdana" panose="020B0604030504040204"/>
              </a:rPr>
              <a:t>aggregate</a:t>
            </a:r>
            <a:r>
              <a:rPr sz="2400" spc="-130" dirty="0">
                <a:solidFill>
                  <a:srgbClr val="2A9FBB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400" spc="20" dirty="0">
                <a:solidFill>
                  <a:srgbClr val="2A9FBB"/>
                </a:solidFill>
                <a:latin typeface="Verdana" panose="020B0604030504040204"/>
                <a:cs typeface="Verdana" panose="020B0604030504040204"/>
              </a:rPr>
              <a:t>functions</a:t>
            </a:r>
            <a:endParaRPr sz="2400">
              <a:latin typeface="Verdana" panose="020B0604030504040204"/>
              <a:cs typeface="Verdana" panose="020B0604030504040204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/>
              <a:t>14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17091" y="1828800"/>
            <a:ext cx="4268470" cy="2430145"/>
          </a:xfrm>
          <a:prstGeom prst="rect">
            <a:avLst/>
          </a:prstGeom>
          <a:solidFill>
            <a:srgbClr val="EF5A28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9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4050">
              <a:latin typeface="Times New Roman" panose="02020603050405020304"/>
              <a:cs typeface="Times New Roman" panose="02020603050405020304"/>
            </a:endParaRPr>
          </a:p>
          <a:p>
            <a:pPr algn="ctr">
              <a:lnSpc>
                <a:spcPct val="100000"/>
              </a:lnSpc>
            </a:pPr>
            <a:r>
              <a:rPr sz="2400" spc="15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WHERE</a:t>
            </a:r>
            <a:endParaRPr sz="2400">
              <a:latin typeface="Verdana" panose="020B0604030504040204"/>
              <a:cs typeface="Verdana" panose="020B060403050404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149712" y="4545742"/>
            <a:ext cx="220726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25" dirty="0">
                <a:solidFill>
                  <a:srgbClr val="404040"/>
                </a:solidFill>
                <a:latin typeface="Verdana" panose="020B0604030504040204"/>
                <a:cs typeface="Verdana" panose="020B0604030504040204"/>
              </a:rPr>
              <a:t>Filter</a:t>
            </a:r>
            <a:r>
              <a:rPr sz="2000" spc="-95" dirty="0">
                <a:solidFill>
                  <a:srgbClr val="404040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000" spc="5" dirty="0">
                <a:solidFill>
                  <a:srgbClr val="404040"/>
                </a:solidFill>
                <a:latin typeface="Verdana" panose="020B0604030504040204"/>
                <a:cs typeface="Verdana" panose="020B0604030504040204"/>
              </a:rPr>
              <a:t>single</a:t>
            </a:r>
            <a:r>
              <a:rPr sz="2000" spc="-105" dirty="0">
                <a:solidFill>
                  <a:srgbClr val="404040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Verdana" panose="020B0604030504040204"/>
                <a:cs typeface="Verdana" panose="020B0604030504040204"/>
              </a:rPr>
              <a:t>rows</a:t>
            </a:r>
            <a:endParaRPr sz="2000">
              <a:latin typeface="Verdana" panose="020B0604030504040204"/>
              <a:cs typeface="Verdana" panose="020B060403050404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438540" y="4545742"/>
            <a:ext cx="300736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25" dirty="0">
                <a:solidFill>
                  <a:srgbClr val="404040"/>
                </a:solidFill>
                <a:latin typeface="Verdana" panose="020B0604030504040204"/>
                <a:cs typeface="Verdana" panose="020B0604030504040204"/>
              </a:rPr>
              <a:t>Filter</a:t>
            </a:r>
            <a:r>
              <a:rPr sz="2000" spc="-105" dirty="0">
                <a:solidFill>
                  <a:srgbClr val="404040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000" spc="15" dirty="0">
                <a:solidFill>
                  <a:srgbClr val="404040"/>
                </a:solidFill>
                <a:latin typeface="Verdana" panose="020B0604030504040204"/>
                <a:cs typeface="Verdana" panose="020B0604030504040204"/>
              </a:rPr>
              <a:t>aggregate</a:t>
            </a:r>
            <a:r>
              <a:rPr sz="2000" spc="-110" dirty="0">
                <a:solidFill>
                  <a:srgbClr val="404040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000" spc="-20" dirty="0">
                <a:solidFill>
                  <a:srgbClr val="404040"/>
                </a:solidFill>
                <a:latin typeface="Verdana" panose="020B0604030504040204"/>
                <a:cs typeface="Verdana" panose="020B0604030504040204"/>
              </a:rPr>
              <a:t>results</a:t>
            </a:r>
            <a:endParaRPr sz="2000">
              <a:latin typeface="Verdana" panose="020B0604030504040204"/>
              <a:cs typeface="Verdana" panose="020B060403050404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809231" y="1829561"/>
            <a:ext cx="4265295" cy="2429510"/>
          </a:xfrm>
          <a:prstGeom prst="rect">
            <a:avLst/>
          </a:prstGeom>
          <a:solidFill>
            <a:srgbClr val="2A9FBB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9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4050">
              <a:latin typeface="Times New Roman" panose="02020603050405020304"/>
              <a:cs typeface="Times New Roman" panose="02020603050405020304"/>
            </a:endParaRPr>
          </a:p>
          <a:p>
            <a:pPr marR="635" algn="ctr">
              <a:lnSpc>
                <a:spcPct val="100000"/>
              </a:lnSpc>
            </a:pPr>
            <a:r>
              <a:rPr sz="2400" spc="4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HAVING</a:t>
            </a:r>
            <a:endParaRPr sz="2400">
              <a:latin typeface="Verdana" panose="020B0604030504040204"/>
              <a:cs typeface="Verdana" panose="020B0604030504040204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968071" y="519066"/>
            <a:ext cx="616839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" dirty="0">
                <a:solidFill>
                  <a:srgbClr val="404040"/>
                </a:solidFill>
              </a:rPr>
              <a:t>Filtering</a:t>
            </a:r>
            <a:r>
              <a:rPr spc="-190" dirty="0">
                <a:solidFill>
                  <a:srgbClr val="404040"/>
                </a:solidFill>
              </a:rPr>
              <a:t> </a:t>
            </a:r>
            <a:r>
              <a:rPr spc="25" dirty="0">
                <a:solidFill>
                  <a:srgbClr val="404040"/>
                </a:solidFill>
              </a:rPr>
              <a:t>Aggregate</a:t>
            </a:r>
            <a:r>
              <a:rPr spc="-210" dirty="0">
                <a:solidFill>
                  <a:srgbClr val="404040"/>
                </a:solidFill>
              </a:rPr>
              <a:t> </a:t>
            </a:r>
            <a:r>
              <a:rPr spc="-45" dirty="0">
                <a:solidFill>
                  <a:srgbClr val="404040"/>
                </a:solidFill>
              </a:rPr>
              <a:t>Results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/>
              <a:t>15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98995" y="754380"/>
            <a:ext cx="3361690" cy="2616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SELECT</a:t>
            </a:r>
            <a:r>
              <a:rPr sz="2200" spc="-1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grade_lvl,</a:t>
            </a:r>
            <a:endParaRPr sz="2200">
              <a:latin typeface="Arial MT"/>
              <a:cs typeface="Arial MT"/>
            </a:endParaRPr>
          </a:p>
          <a:p>
            <a:pPr marL="167640" marR="5080" indent="373380">
              <a:lnSpc>
                <a:spcPts val="4440"/>
              </a:lnSpc>
              <a:spcBef>
                <a:spcPts val="450"/>
              </a:spcBef>
            </a:pPr>
            <a:r>
              <a:rPr sz="2200" spc="-165" dirty="0">
                <a:solidFill>
                  <a:srgbClr val="EF5A28"/>
                </a:solidFill>
                <a:latin typeface="Arial MT"/>
                <a:cs typeface="Arial MT"/>
              </a:rPr>
              <a:t>A</a:t>
            </a:r>
            <a:r>
              <a:rPr sz="2200" dirty="0">
                <a:solidFill>
                  <a:srgbClr val="EF5A28"/>
                </a:solidFill>
                <a:latin typeface="Arial MT"/>
                <a:cs typeface="Arial MT"/>
              </a:rPr>
              <a:t>V</a:t>
            </a:r>
            <a:r>
              <a:rPr sz="2200" spc="-5" dirty="0">
                <a:solidFill>
                  <a:srgbClr val="EF5A28"/>
                </a:solidFill>
                <a:latin typeface="Arial MT"/>
                <a:cs typeface="Arial MT"/>
              </a:rPr>
              <a:t>G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(age</a:t>
            </a:r>
            <a:r>
              <a:rPr sz="2200" dirty="0">
                <a:solidFill>
                  <a:srgbClr val="FFFFFF"/>
                </a:solidFill>
                <a:latin typeface="Arial MT"/>
                <a:cs typeface="Arial MT"/>
              </a:rPr>
              <a:t>)</a:t>
            </a:r>
            <a:r>
              <a:rPr sz="2200" spc="-1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FFFFFF"/>
                </a:solidFill>
                <a:latin typeface="Arial MT"/>
                <a:cs typeface="Arial MT"/>
              </a:rPr>
              <a:t>AS</a:t>
            </a:r>
            <a:r>
              <a:rPr sz="22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r>
              <a:rPr sz="2200" dirty="0">
                <a:solidFill>
                  <a:srgbClr val="FFFFFF"/>
                </a:solidFill>
                <a:latin typeface="Arial MT"/>
                <a:cs typeface="Arial MT"/>
              </a:rPr>
              <a:t>v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g_age  FROM</a:t>
            </a:r>
            <a:r>
              <a:rPr sz="22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person</a:t>
            </a:r>
            <a:endParaRPr sz="2200">
              <a:latin typeface="Arial MT"/>
              <a:cs typeface="Arial MT"/>
            </a:endParaRPr>
          </a:p>
          <a:p>
            <a:pPr marL="89535">
              <a:lnSpc>
                <a:spcPct val="100000"/>
              </a:lnSpc>
              <a:spcBef>
                <a:spcPts val="1350"/>
              </a:spcBef>
            </a:pP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GROUP</a:t>
            </a:r>
            <a:r>
              <a:rPr sz="2200" spc="-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FFFFFF"/>
                </a:solidFill>
                <a:latin typeface="Arial MT"/>
                <a:cs typeface="Arial MT"/>
              </a:rPr>
              <a:t>BY</a:t>
            </a:r>
            <a:r>
              <a:rPr sz="2200" spc="-7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grade_lvl</a:t>
            </a:r>
            <a:endParaRPr sz="2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795"/>
              </a:spcBef>
            </a:pPr>
            <a:r>
              <a:rPr sz="2200" spc="-5" dirty="0">
                <a:solidFill>
                  <a:srgbClr val="9BC750"/>
                </a:solidFill>
                <a:latin typeface="Arial MT"/>
                <a:cs typeface="Arial MT"/>
              </a:rPr>
              <a:t>H</a:t>
            </a:r>
            <a:r>
              <a:rPr sz="2200" spc="-165" dirty="0">
                <a:solidFill>
                  <a:srgbClr val="9BC750"/>
                </a:solidFill>
                <a:latin typeface="Arial MT"/>
                <a:cs typeface="Arial MT"/>
              </a:rPr>
              <a:t>A</a:t>
            </a:r>
            <a:r>
              <a:rPr sz="2200" dirty="0">
                <a:solidFill>
                  <a:srgbClr val="9BC750"/>
                </a:solidFill>
                <a:latin typeface="Arial MT"/>
                <a:cs typeface="Arial MT"/>
              </a:rPr>
              <a:t>VING</a:t>
            </a:r>
            <a:r>
              <a:rPr sz="2200" spc="-140" dirty="0">
                <a:solidFill>
                  <a:srgbClr val="9BC750"/>
                </a:solidFill>
                <a:latin typeface="Arial MT"/>
                <a:cs typeface="Arial MT"/>
              </a:rPr>
              <a:t> </a:t>
            </a:r>
            <a:r>
              <a:rPr sz="2200" spc="-165" dirty="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r>
              <a:rPr sz="2200" dirty="0">
                <a:solidFill>
                  <a:srgbClr val="FFFFFF"/>
                </a:solidFill>
                <a:latin typeface="Arial MT"/>
                <a:cs typeface="Arial MT"/>
              </a:rPr>
              <a:t>V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G(age</a:t>
            </a:r>
            <a:r>
              <a:rPr sz="2200" dirty="0">
                <a:solidFill>
                  <a:srgbClr val="FFFFFF"/>
                </a:solidFill>
                <a:latin typeface="Arial MT"/>
                <a:cs typeface="Arial MT"/>
              </a:rPr>
              <a:t>)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FFFFFF"/>
                </a:solidFill>
                <a:latin typeface="Arial MT"/>
                <a:cs typeface="Arial MT"/>
              </a:rPr>
              <a:t>&lt;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19;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66425" y="672845"/>
            <a:ext cx="4865370" cy="869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320"/>
              </a:lnSpc>
              <a:spcBef>
                <a:spcPts val="100"/>
              </a:spcBef>
            </a:pPr>
            <a:r>
              <a:rPr sz="1550" spc="-155" dirty="0">
                <a:solidFill>
                  <a:srgbClr val="9BC750"/>
                </a:solidFill>
                <a:latin typeface="Lucida Sans Unicode" panose="020B0602030504020204"/>
                <a:cs typeface="Lucida Sans Unicode" panose="020B0602030504020204"/>
              </a:rPr>
              <a:t>◀</a:t>
            </a:r>
            <a:r>
              <a:rPr sz="1550" spc="55" dirty="0">
                <a:solidFill>
                  <a:srgbClr val="9BC750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200" spc="5" dirty="0">
                <a:solidFill>
                  <a:srgbClr val="9BC750"/>
                </a:solidFill>
                <a:latin typeface="Verdana" panose="020B0604030504040204"/>
                <a:cs typeface="Verdana" panose="020B0604030504040204"/>
              </a:rPr>
              <a:t>HAVING</a:t>
            </a:r>
            <a:r>
              <a:rPr sz="2200" spc="-120" dirty="0">
                <a:solidFill>
                  <a:srgbClr val="9BC750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200" spc="5" dirty="0">
                <a:solidFill>
                  <a:srgbClr val="404040"/>
                </a:solidFill>
                <a:latin typeface="Verdana" panose="020B0604030504040204"/>
                <a:cs typeface="Verdana" panose="020B0604030504040204"/>
              </a:rPr>
              <a:t>clause</a:t>
            </a:r>
            <a:r>
              <a:rPr sz="2200" spc="-140" dirty="0">
                <a:solidFill>
                  <a:srgbClr val="404040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200" spc="25" dirty="0">
                <a:solidFill>
                  <a:srgbClr val="404040"/>
                </a:solidFill>
                <a:latin typeface="Verdana" panose="020B0604030504040204"/>
                <a:cs typeface="Verdana" panose="020B0604030504040204"/>
              </a:rPr>
              <a:t>specifies</a:t>
            </a:r>
            <a:r>
              <a:rPr sz="2200" spc="-125" dirty="0">
                <a:solidFill>
                  <a:srgbClr val="404040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200" spc="-5" dirty="0">
                <a:solidFill>
                  <a:srgbClr val="404040"/>
                </a:solidFill>
                <a:latin typeface="Verdana" panose="020B0604030504040204"/>
                <a:cs typeface="Verdana" panose="020B0604030504040204"/>
              </a:rPr>
              <a:t>that</a:t>
            </a:r>
            <a:r>
              <a:rPr sz="2200" spc="-140" dirty="0">
                <a:solidFill>
                  <a:srgbClr val="404040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200" spc="30" dirty="0">
                <a:solidFill>
                  <a:srgbClr val="404040"/>
                </a:solidFill>
                <a:latin typeface="Verdana" panose="020B0604030504040204"/>
                <a:cs typeface="Verdana" panose="020B0604030504040204"/>
              </a:rPr>
              <a:t>we</a:t>
            </a:r>
            <a:endParaRPr sz="2200">
              <a:latin typeface="Verdana" panose="020B0604030504040204"/>
              <a:cs typeface="Verdana" panose="020B0604030504040204"/>
            </a:endParaRPr>
          </a:p>
          <a:p>
            <a:pPr marL="296545" marR="254000">
              <a:lnSpc>
                <a:spcPct val="76000"/>
              </a:lnSpc>
              <a:spcBef>
                <a:spcPts val="315"/>
              </a:spcBef>
            </a:pPr>
            <a:r>
              <a:rPr sz="2200" spc="5" dirty="0">
                <a:solidFill>
                  <a:srgbClr val="404040"/>
                </a:solidFill>
                <a:latin typeface="Verdana" panose="020B0604030504040204"/>
                <a:cs typeface="Verdana" panose="020B0604030504040204"/>
              </a:rPr>
              <a:t>want</a:t>
            </a:r>
            <a:r>
              <a:rPr sz="2200" spc="-140" dirty="0">
                <a:solidFill>
                  <a:srgbClr val="404040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200" spc="50" dirty="0">
                <a:solidFill>
                  <a:srgbClr val="404040"/>
                </a:solidFill>
                <a:latin typeface="Verdana" panose="020B0604030504040204"/>
                <a:cs typeface="Verdana" panose="020B0604030504040204"/>
              </a:rPr>
              <a:t>to</a:t>
            </a:r>
            <a:r>
              <a:rPr sz="2200" spc="-120" dirty="0">
                <a:solidFill>
                  <a:srgbClr val="404040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200" spc="15" dirty="0">
                <a:solidFill>
                  <a:srgbClr val="404040"/>
                </a:solidFill>
                <a:latin typeface="Verdana" panose="020B0604030504040204"/>
                <a:cs typeface="Verdana" panose="020B0604030504040204"/>
              </a:rPr>
              <a:t>filter</a:t>
            </a:r>
            <a:r>
              <a:rPr sz="2200" spc="-140" dirty="0">
                <a:solidFill>
                  <a:srgbClr val="404040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200" spc="20" dirty="0">
                <a:solidFill>
                  <a:srgbClr val="404040"/>
                </a:solidFill>
                <a:latin typeface="Verdana" panose="020B0604030504040204"/>
                <a:cs typeface="Verdana" panose="020B0604030504040204"/>
              </a:rPr>
              <a:t>aggregate</a:t>
            </a:r>
            <a:r>
              <a:rPr sz="2200" spc="-135" dirty="0">
                <a:solidFill>
                  <a:srgbClr val="404040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200" spc="-20" dirty="0">
                <a:solidFill>
                  <a:srgbClr val="404040"/>
                </a:solidFill>
                <a:latin typeface="Verdana" panose="020B0604030504040204"/>
                <a:cs typeface="Verdana" panose="020B0604030504040204"/>
              </a:rPr>
              <a:t>values </a:t>
            </a:r>
            <a:r>
              <a:rPr sz="2200" spc="-760" dirty="0">
                <a:solidFill>
                  <a:srgbClr val="404040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200" spc="10" dirty="0">
                <a:solidFill>
                  <a:srgbClr val="404040"/>
                </a:solidFill>
                <a:latin typeface="Verdana" panose="020B0604030504040204"/>
                <a:cs typeface="Verdana" panose="020B0604030504040204"/>
              </a:rPr>
              <a:t>from</a:t>
            </a:r>
            <a:r>
              <a:rPr sz="2200" spc="-120" dirty="0">
                <a:solidFill>
                  <a:srgbClr val="404040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200" spc="25" dirty="0">
                <a:solidFill>
                  <a:srgbClr val="404040"/>
                </a:solidFill>
                <a:latin typeface="Verdana" panose="020B0604030504040204"/>
                <a:cs typeface="Verdana" panose="020B0604030504040204"/>
              </a:rPr>
              <a:t>AVG</a:t>
            </a:r>
            <a:endParaRPr sz="2200">
              <a:latin typeface="Verdana" panose="020B0604030504040204"/>
              <a:cs typeface="Verdana" panose="020B0604030504040204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6574778" y="3218947"/>
          <a:ext cx="4899659" cy="277367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33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332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332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6239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spc="25" dirty="0">
                          <a:solidFill>
                            <a:srgbClr val="FFFFFF"/>
                          </a:solidFill>
                          <a:latin typeface="Verdana" panose="020B0604030504040204"/>
                          <a:cs typeface="Verdana" panose="020B0604030504040204"/>
                        </a:rPr>
                        <a:t>name</a:t>
                      </a:r>
                      <a:endParaRPr sz="2000">
                        <a:latin typeface="Verdana" panose="020B0604030504040204"/>
                        <a:cs typeface="Verdana" panose="020B0604030504040204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2A9FBB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spc="55" dirty="0">
                          <a:solidFill>
                            <a:srgbClr val="FFFFFF"/>
                          </a:solidFill>
                          <a:latin typeface="Verdana" panose="020B0604030504040204"/>
                          <a:cs typeface="Verdana" panose="020B0604030504040204"/>
                        </a:rPr>
                        <a:t>grade_lvl</a:t>
                      </a:r>
                      <a:endParaRPr sz="2000">
                        <a:latin typeface="Verdana" panose="020B0604030504040204"/>
                        <a:cs typeface="Verdana" panose="020B0604030504040204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2A9F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spc="55" dirty="0">
                          <a:solidFill>
                            <a:srgbClr val="FFFFFF"/>
                          </a:solidFill>
                          <a:latin typeface="Verdana" panose="020B0604030504040204"/>
                          <a:cs typeface="Verdana" panose="020B0604030504040204"/>
                        </a:rPr>
                        <a:t>age</a:t>
                      </a:r>
                      <a:endParaRPr sz="2000">
                        <a:latin typeface="Verdana" panose="020B0604030504040204"/>
                        <a:cs typeface="Verdana" panose="020B0604030504040204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2A9FB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spc="25" dirty="0">
                          <a:solidFill>
                            <a:srgbClr val="404040"/>
                          </a:solidFill>
                          <a:latin typeface="Verdana" panose="020B0604030504040204"/>
                          <a:cs typeface="Verdana" panose="020B0604030504040204"/>
                        </a:rPr>
                        <a:t>Eliza</a:t>
                      </a:r>
                      <a:endParaRPr sz="2000">
                        <a:latin typeface="Verdana" panose="020B0604030504040204"/>
                        <a:cs typeface="Verdana" panose="020B0604030504040204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FE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spc="35" dirty="0">
                          <a:solidFill>
                            <a:srgbClr val="404040"/>
                          </a:solidFill>
                          <a:latin typeface="Verdana" panose="020B0604030504040204"/>
                          <a:cs typeface="Verdana" panose="020B0604030504040204"/>
                        </a:rPr>
                        <a:t>Junior</a:t>
                      </a:r>
                      <a:endParaRPr sz="2000">
                        <a:latin typeface="Verdana" panose="020B0604030504040204"/>
                        <a:cs typeface="Verdana" panose="020B0604030504040204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FE7"/>
                    </a:solidFill>
                  </a:tcPr>
                </a:tc>
                <a:tc>
                  <a:txBody>
                    <a:bodyPr/>
                    <a:lstStyle/>
                    <a:p>
                      <a:pPr marR="84455" algn="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spc="-270" dirty="0">
                          <a:solidFill>
                            <a:srgbClr val="404040"/>
                          </a:solidFill>
                          <a:latin typeface="Verdana" panose="020B0604030504040204"/>
                          <a:cs typeface="Verdana" panose="020B0604030504040204"/>
                        </a:rPr>
                        <a:t>17</a:t>
                      </a:r>
                      <a:endParaRPr sz="2000">
                        <a:latin typeface="Verdana" panose="020B0604030504040204"/>
                        <a:cs typeface="Verdana" panose="020B0604030504040204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F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41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spc="35" dirty="0">
                          <a:solidFill>
                            <a:srgbClr val="404040"/>
                          </a:solidFill>
                          <a:latin typeface="Verdana" panose="020B0604030504040204"/>
                          <a:cs typeface="Verdana" panose="020B0604030504040204"/>
                        </a:rPr>
                        <a:t>Jane</a:t>
                      </a:r>
                      <a:endParaRPr sz="2000">
                        <a:latin typeface="Verdana" panose="020B0604030504040204"/>
                        <a:cs typeface="Verdana" panose="020B0604030504040204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FF4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spc="35" dirty="0">
                          <a:solidFill>
                            <a:srgbClr val="404040"/>
                          </a:solidFill>
                          <a:latin typeface="Verdana" panose="020B0604030504040204"/>
                          <a:cs typeface="Verdana" panose="020B0604030504040204"/>
                        </a:rPr>
                        <a:t>Junior</a:t>
                      </a:r>
                      <a:endParaRPr sz="2000">
                        <a:latin typeface="Verdana" panose="020B0604030504040204"/>
                        <a:cs typeface="Verdana" panose="020B0604030504040204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FF4"/>
                    </a:solidFill>
                  </a:tcPr>
                </a:tc>
                <a:tc>
                  <a:txBody>
                    <a:bodyPr/>
                    <a:lstStyle/>
                    <a:p>
                      <a:pPr marR="84455" algn="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spc="-270" dirty="0">
                          <a:solidFill>
                            <a:srgbClr val="404040"/>
                          </a:solidFill>
                          <a:latin typeface="Verdana" panose="020B0604030504040204"/>
                          <a:cs typeface="Verdana" panose="020B0604030504040204"/>
                        </a:rPr>
                        <a:t>17</a:t>
                      </a:r>
                      <a:endParaRPr sz="2000">
                        <a:latin typeface="Verdana" panose="020B0604030504040204"/>
                        <a:cs typeface="Verdana" panose="020B0604030504040204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F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spc="15" dirty="0">
                          <a:solidFill>
                            <a:srgbClr val="404040"/>
                          </a:solidFill>
                          <a:latin typeface="Verdana" panose="020B0604030504040204"/>
                          <a:cs typeface="Verdana" panose="020B0604030504040204"/>
                        </a:rPr>
                        <a:t>Leslie</a:t>
                      </a:r>
                      <a:endParaRPr sz="2000">
                        <a:latin typeface="Verdana" panose="020B0604030504040204"/>
                        <a:cs typeface="Verdana" panose="020B0604030504040204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FE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spc="-5" dirty="0">
                          <a:solidFill>
                            <a:srgbClr val="404040"/>
                          </a:solidFill>
                          <a:latin typeface="Verdana" panose="020B0604030504040204"/>
                          <a:cs typeface="Verdana" panose="020B0604030504040204"/>
                        </a:rPr>
                        <a:t>Senior</a:t>
                      </a:r>
                      <a:endParaRPr sz="2000">
                        <a:latin typeface="Verdana" panose="020B0604030504040204"/>
                        <a:cs typeface="Verdana" panose="020B0604030504040204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FE7"/>
                    </a:solidFill>
                  </a:tcPr>
                </a:tc>
                <a:tc>
                  <a:txBody>
                    <a:bodyPr/>
                    <a:lstStyle/>
                    <a:p>
                      <a:pPr marR="83820" algn="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spc="-225" dirty="0">
                          <a:solidFill>
                            <a:srgbClr val="404040"/>
                          </a:solidFill>
                          <a:latin typeface="Verdana" panose="020B0604030504040204"/>
                          <a:cs typeface="Verdana" panose="020B0604030504040204"/>
                        </a:rPr>
                        <a:t>19</a:t>
                      </a:r>
                      <a:endParaRPr sz="2000">
                        <a:latin typeface="Verdana" panose="020B0604030504040204"/>
                        <a:cs typeface="Verdana" panose="020B0604030504040204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F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238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spc="15" dirty="0">
                          <a:solidFill>
                            <a:srgbClr val="404040"/>
                          </a:solidFill>
                          <a:latin typeface="Verdana" panose="020B0604030504040204"/>
                          <a:cs typeface="Verdana" panose="020B0604030504040204"/>
                        </a:rPr>
                        <a:t>Matt</a:t>
                      </a:r>
                      <a:endParaRPr sz="2000">
                        <a:latin typeface="Verdana" panose="020B0604030504040204"/>
                        <a:cs typeface="Verdana" panose="020B0604030504040204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FF4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spc="35" dirty="0">
                          <a:solidFill>
                            <a:srgbClr val="404040"/>
                          </a:solidFill>
                          <a:latin typeface="Verdana" panose="020B0604030504040204"/>
                          <a:cs typeface="Verdana" panose="020B0604030504040204"/>
                        </a:rPr>
                        <a:t>Junior</a:t>
                      </a:r>
                      <a:endParaRPr sz="2000">
                        <a:latin typeface="Verdana" panose="020B0604030504040204"/>
                        <a:cs typeface="Verdana" panose="020B0604030504040204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FF4"/>
                    </a:solidFill>
                  </a:tcPr>
                </a:tc>
                <a:tc>
                  <a:txBody>
                    <a:bodyPr/>
                    <a:lstStyle/>
                    <a:p>
                      <a:pPr marR="83820" algn="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spc="-225" dirty="0">
                          <a:solidFill>
                            <a:srgbClr val="404040"/>
                          </a:solidFill>
                          <a:latin typeface="Verdana" panose="020B0604030504040204"/>
                          <a:cs typeface="Verdana" panose="020B0604030504040204"/>
                        </a:rPr>
                        <a:t>16</a:t>
                      </a:r>
                      <a:endParaRPr sz="2000">
                        <a:latin typeface="Verdana" panose="020B0604030504040204"/>
                        <a:cs typeface="Verdana" panose="020B0604030504040204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F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spc="60" dirty="0">
                          <a:solidFill>
                            <a:srgbClr val="404040"/>
                          </a:solidFill>
                          <a:latin typeface="Verdana" panose="020B0604030504040204"/>
                          <a:cs typeface="Verdana" panose="020B0604030504040204"/>
                        </a:rPr>
                        <a:t>Ned</a:t>
                      </a:r>
                      <a:endParaRPr sz="2000">
                        <a:latin typeface="Verdana" panose="020B0604030504040204"/>
                        <a:cs typeface="Verdana" panose="020B0604030504040204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FE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spc="-15" dirty="0">
                          <a:solidFill>
                            <a:srgbClr val="404040"/>
                          </a:solidFill>
                          <a:latin typeface="Verdana" panose="020B0604030504040204"/>
                          <a:cs typeface="Verdana" panose="020B0604030504040204"/>
                        </a:rPr>
                        <a:t>Freshman</a:t>
                      </a:r>
                      <a:endParaRPr sz="2000">
                        <a:latin typeface="Verdana" panose="020B0604030504040204"/>
                        <a:cs typeface="Verdana" panose="020B0604030504040204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FE7"/>
                    </a:solidFill>
                  </a:tcPr>
                </a:tc>
                <a:tc>
                  <a:txBody>
                    <a:bodyPr/>
                    <a:lstStyle/>
                    <a:p>
                      <a:pPr marR="83820" algn="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spc="-254" dirty="0">
                          <a:solidFill>
                            <a:srgbClr val="404040"/>
                          </a:solidFill>
                          <a:latin typeface="Verdana" panose="020B0604030504040204"/>
                          <a:cs typeface="Verdana" panose="020B0604030504040204"/>
                        </a:rPr>
                        <a:t>15</a:t>
                      </a:r>
                      <a:endParaRPr sz="2000">
                        <a:latin typeface="Verdana" panose="020B0604030504040204"/>
                        <a:cs typeface="Verdana" panose="020B0604030504040204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F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6241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000" spc="-30" dirty="0">
                          <a:solidFill>
                            <a:srgbClr val="404040"/>
                          </a:solidFill>
                          <a:latin typeface="Verdana" panose="020B0604030504040204"/>
                          <a:cs typeface="Verdana" panose="020B0604030504040204"/>
                        </a:rPr>
                        <a:t>Susie</a:t>
                      </a:r>
                      <a:endParaRPr sz="2000">
                        <a:latin typeface="Verdana" panose="020B0604030504040204"/>
                        <a:cs typeface="Verdana" panose="020B0604030504040204"/>
                      </a:endParaRPr>
                    </a:p>
                  </a:txBody>
                  <a:tcPr marL="0" marR="0" marT="3619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FF4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000" spc="35" dirty="0">
                          <a:solidFill>
                            <a:srgbClr val="404040"/>
                          </a:solidFill>
                          <a:latin typeface="Verdana" panose="020B0604030504040204"/>
                          <a:cs typeface="Verdana" panose="020B0604030504040204"/>
                        </a:rPr>
                        <a:t>Junior</a:t>
                      </a:r>
                      <a:endParaRPr sz="2000">
                        <a:latin typeface="Verdana" panose="020B0604030504040204"/>
                        <a:cs typeface="Verdana" panose="020B0604030504040204"/>
                      </a:endParaRPr>
                    </a:p>
                  </a:txBody>
                  <a:tcPr marL="0" marR="0" marT="3619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FF4"/>
                    </a:solidFill>
                  </a:tcPr>
                </a:tc>
                <a:tc>
                  <a:txBody>
                    <a:bodyPr/>
                    <a:lstStyle/>
                    <a:p>
                      <a:pPr marR="83820" algn="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000" spc="-250" dirty="0">
                          <a:solidFill>
                            <a:srgbClr val="404040"/>
                          </a:solidFill>
                          <a:latin typeface="Verdana" panose="020B0604030504040204"/>
                          <a:cs typeface="Verdana" panose="020B0604030504040204"/>
                        </a:rPr>
                        <a:t>18</a:t>
                      </a:r>
                      <a:endParaRPr sz="2000">
                        <a:latin typeface="Verdana" panose="020B0604030504040204"/>
                        <a:cs typeface="Verdana" panose="020B0604030504040204"/>
                      </a:endParaRPr>
                    </a:p>
                  </a:txBody>
                  <a:tcPr marL="0" marR="0" marT="3619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F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1189470" y="3813307"/>
          <a:ext cx="3266440" cy="118871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33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332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623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spc="55" dirty="0">
                          <a:solidFill>
                            <a:srgbClr val="FFFFFF"/>
                          </a:solidFill>
                          <a:latin typeface="Verdana" panose="020B0604030504040204"/>
                          <a:cs typeface="Verdana" panose="020B0604030504040204"/>
                        </a:rPr>
                        <a:t>grade_lvl</a:t>
                      </a:r>
                      <a:endParaRPr sz="2000">
                        <a:latin typeface="Verdana" panose="020B0604030504040204"/>
                        <a:cs typeface="Verdana" panose="020B0604030504040204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9BC750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spc="45" dirty="0">
                          <a:solidFill>
                            <a:srgbClr val="FFFFFF"/>
                          </a:solidFill>
                          <a:latin typeface="Verdana" panose="020B0604030504040204"/>
                          <a:cs typeface="Verdana" panose="020B0604030504040204"/>
                        </a:rPr>
                        <a:t>avg_age</a:t>
                      </a:r>
                      <a:endParaRPr sz="2000">
                        <a:latin typeface="Verdana" panose="020B0604030504040204"/>
                        <a:cs typeface="Verdana" panose="020B0604030504040204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9BC7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spc="-15" dirty="0">
                          <a:solidFill>
                            <a:srgbClr val="404040"/>
                          </a:solidFill>
                          <a:latin typeface="Verdana" panose="020B0604030504040204"/>
                          <a:cs typeface="Verdana" panose="020B0604030504040204"/>
                        </a:rPr>
                        <a:t>Freshman</a:t>
                      </a:r>
                      <a:endParaRPr sz="2000">
                        <a:latin typeface="Verdana" panose="020B0604030504040204"/>
                        <a:cs typeface="Verdana" panose="020B0604030504040204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EEBD0"/>
                    </a:solidFill>
                  </a:tcPr>
                </a:tc>
                <a:tc>
                  <a:txBody>
                    <a:bodyPr/>
                    <a:lstStyle/>
                    <a:p>
                      <a:pPr marR="84455" algn="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spc="-254" dirty="0">
                          <a:solidFill>
                            <a:srgbClr val="404040"/>
                          </a:solidFill>
                          <a:latin typeface="Verdana" panose="020B0604030504040204"/>
                          <a:cs typeface="Verdana" panose="020B0604030504040204"/>
                        </a:rPr>
                        <a:t>15</a:t>
                      </a:r>
                      <a:endParaRPr sz="2000">
                        <a:latin typeface="Verdana" panose="020B0604030504040204"/>
                        <a:cs typeface="Verdana" panose="020B0604030504040204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EEB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3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spc="35" dirty="0">
                          <a:solidFill>
                            <a:srgbClr val="404040"/>
                          </a:solidFill>
                          <a:latin typeface="Verdana" panose="020B0604030504040204"/>
                          <a:cs typeface="Verdana" panose="020B0604030504040204"/>
                        </a:rPr>
                        <a:t>Junior</a:t>
                      </a:r>
                      <a:endParaRPr sz="2000">
                        <a:latin typeface="Verdana" panose="020B0604030504040204"/>
                        <a:cs typeface="Verdana" panose="020B0604030504040204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F5E9"/>
                    </a:solidFill>
                  </a:tcPr>
                </a:tc>
                <a:tc>
                  <a:txBody>
                    <a:bodyPr/>
                    <a:lstStyle/>
                    <a:p>
                      <a:pPr marR="84455" algn="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spc="-270" dirty="0">
                          <a:solidFill>
                            <a:srgbClr val="404040"/>
                          </a:solidFill>
                          <a:latin typeface="Verdana" panose="020B0604030504040204"/>
                          <a:cs typeface="Verdana" panose="020B0604030504040204"/>
                        </a:rPr>
                        <a:t>17</a:t>
                      </a:r>
                      <a:endParaRPr sz="2000">
                        <a:latin typeface="Verdana" panose="020B0604030504040204"/>
                        <a:cs typeface="Verdana" panose="020B0604030504040204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Slide Number Placeholder 5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/>
              <a:t>16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25503" y="1916187"/>
            <a:ext cx="137731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3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D</a:t>
            </a:r>
            <a:r>
              <a:rPr sz="3600" spc="-5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e</a:t>
            </a:r>
            <a:r>
              <a:rPr sz="3600" spc="-7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m</a:t>
            </a:r>
            <a:r>
              <a:rPr sz="3600" spc="114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o</a:t>
            </a:r>
            <a:endParaRPr sz="3600">
              <a:latin typeface="Verdana" panose="020B0604030504040204"/>
              <a:cs typeface="Verdana" panose="020B060403050404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230621" y="3115670"/>
            <a:ext cx="46012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20" dirty="0">
                <a:solidFill>
                  <a:srgbClr val="2A9FBB"/>
                </a:solidFill>
                <a:latin typeface="Verdana" panose="020B0604030504040204"/>
                <a:cs typeface="Verdana" panose="020B0604030504040204"/>
              </a:rPr>
              <a:t>Using</a:t>
            </a:r>
            <a:r>
              <a:rPr sz="2400" spc="-125" dirty="0">
                <a:solidFill>
                  <a:srgbClr val="2A9FBB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400" spc="50" dirty="0">
                <a:solidFill>
                  <a:srgbClr val="2A9FBB"/>
                </a:solidFill>
                <a:latin typeface="Verdana" panose="020B0604030504040204"/>
                <a:cs typeface="Verdana" panose="020B0604030504040204"/>
              </a:rPr>
              <a:t>HAVING</a:t>
            </a:r>
            <a:r>
              <a:rPr sz="2400" spc="-125" dirty="0">
                <a:solidFill>
                  <a:srgbClr val="2A9FBB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400" spc="75" dirty="0">
                <a:solidFill>
                  <a:srgbClr val="2A9FBB"/>
                </a:solidFill>
                <a:latin typeface="Verdana" panose="020B0604030504040204"/>
                <a:cs typeface="Verdana" panose="020B0604030504040204"/>
              </a:rPr>
              <a:t>to</a:t>
            </a:r>
            <a:r>
              <a:rPr sz="2400" spc="-125" dirty="0">
                <a:solidFill>
                  <a:srgbClr val="2A9FBB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400" spc="20" dirty="0">
                <a:solidFill>
                  <a:srgbClr val="2A9FBB"/>
                </a:solidFill>
                <a:latin typeface="Verdana" panose="020B0604030504040204"/>
                <a:cs typeface="Verdana" panose="020B0604030504040204"/>
              </a:rPr>
              <a:t>filter</a:t>
            </a:r>
            <a:r>
              <a:rPr sz="2400" spc="-125" dirty="0">
                <a:solidFill>
                  <a:srgbClr val="2A9FBB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400" spc="-15" dirty="0">
                <a:solidFill>
                  <a:srgbClr val="2A9FBB"/>
                </a:solidFill>
                <a:latin typeface="Verdana" panose="020B0604030504040204"/>
                <a:cs typeface="Verdana" panose="020B0604030504040204"/>
              </a:rPr>
              <a:t>results</a:t>
            </a:r>
            <a:endParaRPr sz="2400">
              <a:latin typeface="Verdana" panose="020B0604030504040204"/>
              <a:cs typeface="Verdana" panose="020B0604030504040204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/>
              <a:t>17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096380" y="1762886"/>
            <a:ext cx="0" cy="4645660"/>
          </a:xfrm>
          <a:custGeom>
            <a:avLst/>
            <a:gdLst/>
            <a:ahLst/>
            <a:cxnLst/>
            <a:rect l="l" t="t" r="r" b="b"/>
            <a:pathLst>
              <a:path h="4645660">
                <a:moveTo>
                  <a:pt x="0" y="0"/>
                </a:moveTo>
                <a:lnTo>
                  <a:pt x="0" y="4645482"/>
                </a:lnTo>
              </a:path>
            </a:pathLst>
          </a:custGeom>
          <a:ln w="25146">
            <a:solidFill>
              <a:srgbClr val="EF5A2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13658" y="1737233"/>
            <a:ext cx="5469762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2400" spc="5" dirty="0">
                <a:solidFill>
                  <a:srgbClr val="EF5A28"/>
                </a:solidFill>
                <a:latin typeface="Verdana" panose="020B0604030504040204"/>
              </a:rPr>
              <a:t>A subquery is a query nested inside another query</a:t>
            </a:r>
            <a:endParaRPr sz="2400" dirty="0">
              <a:latin typeface="Verdana" panose="020B0604030504040204"/>
              <a:cs typeface="Verdana" panose="020B060403050404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93817" y="2855916"/>
            <a:ext cx="3629660" cy="112017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2400" spc="5" dirty="0">
                <a:solidFill>
                  <a:srgbClr val="EF5A28"/>
                </a:solidFill>
                <a:latin typeface="Verdana" panose="020B0604030504040204"/>
              </a:rPr>
              <a:t>Used to perform operations that require intermediate results.</a:t>
            </a:r>
            <a:endParaRPr sz="2400" spc="5" dirty="0">
              <a:solidFill>
                <a:srgbClr val="EF5A28"/>
              </a:solidFill>
              <a:latin typeface="Verdana" panose="020B060403050404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337282" y="1736342"/>
            <a:ext cx="411903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2400" spc="30" dirty="0">
                <a:solidFill>
                  <a:srgbClr val="2A9FBB"/>
                </a:solidFill>
                <a:latin typeface="Verdana" panose="020B0604030504040204"/>
              </a:rPr>
              <a:t>Types of Subqueries</a:t>
            </a:r>
            <a:endParaRPr sz="2400" spc="30" dirty="0">
              <a:solidFill>
                <a:srgbClr val="2A9FBB"/>
              </a:solidFill>
              <a:latin typeface="Verdana" panose="020B060403050404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581969" y="2598648"/>
            <a:ext cx="3629660" cy="237180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400" spc="30" dirty="0">
                <a:solidFill>
                  <a:srgbClr val="2A9FBB"/>
                </a:solidFill>
                <a:latin typeface="Verdana" panose="020B0604030504040204"/>
              </a:rPr>
              <a:t>Single-row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2400" spc="30" dirty="0">
              <a:solidFill>
                <a:srgbClr val="2A9FBB"/>
              </a:solidFill>
              <a:latin typeface="Verdana" panose="020B0604030504040204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400" spc="30" dirty="0">
                <a:solidFill>
                  <a:srgbClr val="2A9FBB"/>
                </a:solidFill>
                <a:latin typeface="Verdana" panose="020B0604030504040204"/>
              </a:rPr>
              <a:t>Multiple-row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2400" spc="30" dirty="0">
              <a:solidFill>
                <a:srgbClr val="2A9FBB"/>
              </a:solidFill>
              <a:latin typeface="Verdana" panose="020B0604030504040204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400" spc="30" dirty="0">
                <a:solidFill>
                  <a:srgbClr val="2A9FBB"/>
                </a:solidFill>
                <a:latin typeface="Verdana" panose="020B0604030504040204"/>
              </a:rPr>
              <a:t>Correlated</a:t>
            </a:r>
          </a:p>
          <a:p>
            <a:pPr marL="82550">
              <a:lnSpc>
                <a:spcPct val="100000"/>
              </a:lnSpc>
              <a:spcBef>
                <a:spcPts val="1560"/>
              </a:spcBef>
            </a:pPr>
            <a:endParaRPr sz="2000" dirty="0">
              <a:latin typeface="Arial MT"/>
              <a:cs typeface="Arial MT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994964" y="519066"/>
            <a:ext cx="9892236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IN" spc="25" dirty="0">
                <a:solidFill>
                  <a:srgbClr val="404040"/>
                </a:solidFill>
              </a:rPr>
              <a:t>Understanding Subqueries in PostgreSQL</a:t>
            </a:r>
            <a:endParaRPr spc="25" dirty="0">
              <a:solidFill>
                <a:srgbClr val="404040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/>
              <a:t>18</a:t>
            </a:fld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54558" y="4895088"/>
            <a:ext cx="5256530" cy="1712007"/>
          </a:xfrm>
          <a:prstGeom prst="rect">
            <a:avLst/>
          </a:prstGeom>
          <a:solidFill>
            <a:srgbClr val="EF5A28"/>
          </a:solidFill>
        </p:spPr>
        <p:txBody>
          <a:bodyPr vert="horz" wrap="square" lIns="0" tIns="234950" rIns="0" bIns="0" rtlCol="0">
            <a:spAutoFit/>
          </a:bodyPr>
          <a:lstStyle/>
          <a:p>
            <a:pPr marL="322580" marR="314325" indent="-1905" algn="ctr">
              <a:lnSpc>
                <a:spcPct val="100000"/>
              </a:lnSpc>
              <a:spcBef>
                <a:spcPts val="1850"/>
              </a:spcBef>
            </a:pPr>
            <a:r>
              <a:rPr lang="en-US" sz="2000" b="1" dirty="0"/>
              <a:t>Execution Time</a:t>
            </a:r>
            <a:r>
              <a:rPr lang="en-US" sz="2000" dirty="0"/>
              <a:t>: Subqueries can be slower than joins in some cases.</a:t>
            </a:r>
          </a:p>
          <a:p>
            <a:pPr marL="322580" marR="314325" indent="-1905" algn="ctr">
              <a:lnSpc>
                <a:spcPct val="100000"/>
              </a:lnSpc>
              <a:spcBef>
                <a:spcPts val="1850"/>
              </a:spcBef>
            </a:pPr>
            <a:r>
              <a:rPr lang="en-US" sz="2000" b="1" dirty="0"/>
              <a:t>Optimization</a:t>
            </a:r>
            <a:r>
              <a:rPr lang="en-US" sz="2000" dirty="0"/>
              <a:t>: PostgreSQL may optimize subqueries for better performance.</a:t>
            </a:r>
            <a:endParaRPr sz="2000" dirty="0">
              <a:latin typeface="Verdana" panose="020B0604030504040204"/>
              <a:cs typeface="Verdana" panose="020B0604030504040204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1CDCE21-AF2B-CB07-0CD5-FEF63CFC276A}"/>
              </a:ext>
            </a:extLst>
          </p:cNvPr>
          <p:cNvSpPr txBox="1"/>
          <p:nvPr/>
        </p:nvSpPr>
        <p:spPr>
          <a:xfrm>
            <a:off x="6094022" y="4648200"/>
            <a:ext cx="609797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pc="30" dirty="0">
                <a:solidFill>
                  <a:srgbClr val="2A9FBB"/>
                </a:solidFill>
                <a:latin typeface="Verdana" panose="020B0604030504040204"/>
              </a:rPr>
              <a:t> Modularity: Break complex queries into simpler parts.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pc="30" dirty="0">
                <a:solidFill>
                  <a:srgbClr val="2A9FBB"/>
                </a:solidFill>
                <a:latin typeface="Verdana" panose="020B0604030504040204"/>
              </a:rPr>
              <a:t> Readability: Makes queries easier to understand.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pc="30" dirty="0">
                <a:solidFill>
                  <a:srgbClr val="2A9FBB"/>
                </a:solidFill>
                <a:latin typeface="Verdana" panose="020B0604030504040204"/>
              </a:rPr>
              <a:t> Flexibility: Can be used in SELECT, INSERT, UPDATE, DELETE statements.</a:t>
            </a:r>
            <a:endParaRPr lang="en-IN" spc="30" dirty="0">
              <a:solidFill>
                <a:srgbClr val="2A9FBB"/>
              </a:solidFill>
              <a:latin typeface="Verdana" panose="020B0604030504040204"/>
            </a:endParaRPr>
          </a:p>
        </p:txBody>
      </p:sp>
    </p:spTree>
    <p:extLst>
      <p:ext uri="{BB962C8B-B14F-4D97-AF65-F5344CB8AC3E}">
        <p14:creationId xmlns:p14="http://schemas.microsoft.com/office/powerpoint/2010/main" val="22062741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096380" y="1762886"/>
            <a:ext cx="0" cy="4645660"/>
          </a:xfrm>
          <a:custGeom>
            <a:avLst/>
            <a:gdLst/>
            <a:ahLst/>
            <a:cxnLst/>
            <a:rect l="l" t="t" r="r" b="b"/>
            <a:pathLst>
              <a:path h="4645660">
                <a:moveTo>
                  <a:pt x="0" y="0"/>
                </a:moveTo>
                <a:lnTo>
                  <a:pt x="0" y="4645482"/>
                </a:lnTo>
              </a:path>
            </a:pathLst>
          </a:custGeom>
          <a:ln w="25146">
            <a:solidFill>
              <a:srgbClr val="EF5A2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13658" y="1737233"/>
            <a:ext cx="5469762" cy="2228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2400" spc="5" dirty="0">
                <a:solidFill>
                  <a:srgbClr val="EF5A28"/>
                </a:solidFill>
                <a:latin typeface="Verdana" panose="020B0604030504040204"/>
              </a:rPr>
              <a:t>A view in PostgreSQL is a virtual table that represents the result of a database query. It can simplify complex queries, enhance security, and provide a consistent interface to data.</a:t>
            </a:r>
            <a:endParaRPr sz="2400" spc="5" dirty="0">
              <a:solidFill>
                <a:srgbClr val="EF5A28"/>
              </a:solidFill>
              <a:latin typeface="Verdana" panose="020B060403050404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423632" y="1513427"/>
            <a:ext cx="4119035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400" spc="30" dirty="0">
                <a:solidFill>
                  <a:srgbClr val="2A9FBB"/>
                </a:solidFill>
                <a:latin typeface="Verdana" panose="020B0604030504040204"/>
              </a:rPr>
              <a:t>Views are created using the CREATE VIEW statement.</a:t>
            </a:r>
            <a:endParaRPr sz="2400" spc="30" dirty="0">
              <a:solidFill>
                <a:srgbClr val="2A9FBB"/>
              </a:solidFill>
              <a:latin typeface="Verdana" panose="020B060403050404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448372" y="3051087"/>
            <a:ext cx="5196373" cy="112017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2400" spc="30" dirty="0">
                <a:solidFill>
                  <a:srgbClr val="2A9FBB"/>
                </a:solidFill>
                <a:latin typeface="Verdana" panose="020B0604030504040204"/>
              </a:rPr>
              <a:t>Use views to create a customized presentation of data from one or more tables.</a:t>
            </a:r>
            <a:endParaRPr lang="en-US" sz="2000" dirty="0">
              <a:latin typeface="Arial MT"/>
              <a:cs typeface="Arial MT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994964" y="519066"/>
            <a:ext cx="9892236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IN" spc="25" dirty="0">
                <a:solidFill>
                  <a:srgbClr val="404040"/>
                </a:solidFill>
              </a:rPr>
              <a:t>Database Views in PostgreSQL</a:t>
            </a:r>
            <a:endParaRPr spc="25" dirty="0">
              <a:solidFill>
                <a:srgbClr val="404040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/>
              <a:t>19</a:t>
            </a:fld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09600" y="4377446"/>
            <a:ext cx="5256530" cy="2389116"/>
          </a:xfrm>
          <a:prstGeom prst="rect">
            <a:avLst/>
          </a:prstGeom>
          <a:solidFill>
            <a:srgbClr val="EF5A28"/>
          </a:solidFill>
        </p:spPr>
        <p:txBody>
          <a:bodyPr vert="horz" wrap="square" lIns="0" tIns="234950" rIns="0" bIns="0" rtlCol="0">
            <a:spAutoFit/>
          </a:bodyPr>
          <a:lstStyle/>
          <a:p>
            <a:pPr marL="322580" marR="314325" indent="-1905">
              <a:spcBef>
                <a:spcPts val="1850"/>
              </a:spcBef>
            </a:pPr>
            <a:r>
              <a:rPr lang="en-IN" sz="2400" b="1" dirty="0"/>
              <a:t>Scenarios for Using Views:</a:t>
            </a:r>
          </a:p>
          <a:p>
            <a:pPr marL="322580" marR="314325" indent="-1905">
              <a:spcBef>
                <a:spcPts val="1850"/>
              </a:spcBef>
            </a:pPr>
            <a:r>
              <a:rPr lang="en-IN" sz="2000" b="1" i="1" dirty="0"/>
              <a:t>Simplifying Complex Queries                  Enhancing Security                              </a:t>
            </a:r>
            <a:r>
              <a:rPr lang="en-US" sz="2000" b="1" i="1" dirty="0"/>
              <a:t>Providing a Layer of Abstraction            </a:t>
            </a:r>
            <a:r>
              <a:rPr lang="en-IN" sz="2000" b="1" i="1" dirty="0"/>
              <a:t>Aggregated Data                                                 Join Operations</a:t>
            </a:r>
            <a:endParaRPr lang="en-US" sz="2000" b="1" i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1CDCE21-AF2B-CB07-0CD5-FEF63CFC276A}"/>
              </a:ext>
            </a:extLst>
          </p:cNvPr>
          <p:cNvSpPr txBox="1"/>
          <p:nvPr/>
        </p:nvSpPr>
        <p:spPr>
          <a:xfrm>
            <a:off x="6094022" y="4648200"/>
            <a:ext cx="6097978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000" spc="30" dirty="0">
                <a:solidFill>
                  <a:srgbClr val="2A9FBB"/>
                </a:solidFill>
                <a:latin typeface="Verdana" panose="020B0604030504040204"/>
              </a:rPr>
              <a:t>CREATE VIEW </a:t>
            </a:r>
            <a:r>
              <a:rPr lang="en-US" altLang="en-US" sz="2000" spc="30" dirty="0" err="1">
                <a:solidFill>
                  <a:srgbClr val="2A9FBB"/>
                </a:solidFill>
                <a:latin typeface="Verdana" panose="020B0604030504040204"/>
              </a:rPr>
              <a:t>view_name</a:t>
            </a:r>
            <a:r>
              <a:rPr lang="en-US" altLang="en-US" sz="2000" spc="30" dirty="0">
                <a:solidFill>
                  <a:srgbClr val="2A9FBB"/>
                </a:solidFill>
                <a:latin typeface="Verdana" panose="020B0604030504040204"/>
              </a:rPr>
              <a:t> AS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000" spc="30" dirty="0">
                <a:solidFill>
                  <a:srgbClr val="2A9FBB"/>
                </a:solidFill>
                <a:latin typeface="Verdana" panose="020B0604030504040204"/>
              </a:rPr>
              <a:t>SELECT column1, column2, ...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000" spc="30" dirty="0">
                <a:solidFill>
                  <a:srgbClr val="2A9FBB"/>
                </a:solidFill>
                <a:latin typeface="Verdana" panose="020B0604030504040204"/>
              </a:rPr>
              <a:t>FROM </a:t>
            </a:r>
            <a:r>
              <a:rPr lang="en-US" altLang="en-US" sz="2000" spc="30" dirty="0" err="1">
                <a:solidFill>
                  <a:srgbClr val="2A9FBB"/>
                </a:solidFill>
                <a:latin typeface="Verdana" panose="020B0604030504040204"/>
              </a:rPr>
              <a:t>table_name</a:t>
            </a:r>
            <a:endParaRPr lang="en-US" altLang="en-US" sz="2000" spc="30" dirty="0">
              <a:solidFill>
                <a:srgbClr val="2A9FBB"/>
              </a:solidFill>
              <a:latin typeface="Verdana" panose="020B0604030504040204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000" spc="30" dirty="0">
                <a:solidFill>
                  <a:srgbClr val="2A9FBB"/>
                </a:solidFill>
                <a:latin typeface="Verdana" panose="020B0604030504040204"/>
              </a:rPr>
              <a:t>WHERE condition;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2000" spc="30" dirty="0">
              <a:solidFill>
                <a:srgbClr val="2A9FBB"/>
              </a:solidFill>
              <a:latin typeface="Verdana" panose="020B0604030504040204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000" spc="30" dirty="0">
                <a:solidFill>
                  <a:srgbClr val="2A9FBB"/>
                </a:solidFill>
                <a:latin typeface="Verdana" panose="020B0604030504040204"/>
              </a:rPr>
              <a:t>DROP VIEW IF EXISTS </a:t>
            </a:r>
            <a:r>
              <a:rPr lang="en-US" altLang="en-US" sz="2000" spc="30" dirty="0" err="1">
                <a:solidFill>
                  <a:srgbClr val="2A9FBB"/>
                </a:solidFill>
                <a:latin typeface="Verdana" panose="020B0604030504040204"/>
              </a:rPr>
              <a:t>flight_info</a:t>
            </a:r>
            <a:r>
              <a:rPr lang="en-US" altLang="en-US" sz="2000" spc="30" dirty="0">
                <a:solidFill>
                  <a:srgbClr val="2A9FBB"/>
                </a:solidFill>
                <a:latin typeface="Verdana" panose="020B0604030504040204"/>
              </a:rPr>
              <a:t>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2000" spc="30" dirty="0">
              <a:solidFill>
                <a:srgbClr val="2A9FBB"/>
              </a:solidFill>
              <a:latin typeface="Verdana" panose="020B0604030504040204"/>
            </a:endParaRPr>
          </a:p>
        </p:txBody>
      </p:sp>
    </p:spTree>
    <p:extLst>
      <p:ext uri="{BB962C8B-B14F-4D97-AF65-F5344CB8AC3E}">
        <p14:creationId xmlns:p14="http://schemas.microsoft.com/office/powerpoint/2010/main" val="25003978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096380" y="1762886"/>
            <a:ext cx="0" cy="4645660"/>
          </a:xfrm>
          <a:custGeom>
            <a:avLst/>
            <a:gdLst/>
            <a:ahLst/>
            <a:cxnLst/>
            <a:rect l="l" t="t" r="r" b="b"/>
            <a:pathLst>
              <a:path h="4645660">
                <a:moveTo>
                  <a:pt x="0" y="0"/>
                </a:moveTo>
                <a:lnTo>
                  <a:pt x="0" y="4645482"/>
                </a:lnTo>
              </a:path>
            </a:pathLst>
          </a:custGeom>
          <a:ln w="25146">
            <a:solidFill>
              <a:srgbClr val="EF5A2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13658" y="1513427"/>
            <a:ext cx="5469762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2400" spc="5" dirty="0">
                <a:solidFill>
                  <a:srgbClr val="EF5A28"/>
                </a:solidFill>
                <a:latin typeface="Verdana" panose="020B0604030504040204"/>
              </a:rPr>
              <a:t>Technique</a:t>
            </a:r>
            <a:endParaRPr sz="2400" spc="5" dirty="0">
              <a:solidFill>
                <a:srgbClr val="EF5A28"/>
              </a:solidFill>
              <a:latin typeface="Verdana" panose="020B060403050404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423632" y="1513427"/>
            <a:ext cx="411903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400" spc="30" dirty="0">
                <a:solidFill>
                  <a:srgbClr val="2A9FBB"/>
                </a:solidFill>
                <a:latin typeface="Verdana" panose="020B0604030504040204"/>
              </a:rPr>
              <a:t>Purpose</a:t>
            </a:r>
            <a:endParaRPr sz="2400" spc="30" dirty="0">
              <a:solidFill>
                <a:srgbClr val="2A9FBB"/>
              </a:solidFill>
              <a:latin typeface="Verdana" panose="020B060403050404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180053" y="2423241"/>
            <a:ext cx="5196373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IN" sz="2000" spc="30" dirty="0">
                <a:solidFill>
                  <a:srgbClr val="2A9FBB"/>
                </a:solidFill>
                <a:latin typeface="Verdana" panose="020B0604030504040204"/>
              </a:rPr>
              <a:t>Speed up data retrieval.</a:t>
            </a:r>
            <a:endParaRPr lang="en-US" sz="2000" spc="30" dirty="0">
              <a:solidFill>
                <a:srgbClr val="2A9FBB"/>
              </a:solidFill>
              <a:latin typeface="Verdana" panose="020B0604030504040204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994964" y="519066"/>
            <a:ext cx="9892236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IN" spc="25" dirty="0">
                <a:solidFill>
                  <a:srgbClr val="404040"/>
                </a:solidFill>
              </a:rPr>
              <a:t>Writing High-Performing SQL Queries</a:t>
            </a:r>
            <a:endParaRPr spc="25" dirty="0">
              <a:solidFill>
                <a:srgbClr val="404040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/>
              <a:t>20</a:t>
            </a:fld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1CDCE21-AF2B-CB07-0CD5-FEF63CFC276A}"/>
              </a:ext>
            </a:extLst>
          </p:cNvPr>
          <p:cNvSpPr txBox="1"/>
          <p:nvPr/>
        </p:nvSpPr>
        <p:spPr>
          <a:xfrm>
            <a:off x="6094022" y="4324147"/>
            <a:ext cx="609797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spc="30" dirty="0">
                <a:solidFill>
                  <a:srgbClr val="2A9FBB"/>
                </a:solidFill>
                <a:latin typeface="Verdana" panose="020B0604030504040204"/>
              </a:rPr>
              <a:t>Improve performance by reducing the amount of data processed.</a:t>
            </a:r>
            <a:endParaRPr lang="en-US" altLang="en-US" sz="2000" spc="30" dirty="0">
              <a:solidFill>
                <a:srgbClr val="2A9FBB"/>
              </a:solidFill>
              <a:latin typeface="Verdana" panose="020B0604030504040204"/>
            </a:endParaRPr>
          </a:p>
        </p:txBody>
      </p:sp>
      <p:sp>
        <p:nvSpPr>
          <p:cNvPr id="4" name="object 6">
            <a:extLst>
              <a:ext uri="{FF2B5EF4-FFF2-40B4-BE49-F238E27FC236}">
                <a16:creationId xmlns:a16="http://schemas.microsoft.com/office/drawing/2014/main" id="{735BF912-55D6-F9B9-2FD1-B4497465C9B3}"/>
              </a:ext>
            </a:extLst>
          </p:cNvPr>
          <p:cNvSpPr txBox="1"/>
          <p:nvPr/>
        </p:nvSpPr>
        <p:spPr>
          <a:xfrm>
            <a:off x="521653" y="2392369"/>
            <a:ext cx="5196373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 marL="12700" marR="0" lvl="0" indent="0" fontAlgn="base">
              <a:spcBef>
                <a:spcPts val="100"/>
              </a:spcBef>
              <a:spcAft>
                <a:spcPct val="0"/>
              </a:spcAft>
              <a:buClrTx/>
              <a:buSzTx/>
              <a:tabLst/>
              <a:defRPr sz="2000" spc="5">
                <a:solidFill>
                  <a:srgbClr val="EF5A28"/>
                </a:solidFill>
                <a:latin typeface="Verdana" panose="020B0604030504040204"/>
              </a:defRPr>
            </a:lvl1pPr>
          </a:lstStyle>
          <a:p>
            <a:r>
              <a:rPr lang="en-IN" dirty="0"/>
              <a:t>Use Indexes Wisely</a:t>
            </a:r>
            <a:endParaRPr lang="en-US" dirty="0"/>
          </a:p>
        </p:txBody>
      </p:sp>
      <p:sp>
        <p:nvSpPr>
          <p:cNvPr id="10" name="object 6">
            <a:extLst>
              <a:ext uri="{FF2B5EF4-FFF2-40B4-BE49-F238E27FC236}">
                <a16:creationId xmlns:a16="http://schemas.microsoft.com/office/drawing/2014/main" id="{DD17B543-A5DE-28D0-61F6-0E2F3F404570}"/>
              </a:ext>
            </a:extLst>
          </p:cNvPr>
          <p:cNvSpPr txBox="1"/>
          <p:nvPr/>
        </p:nvSpPr>
        <p:spPr>
          <a:xfrm>
            <a:off x="6128301" y="3680221"/>
            <a:ext cx="5196373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IN" sz="2000" spc="30" dirty="0">
                <a:solidFill>
                  <a:srgbClr val="2A9FBB"/>
                </a:solidFill>
                <a:latin typeface="Verdana" panose="020B0604030504040204"/>
              </a:rPr>
              <a:t>Optimize query performance.</a:t>
            </a:r>
            <a:endParaRPr lang="en-US" sz="2000" spc="30" dirty="0">
              <a:solidFill>
                <a:srgbClr val="2A9FBB"/>
              </a:solidFill>
              <a:latin typeface="Verdana" panose="020B0604030504040204"/>
            </a:endParaRPr>
          </a:p>
        </p:txBody>
      </p:sp>
      <p:sp>
        <p:nvSpPr>
          <p:cNvPr id="11" name="object 6">
            <a:extLst>
              <a:ext uri="{FF2B5EF4-FFF2-40B4-BE49-F238E27FC236}">
                <a16:creationId xmlns:a16="http://schemas.microsoft.com/office/drawing/2014/main" id="{CB5A8C70-AE13-7087-1200-DD75AFE7FACA}"/>
              </a:ext>
            </a:extLst>
          </p:cNvPr>
          <p:cNvSpPr txBox="1"/>
          <p:nvPr/>
        </p:nvSpPr>
        <p:spPr>
          <a:xfrm>
            <a:off x="521653" y="3836715"/>
            <a:ext cx="5196373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fontAlgn="base">
              <a:spcBef>
                <a:spcPts val="100"/>
              </a:spcBef>
              <a:spcAft>
                <a:spcPct val="0"/>
              </a:spcAft>
              <a:buClrTx/>
              <a:buSzTx/>
              <a:tabLst/>
            </a:pPr>
            <a:r>
              <a:rPr lang="en-IN" sz="2000" spc="5" dirty="0">
                <a:solidFill>
                  <a:srgbClr val="EF5A28"/>
                </a:solidFill>
                <a:latin typeface="Verdana" panose="020B0604030504040204"/>
              </a:rPr>
              <a:t>Use JOINS Efficiently</a:t>
            </a:r>
            <a:endParaRPr lang="en-US" sz="2000" spc="5" dirty="0">
              <a:solidFill>
                <a:srgbClr val="EF5A28"/>
              </a:solidFill>
              <a:latin typeface="Verdana" panose="020B0604030504040204"/>
            </a:endParaRPr>
          </a:p>
        </p:txBody>
      </p:sp>
      <p:sp>
        <p:nvSpPr>
          <p:cNvPr id="12" name="object 6">
            <a:extLst>
              <a:ext uri="{FF2B5EF4-FFF2-40B4-BE49-F238E27FC236}">
                <a16:creationId xmlns:a16="http://schemas.microsoft.com/office/drawing/2014/main" id="{BB7B38A4-EB73-8D45-CDFE-A8CC9E536284}"/>
              </a:ext>
            </a:extLst>
          </p:cNvPr>
          <p:cNvSpPr txBox="1"/>
          <p:nvPr/>
        </p:nvSpPr>
        <p:spPr>
          <a:xfrm>
            <a:off x="6146114" y="3036295"/>
            <a:ext cx="5196373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IN" sz="2000" spc="30" dirty="0">
                <a:solidFill>
                  <a:srgbClr val="2A9FBB"/>
                </a:solidFill>
                <a:latin typeface="Verdana" panose="020B0604030504040204"/>
              </a:rPr>
              <a:t>Reduce I/O overhead.</a:t>
            </a:r>
            <a:endParaRPr lang="en-US" sz="2000" spc="30" dirty="0">
              <a:solidFill>
                <a:srgbClr val="2A9FBB"/>
              </a:solidFill>
              <a:latin typeface="Verdana" panose="020B0604030504040204"/>
            </a:endParaRPr>
          </a:p>
        </p:txBody>
      </p:sp>
      <p:sp>
        <p:nvSpPr>
          <p:cNvPr id="14" name="object 6">
            <a:extLst>
              <a:ext uri="{FF2B5EF4-FFF2-40B4-BE49-F238E27FC236}">
                <a16:creationId xmlns:a16="http://schemas.microsoft.com/office/drawing/2014/main" id="{FED30E49-3464-CF24-ADD1-7688F8B8354C}"/>
              </a:ext>
            </a:extLst>
          </p:cNvPr>
          <p:cNvSpPr txBox="1"/>
          <p:nvPr/>
        </p:nvSpPr>
        <p:spPr>
          <a:xfrm>
            <a:off x="521653" y="3192789"/>
            <a:ext cx="5196373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fontAlgn="base">
              <a:spcBef>
                <a:spcPts val="100"/>
              </a:spcBef>
              <a:spcAft>
                <a:spcPct val="0"/>
              </a:spcAft>
              <a:buClrTx/>
              <a:buSzTx/>
              <a:tabLst/>
            </a:pPr>
            <a:r>
              <a:rPr lang="en-IN" sz="2000" spc="5" dirty="0">
                <a:solidFill>
                  <a:srgbClr val="EF5A28"/>
                </a:solidFill>
                <a:latin typeface="Verdana" panose="020B0604030504040204"/>
              </a:rPr>
              <a:t>**Avoid SELECT *</a:t>
            </a:r>
            <a:endParaRPr lang="en-US" sz="2000" spc="5" dirty="0">
              <a:solidFill>
                <a:srgbClr val="EF5A28"/>
              </a:solidFill>
              <a:latin typeface="Verdana" panose="020B0604030504040204"/>
            </a:endParaRPr>
          </a:p>
        </p:txBody>
      </p:sp>
      <p:sp>
        <p:nvSpPr>
          <p:cNvPr id="15" name="object 6">
            <a:extLst>
              <a:ext uri="{FF2B5EF4-FFF2-40B4-BE49-F238E27FC236}">
                <a16:creationId xmlns:a16="http://schemas.microsoft.com/office/drawing/2014/main" id="{73C65E8F-0AF4-89AA-0078-CEBFEFB8702F}"/>
              </a:ext>
            </a:extLst>
          </p:cNvPr>
          <p:cNvSpPr txBox="1"/>
          <p:nvPr/>
        </p:nvSpPr>
        <p:spPr>
          <a:xfrm>
            <a:off x="521653" y="4480641"/>
            <a:ext cx="5496295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fontAlgn="base">
              <a:spcBef>
                <a:spcPts val="100"/>
              </a:spcBef>
              <a:spcAft>
                <a:spcPct val="0"/>
              </a:spcAft>
              <a:buClrTx/>
              <a:buSzTx/>
              <a:tabLst/>
            </a:pPr>
            <a:r>
              <a:rPr lang="en-US" sz="2000" spc="5" dirty="0">
                <a:solidFill>
                  <a:srgbClr val="EF5A28"/>
                </a:solidFill>
                <a:latin typeface="Verdana" panose="020B0604030504040204"/>
              </a:rPr>
              <a:t>Limit the Number of Rows Returned</a:t>
            </a:r>
          </a:p>
        </p:txBody>
      </p:sp>
      <p:sp>
        <p:nvSpPr>
          <p:cNvPr id="16" name="object 6">
            <a:extLst>
              <a:ext uri="{FF2B5EF4-FFF2-40B4-BE49-F238E27FC236}">
                <a16:creationId xmlns:a16="http://schemas.microsoft.com/office/drawing/2014/main" id="{5CBC56DB-4282-7197-7DC7-A56DD69A1ECE}"/>
              </a:ext>
            </a:extLst>
          </p:cNvPr>
          <p:cNvSpPr txBox="1"/>
          <p:nvPr/>
        </p:nvSpPr>
        <p:spPr>
          <a:xfrm>
            <a:off x="521653" y="5395041"/>
            <a:ext cx="5196373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 marL="12700" marR="0" lvl="0" indent="0" fontAlgn="base">
              <a:spcBef>
                <a:spcPts val="100"/>
              </a:spcBef>
              <a:spcAft>
                <a:spcPct val="0"/>
              </a:spcAft>
              <a:buClrTx/>
              <a:buSzTx/>
              <a:tabLst/>
              <a:defRPr sz="2000" spc="5">
                <a:solidFill>
                  <a:srgbClr val="EF5A28"/>
                </a:solidFill>
                <a:latin typeface="Verdana" panose="020B0604030504040204"/>
              </a:defRPr>
            </a:lvl1pPr>
          </a:lstStyle>
          <a:p>
            <a:r>
              <a:rPr lang="en-IN" dirty="0"/>
              <a:t>Use Appropriate Data Types</a:t>
            </a:r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8E93CC7-1937-A49F-16A4-271749608F4F}"/>
              </a:ext>
            </a:extLst>
          </p:cNvPr>
          <p:cNvSpPr txBox="1"/>
          <p:nvPr/>
        </p:nvSpPr>
        <p:spPr>
          <a:xfrm>
            <a:off x="381000" y="5999928"/>
            <a:ext cx="609797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spc="5" dirty="0">
                <a:solidFill>
                  <a:srgbClr val="EF5A28"/>
                </a:solidFill>
                <a:latin typeface="Verdana" panose="020B0604030504040204"/>
              </a:rPr>
              <a:t>Write Simple and Understandable Queries</a:t>
            </a:r>
            <a:endParaRPr lang="en-IN" sz="2000" spc="5" dirty="0">
              <a:solidFill>
                <a:srgbClr val="EF5A28"/>
              </a:solidFill>
              <a:latin typeface="Verdana" panose="020B0604030504040204"/>
            </a:endParaRPr>
          </a:p>
        </p:txBody>
      </p:sp>
      <p:sp>
        <p:nvSpPr>
          <p:cNvPr id="19" name="object 6">
            <a:extLst>
              <a:ext uri="{FF2B5EF4-FFF2-40B4-BE49-F238E27FC236}">
                <a16:creationId xmlns:a16="http://schemas.microsoft.com/office/drawing/2014/main" id="{BFFD1BE2-11A7-9359-8308-471A93812866}"/>
              </a:ext>
            </a:extLst>
          </p:cNvPr>
          <p:cNvSpPr txBox="1"/>
          <p:nvPr/>
        </p:nvSpPr>
        <p:spPr>
          <a:xfrm>
            <a:off x="6180053" y="5999928"/>
            <a:ext cx="5196373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2000" spc="30" dirty="0">
                <a:solidFill>
                  <a:srgbClr val="2A9FBB"/>
                </a:solidFill>
                <a:latin typeface="Verdana" panose="020B0604030504040204"/>
              </a:rPr>
              <a:t>Easier to maintain and optimize.</a:t>
            </a:r>
          </a:p>
        </p:txBody>
      </p:sp>
      <p:sp>
        <p:nvSpPr>
          <p:cNvPr id="20" name="object 6">
            <a:extLst>
              <a:ext uri="{FF2B5EF4-FFF2-40B4-BE49-F238E27FC236}">
                <a16:creationId xmlns:a16="http://schemas.microsoft.com/office/drawing/2014/main" id="{58421A0E-61D5-A84B-DB59-ADA763A05244}"/>
              </a:ext>
            </a:extLst>
          </p:cNvPr>
          <p:cNvSpPr txBox="1"/>
          <p:nvPr/>
        </p:nvSpPr>
        <p:spPr>
          <a:xfrm>
            <a:off x="6177339" y="5356000"/>
            <a:ext cx="5900056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2000" spc="30" dirty="0">
                <a:solidFill>
                  <a:srgbClr val="2A9FBB"/>
                </a:solidFill>
                <a:latin typeface="Verdana" panose="020B0604030504040204"/>
              </a:rPr>
              <a:t>Ensure efficient storage and quick access.</a:t>
            </a:r>
          </a:p>
        </p:txBody>
      </p:sp>
    </p:spTree>
    <p:extLst>
      <p:ext uri="{BB962C8B-B14F-4D97-AF65-F5344CB8AC3E}">
        <p14:creationId xmlns:p14="http://schemas.microsoft.com/office/powerpoint/2010/main" val="25974558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096380" y="1762886"/>
            <a:ext cx="0" cy="4645660"/>
          </a:xfrm>
          <a:custGeom>
            <a:avLst/>
            <a:gdLst/>
            <a:ahLst/>
            <a:cxnLst/>
            <a:rect l="l" t="t" r="r" b="b"/>
            <a:pathLst>
              <a:path h="4645660">
                <a:moveTo>
                  <a:pt x="0" y="0"/>
                </a:moveTo>
                <a:lnTo>
                  <a:pt x="0" y="4645482"/>
                </a:lnTo>
              </a:path>
            </a:pathLst>
          </a:custGeom>
          <a:ln w="25146">
            <a:solidFill>
              <a:srgbClr val="EF5A2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13658" y="1513427"/>
            <a:ext cx="5469762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2400" spc="5" dirty="0">
                <a:solidFill>
                  <a:srgbClr val="EF5A28"/>
                </a:solidFill>
                <a:latin typeface="Verdana" panose="020B0604030504040204"/>
              </a:rPr>
              <a:t>Technique</a:t>
            </a:r>
            <a:endParaRPr sz="2400" spc="5" dirty="0">
              <a:solidFill>
                <a:srgbClr val="EF5A28"/>
              </a:solidFill>
              <a:latin typeface="Verdana" panose="020B060403050404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423632" y="1513427"/>
            <a:ext cx="411903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400" spc="30" dirty="0">
                <a:solidFill>
                  <a:srgbClr val="2A9FBB"/>
                </a:solidFill>
                <a:latin typeface="Verdana" panose="020B0604030504040204"/>
              </a:rPr>
              <a:t>Purpose</a:t>
            </a:r>
            <a:endParaRPr sz="2400" spc="30" dirty="0">
              <a:solidFill>
                <a:srgbClr val="2A9FBB"/>
              </a:solidFill>
              <a:latin typeface="Verdana" panose="020B060403050404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180053" y="2286000"/>
            <a:ext cx="5196373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2000" spc="30" dirty="0">
                <a:solidFill>
                  <a:srgbClr val="2A9FBB"/>
                </a:solidFill>
                <a:latin typeface="Verdana" panose="020B0604030504040204"/>
              </a:rPr>
              <a:t>Improve performance with large datasets.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994964" y="519066"/>
            <a:ext cx="9892236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IN" spc="25" dirty="0">
                <a:solidFill>
                  <a:srgbClr val="404040"/>
                </a:solidFill>
              </a:rPr>
              <a:t>Writing High-Performing SQL Queries</a:t>
            </a:r>
            <a:endParaRPr spc="25" dirty="0">
              <a:solidFill>
                <a:srgbClr val="404040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/>
              <a:t>21</a:t>
            </a:fld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1CDCE21-AF2B-CB07-0CD5-FEF63CFC276A}"/>
              </a:ext>
            </a:extLst>
          </p:cNvPr>
          <p:cNvSpPr txBox="1"/>
          <p:nvPr/>
        </p:nvSpPr>
        <p:spPr>
          <a:xfrm>
            <a:off x="6017948" y="5135775"/>
            <a:ext cx="609797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N" sz="2000" spc="30" dirty="0">
                <a:solidFill>
                  <a:srgbClr val="2A9FBB"/>
                </a:solidFill>
                <a:latin typeface="Verdana" panose="020B0604030504040204"/>
              </a:rPr>
              <a:t>Maintain</a:t>
            </a:r>
            <a:r>
              <a:rPr lang="en-IN" sz="2000" dirty="0"/>
              <a:t> </a:t>
            </a:r>
            <a:r>
              <a:rPr lang="en-IN" sz="2000" spc="30" dirty="0">
                <a:solidFill>
                  <a:srgbClr val="2A9FBB"/>
                </a:solidFill>
                <a:latin typeface="Verdana" panose="020B0604030504040204"/>
              </a:rPr>
              <a:t>index efficiency.</a:t>
            </a:r>
            <a:endParaRPr lang="en-US" altLang="en-US" sz="2000" spc="30" dirty="0">
              <a:solidFill>
                <a:srgbClr val="2A9FBB"/>
              </a:solidFill>
              <a:latin typeface="Verdana" panose="020B0604030504040204"/>
            </a:endParaRPr>
          </a:p>
        </p:txBody>
      </p:sp>
      <p:sp>
        <p:nvSpPr>
          <p:cNvPr id="4" name="object 6">
            <a:extLst>
              <a:ext uri="{FF2B5EF4-FFF2-40B4-BE49-F238E27FC236}">
                <a16:creationId xmlns:a16="http://schemas.microsoft.com/office/drawing/2014/main" id="{735BF912-55D6-F9B9-2FD1-B4497465C9B3}"/>
              </a:ext>
            </a:extLst>
          </p:cNvPr>
          <p:cNvSpPr txBox="1"/>
          <p:nvPr/>
        </p:nvSpPr>
        <p:spPr>
          <a:xfrm>
            <a:off x="521653" y="2392369"/>
            <a:ext cx="5624461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 marL="12700" marR="0" lvl="0" indent="0" fontAlgn="base">
              <a:spcBef>
                <a:spcPts val="100"/>
              </a:spcBef>
              <a:spcAft>
                <a:spcPct val="0"/>
              </a:spcAft>
              <a:buClrTx/>
              <a:buSzTx/>
              <a:tabLst/>
              <a:defRPr sz="2000" spc="5">
                <a:solidFill>
                  <a:srgbClr val="EF5A28"/>
                </a:solidFill>
                <a:latin typeface="Verdana" panose="020B0604030504040204"/>
              </a:defRPr>
            </a:lvl1pPr>
          </a:lstStyle>
          <a:p>
            <a:r>
              <a:rPr lang="en-US" dirty="0"/>
              <a:t>Use EXISTS Instead of IN for Subqueries</a:t>
            </a:r>
          </a:p>
        </p:txBody>
      </p:sp>
      <p:sp>
        <p:nvSpPr>
          <p:cNvPr id="10" name="object 6">
            <a:extLst>
              <a:ext uri="{FF2B5EF4-FFF2-40B4-BE49-F238E27FC236}">
                <a16:creationId xmlns:a16="http://schemas.microsoft.com/office/drawing/2014/main" id="{DD17B543-A5DE-28D0-61F6-0E2F3F404570}"/>
              </a:ext>
            </a:extLst>
          </p:cNvPr>
          <p:cNvSpPr txBox="1"/>
          <p:nvPr/>
        </p:nvSpPr>
        <p:spPr>
          <a:xfrm>
            <a:off x="6146114" y="4361099"/>
            <a:ext cx="5196373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2000" spc="30" dirty="0">
                <a:solidFill>
                  <a:srgbClr val="2A9FBB"/>
                </a:solidFill>
                <a:latin typeface="Verdana" panose="020B0604030504040204"/>
              </a:rPr>
              <a:t>Identify and optimize slow queries.</a:t>
            </a:r>
          </a:p>
        </p:txBody>
      </p:sp>
      <p:sp>
        <p:nvSpPr>
          <p:cNvPr id="11" name="object 6">
            <a:extLst>
              <a:ext uri="{FF2B5EF4-FFF2-40B4-BE49-F238E27FC236}">
                <a16:creationId xmlns:a16="http://schemas.microsoft.com/office/drawing/2014/main" id="{CB5A8C70-AE13-7087-1200-DD75AFE7FACA}"/>
              </a:ext>
            </a:extLst>
          </p:cNvPr>
          <p:cNvSpPr txBox="1"/>
          <p:nvPr/>
        </p:nvSpPr>
        <p:spPr>
          <a:xfrm>
            <a:off x="521653" y="4343400"/>
            <a:ext cx="5196373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fontAlgn="base">
              <a:spcBef>
                <a:spcPts val="100"/>
              </a:spcBef>
              <a:spcAft>
                <a:spcPct val="0"/>
              </a:spcAft>
              <a:buClrTx/>
              <a:buSzTx/>
              <a:tabLst/>
            </a:pPr>
            <a:r>
              <a:rPr lang="en-IN" sz="2000" spc="5" dirty="0">
                <a:solidFill>
                  <a:srgbClr val="EF5A28"/>
                </a:solidFill>
                <a:latin typeface="Verdana" panose="020B0604030504040204"/>
              </a:rPr>
              <a:t>Use Query Analyzer Tools</a:t>
            </a:r>
            <a:endParaRPr lang="en-US" sz="2000" spc="5" dirty="0">
              <a:solidFill>
                <a:srgbClr val="EF5A28"/>
              </a:solidFill>
              <a:latin typeface="Verdana" panose="020B0604030504040204"/>
            </a:endParaRPr>
          </a:p>
        </p:txBody>
      </p:sp>
      <p:sp>
        <p:nvSpPr>
          <p:cNvPr id="12" name="object 6">
            <a:extLst>
              <a:ext uri="{FF2B5EF4-FFF2-40B4-BE49-F238E27FC236}">
                <a16:creationId xmlns:a16="http://schemas.microsoft.com/office/drawing/2014/main" id="{BB7B38A4-EB73-8D45-CDFE-A8CC9E536284}"/>
              </a:ext>
            </a:extLst>
          </p:cNvPr>
          <p:cNvSpPr txBox="1"/>
          <p:nvPr/>
        </p:nvSpPr>
        <p:spPr>
          <a:xfrm>
            <a:off x="6146114" y="3410864"/>
            <a:ext cx="6045882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spc="30" dirty="0">
                <a:solidFill>
                  <a:srgbClr val="2A9FBB"/>
                </a:solidFill>
                <a:latin typeface="Verdana" panose="020B0604030504040204"/>
              </a:rPr>
              <a:t>Reduce the amount of data processed in joins.</a:t>
            </a:r>
          </a:p>
        </p:txBody>
      </p:sp>
      <p:sp>
        <p:nvSpPr>
          <p:cNvPr id="14" name="object 6">
            <a:extLst>
              <a:ext uri="{FF2B5EF4-FFF2-40B4-BE49-F238E27FC236}">
                <a16:creationId xmlns:a16="http://schemas.microsoft.com/office/drawing/2014/main" id="{FED30E49-3464-CF24-ADD1-7688F8B8354C}"/>
              </a:ext>
            </a:extLst>
          </p:cNvPr>
          <p:cNvSpPr txBox="1"/>
          <p:nvPr/>
        </p:nvSpPr>
        <p:spPr>
          <a:xfrm>
            <a:off x="521653" y="3479453"/>
            <a:ext cx="5196373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fontAlgn="base">
              <a:spcBef>
                <a:spcPts val="100"/>
              </a:spcBef>
              <a:spcAft>
                <a:spcPct val="0"/>
              </a:spcAft>
              <a:buClrTx/>
              <a:buSzTx/>
              <a:tabLst/>
            </a:pPr>
            <a:r>
              <a:rPr lang="en-US" sz="2000" spc="5" dirty="0">
                <a:solidFill>
                  <a:srgbClr val="EF5A28"/>
                </a:solidFill>
                <a:latin typeface="Verdana" panose="020B0604030504040204"/>
              </a:rPr>
              <a:t>Optimize Join Order in Complex Queries</a:t>
            </a:r>
          </a:p>
        </p:txBody>
      </p:sp>
      <p:sp>
        <p:nvSpPr>
          <p:cNvPr id="15" name="object 6">
            <a:extLst>
              <a:ext uri="{FF2B5EF4-FFF2-40B4-BE49-F238E27FC236}">
                <a16:creationId xmlns:a16="http://schemas.microsoft.com/office/drawing/2014/main" id="{73C65E8F-0AF4-89AA-0078-CEBFEFB8702F}"/>
              </a:ext>
            </a:extLst>
          </p:cNvPr>
          <p:cNvSpPr txBox="1"/>
          <p:nvPr/>
        </p:nvSpPr>
        <p:spPr>
          <a:xfrm>
            <a:off x="521653" y="4987326"/>
            <a:ext cx="5496295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fontAlgn="base">
              <a:spcBef>
                <a:spcPts val="100"/>
              </a:spcBef>
              <a:spcAft>
                <a:spcPct val="0"/>
              </a:spcAft>
              <a:buClrTx/>
              <a:buSzTx/>
              <a:tabLst/>
            </a:pPr>
            <a:r>
              <a:rPr lang="en-US" sz="2000" spc="5" dirty="0">
                <a:solidFill>
                  <a:srgbClr val="EF5A28"/>
                </a:solidFill>
                <a:latin typeface="Verdana" panose="020B0604030504040204"/>
              </a:rPr>
              <a:t>Avoid Using Functions on Indexed Columns in WHERE Clause</a:t>
            </a:r>
          </a:p>
        </p:txBody>
      </p:sp>
    </p:spTree>
    <p:extLst>
      <p:ext uri="{BB962C8B-B14F-4D97-AF65-F5344CB8AC3E}">
        <p14:creationId xmlns:p14="http://schemas.microsoft.com/office/powerpoint/2010/main" val="7041936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-26719" y="0"/>
            <a:ext cx="4635246" cy="685800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33400" y="1066800"/>
            <a:ext cx="3694127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pc="225" dirty="0"/>
              <a:t>Query Plan </a:t>
            </a:r>
            <a:r>
              <a:rPr spc="225" dirty="0"/>
              <a:t>O</a:t>
            </a:r>
            <a:r>
              <a:rPr spc="-150" dirty="0"/>
              <a:t>v</a:t>
            </a:r>
            <a:r>
              <a:rPr spc="-50" dirty="0"/>
              <a:t>e</a:t>
            </a:r>
            <a:r>
              <a:rPr spc="-90" dirty="0"/>
              <a:t>rv</a:t>
            </a:r>
            <a:r>
              <a:rPr spc="-55" dirty="0"/>
              <a:t>i</a:t>
            </a:r>
            <a:r>
              <a:rPr spc="-140" dirty="0"/>
              <a:t>e</a:t>
            </a:r>
            <a:r>
              <a:rPr spc="150" dirty="0"/>
              <a:t>w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/>
              <a:t>22</a:t>
            </a:fld>
            <a:endParaRPr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C1B5E77-AE08-9141-CEF1-AA0BC26200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2600" y="1447800"/>
            <a:ext cx="5837931" cy="373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909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 flipH="1">
            <a:off x="5867400" y="1762886"/>
            <a:ext cx="45719" cy="4790314"/>
          </a:xfrm>
          <a:custGeom>
            <a:avLst/>
            <a:gdLst/>
            <a:ahLst/>
            <a:cxnLst/>
            <a:rect l="l" t="t" r="r" b="b"/>
            <a:pathLst>
              <a:path h="4645660">
                <a:moveTo>
                  <a:pt x="0" y="0"/>
                </a:moveTo>
                <a:lnTo>
                  <a:pt x="0" y="4645482"/>
                </a:lnTo>
              </a:path>
            </a:pathLst>
          </a:custGeom>
          <a:ln w="25146">
            <a:solidFill>
              <a:srgbClr val="EF5A2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180053" y="1752600"/>
            <a:ext cx="5196373" cy="93551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2000" spc="30" dirty="0">
                <a:solidFill>
                  <a:srgbClr val="2A9FBB"/>
                </a:solidFill>
                <a:latin typeface="Verdana" panose="020B0604030504040204"/>
              </a:rPr>
              <a:t>Scans the entire table row-by-row. Suitable for small tables or when no relevant indexes exist.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994964" y="519066"/>
            <a:ext cx="9892236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pc="25" dirty="0">
                <a:solidFill>
                  <a:srgbClr val="404040"/>
                </a:solidFill>
              </a:rPr>
              <a:t>Components of a Query Plan</a:t>
            </a:r>
            <a:endParaRPr lang="en-IN" spc="25" dirty="0">
              <a:solidFill>
                <a:srgbClr val="404040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7"/>
          </p:nvPr>
        </p:nvSpPr>
        <p:spPr>
          <a:xfrm>
            <a:off x="8778240" y="5844540"/>
            <a:ext cx="2804160" cy="342900"/>
          </a:xfrm>
        </p:spPr>
        <p:txBody>
          <a:bodyPr/>
          <a:lstStyle/>
          <a:p>
            <a:fld id="{B6F15528-21DE-4FAA-801E-634DDDAF4B2B}" type="slidenum">
              <a:rPr/>
              <a:t>23</a:t>
            </a:fld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1CDCE21-AF2B-CB07-0CD5-FEF63CFC276A}"/>
              </a:ext>
            </a:extLst>
          </p:cNvPr>
          <p:cNvSpPr txBox="1"/>
          <p:nvPr/>
        </p:nvSpPr>
        <p:spPr>
          <a:xfrm>
            <a:off x="6017948" y="5101449"/>
            <a:ext cx="609797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spc="30" dirty="0">
                <a:solidFill>
                  <a:srgbClr val="2A9FBB"/>
                </a:solidFill>
                <a:latin typeface="Verdana" panose="020B0604030504040204"/>
              </a:rPr>
              <a:t>Builds a hash table from the smaller table and probes the hash table using rows from the larger table.</a:t>
            </a:r>
            <a:endParaRPr lang="en-US" altLang="en-US" sz="2000" spc="30" dirty="0">
              <a:solidFill>
                <a:srgbClr val="2A9FBB"/>
              </a:solidFill>
              <a:latin typeface="Verdana" panose="020B0604030504040204"/>
            </a:endParaRPr>
          </a:p>
        </p:txBody>
      </p:sp>
      <p:sp>
        <p:nvSpPr>
          <p:cNvPr id="4" name="object 6">
            <a:extLst>
              <a:ext uri="{FF2B5EF4-FFF2-40B4-BE49-F238E27FC236}">
                <a16:creationId xmlns:a16="http://schemas.microsoft.com/office/drawing/2014/main" id="{735BF912-55D6-F9B9-2FD1-B4497465C9B3}"/>
              </a:ext>
            </a:extLst>
          </p:cNvPr>
          <p:cNvSpPr txBox="1"/>
          <p:nvPr/>
        </p:nvSpPr>
        <p:spPr>
          <a:xfrm>
            <a:off x="521653" y="1858969"/>
            <a:ext cx="5624461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 marL="12700" marR="0" lvl="0" indent="0" fontAlgn="base">
              <a:spcBef>
                <a:spcPts val="100"/>
              </a:spcBef>
              <a:spcAft>
                <a:spcPct val="0"/>
              </a:spcAft>
              <a:buClrTx/>
              <a:buSzTx/>
              <a:tabLst/>
              <a:defRPr sz="2000" spc="5">
                <a:solidFill>
                  <a:srgbClr val="EF5A28"/>
                </a:solidFill>
                <a:latin typeface="Verdana" panose="020B0604030504040204"/>
              </a:defRPr>
            </a:lvl1pPr>
          </a:lstStyle>
          <a:p>
            <a:r>
              <a:rPr lang="en-IN" dirty="0" err="1"/>
              <a:t>Seq</a:t>
            </a:r>
            <a:r>
              <a:rPr lang="en-IN" dirty="0"/>
              <a:t> Scan (Sequential Scan)</a:t>
            </a:r>
            <a:endParaRPr lang="en-US" dirty="0"/>
          </a:p>
        </p:txBody>
      </p:sp>
      <p:sp>
        <p:nvSpPr>
          <p:cNvPr id="10" name="object 6">
            <a:extLst>
              <a:ext uri="{FF2B5EF4-FFF2-40B4-BE49-F238E27FC236}">
                <a16:creationId xmlns:a16="http://schemas.microsoft.com/office/drawing/2014/main" id="{DD17B543-A5DE-28D0-61F6-0E2F3F404570}"/>
              </a:ext>
            </a:extLst>
          </p:cNvPr>
          <p:cNvSpPr txBox="1"/>
          <p:nvPr/>
        </p:nvSpPr>
        <p:spPr>
          <a:xfrm>
            <a:off x="6146114" y="3827699"/>
            <a:ext cx="5196373" cy="93551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2000" spc="30" dirty="0">
                <a:solidFill>
                  <a:srgbClr val="2A9FBB"/>
                </a:solidFill>
                <a:latin typeface="Verdana" panose="020B0604030504040204"/>
              </a:rPr>
              <a:t>Identify Iterates over rows from one table and for each row, executes a nested query on the second table.</a:t>
            </a:r>
          </a:p>
        </p:txBody>
      </p:sp>
      <p:sp>
        <p:nvSpPr>
          <p:cNvPr id="11" name="object 6">
            <a:extLst>
              <a:ext uri="{FF2B5EF4-FFF2-40B4-BE49-F238E27FC236}">
                <a16:creationId xmlns:a16="http://schemas.microsoft.com/office/drawing/2014/main" id="{CB5A8C70-AE13-7087-1200-DD75AFE7FACA}"/>
              </a:ext>
            </a:extLst>
          </p:cNvPr>
          <p:cNvSpPr txBox="1"/>
          <p:nvPr/>
        </p:nvSpPr>
        <p:spPr>
          <a:xfrm>
            <a:off x="521653" y="3810000"/>
            <a:ext cx="5196373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fontAlgn="base">
              <a:spcBef>
                <a:spcPts val="100"/>
              </a:spcBef>
              <a:spcAft>
                <a:spcPct val="0"/>
              </a:spcAft>
              <a:buClrTx/>
              <a:buSzTx/>
              <a:tabLst/>
            </a:pPr>
            <a:r>
              <a:rPr lang="en-IN" sz="2000" spc="5" dirty="0">
                <a:solidFill>
                  <a:srgbClr val="EF5A28"/>
                </a:solidFill>
                <a:latin typeface="Verdana" panose="020B0604030504040204"/>
              </a:rPr>
              <a:t>Nested Loop Join</a:t>
            </a:r>
            <a:endParaRPr lang="en-US" sz="2000" spc="5" dirty="0">
              <a:solidFill>
                <a:srgbClr val="EF5A28"/>
              </a:solidFill>
              <a:latin typeface="Verdana" panose="020B0604030504040204"/>
            </a:endParaRPr>
          </a:p>
        </p:txBody>
      </p:sp>
      <p:sp>
        <p:nvSpPr>
          <p:cNvPr id="12" name="object 6">
            <a:extLst>
              <a:ext uri="{FF2B5EF4-FFF2-40B4-BE49-F238E27FC236}">
                <a16:creationId xmlns:a16="http://schemas.microsoft.com/office/drawing/2014/main" id="{BB7B38A4-EB73-8D45-CDFE-A8CC9E536284}"/>
              </a:ext>
            </a:extLst>
          </p:cNvPr>
          <p:cNvSpPr txBox="1"/>
          <p:nvPr/>
        </p:nvSpPr>
        <p:spPr>
          <a:xfrm>
            <a:off x="6146114" y="2953664"/>
            <a:ext cx="6045882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spc="30" dirty="0">
                <a:solidFill>
                  <a:srgbClr val="2A9FBB"/>
                </a:solidFill>
                <a:latin typeface="Verdana" panose="020B0604030504040204"/>
              </a:rPr>
              <a:t>Uses an index to quickly locate rows. Efficient for selective queries where an index exists.</a:t>
            </a:r>
          </a:p>
        </p:txBody>
      </p:sp>
      <p:sp>
        <p:nvSpPr>
          <p:cNvPr id="14" name="object 6">
            <a:extLst>
              <a:ext uri="{FF2B5EF4-FFF2-40B4-BE49-F238E27FC236}">
                <a16:creationId xmlns:a16="http://schemas.microsoft.com/office/drawing/2014/main" id="{FED30E49-3464-CF24-ADD1-7688F8B8354C}"/>
              </a:ext>
            </a:extLst>
          </p:cNvPr>
          <p:cNvSpPr txBox="1"/>
          <p:nvPr/>
        </p:nvSpPr>
        <p:spPr>
          <a:xfrm>
            <a:off x="521653" y="2946053"/>
            <a:ext cx="5196373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fontAlgn="base">
              <a:spcBef>
                <a:spcPts val="100"/>
              </a:spcBef>
              <a:spcAft>
                <a:spcPct val="0"/>
              </a:spcAft>
              <a:buClrTx/>
              <a:buSzTx/>
              <a:tabLst/>
            </a:pPr>
            <a:r>
              <a:rPr lang="en-IN" sz="2000" spc="5" dirty="0">
                <a:solidFill>
                  <a:srgbClr val="EF5A28"/>
                </a:solidFill>
                <a:latin typeface="Verdana" panose="020B0604030504040204"/>
              </a:rPr>
              <a:t>Index Scan</a:t>
            </a:r>
            <a:endParaRPr lang="en-US" sz="2000" spc="5" dirty="0">
              <a:solidFill>
                <a:srgbClr val="EF5A28"/>
              </a:solidFill>
              <a:latin typeface="Verdana" panose="020B0604030504040204"/>
            </a:endParaRPr>
          </a:p>
        </p:txBody>
      </p:sp>
      <p:sp>
        <p:nvSpPr>
          <p:cNvPr id="15" name="object 6">
            <a:extLst>
              <a:ext uri="{FF2B5EF4-FFF2-40B4-BE49-F238E27FC236}">
                <a16:creationId xmlns:a16="http://schemas.microsoft.com/office/drawing/2014/main" id="{73C65E8F-0AF4-89AA-0078-CEBFEFB8702F}"/>
              </a:ext>
            </a:extLst>
          </p:cNvPr>
          <p:cNvSpPr txBox="1"/>
          <p:nvPr/>
        </p:nvSpPr>
        <p:spPr>
          <a:xfrm>
            <a:off x="521653" y="4953000"/>
            <a:ext cx="5496295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fontAlgn="base">
              <a:spcBef>
                <a:spcPts val="100"/>
              </a:spcBef>
              <a:spcAft>
                <a:spcPct val="0"/>
              </a:spcAft>
              <a:buClrTx/>
              <a:buSzTx/>
              <a:tabLst/>
            </a:pPr>
            <a:r>
              <a:rPr lang="en-IN" sz="2000" spc="5" dirty="0">
                <a:solidFill>
                  <a:srgbClr val="EF5A28"/>
                </a:solidFill>
                <a:latin typeface="Verdana" panose="020B0604030504040204"/>
              </a:rPr>
              <a:t>Hash Join</a:t>
            </a:r>
            <a:endParaRPr lang="en-US" sz="2000" spc="5" dirty="0">
              <a:solidFill>
                <a:srgbClr val="EF5A28"/>
              </a:solidFill>
              <a:latin typeface="Verdana" panose="020B0604030504040204"/>
            </a:endParaRPr>
          </a:p>
        </p:txBody>
      </p:sp>
    </p:spTree>
    <p:extLst>
      <p:ext uri="{BB962C8B-B14F-4D97-AF65-F5344CB8AC3E}">
        <p14:creationId xmlns:p14="http://schemas.microsoft.com/office/powerpoint/2010/main" val="38321940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 flipH="1">
            <a:off x="5867400" y="1762886"/>
            <a:ext cx="45719" cy="4790314"/>
          </a:xfrm>
          <a:custGeom>
            <a:avLst/>
            <a:gdLst/>
            <a:ahLst/>
            <a:cxnLst/>
            <a:rect l="l" t="t" r="r" b="b"/>
            <a:pathLst>
              <a:path h="4645660">
                <a:moveTo>
                  <a:pt x="0" y="0"/>
                </a:moveTo>
                <a:lnTo>
                  <a:pt x="0" y="4645482"/>
                </a:lnTo>
              </a:path>
            </a:pathLst>
          </a:custGeom>
          <a:ln w="25146">
            <a:solidFill>
              <a:srgbClr val="EF5A2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180053" y="1752600"/>
            <a:ext cx="5196373" cy="93551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2000" spc="30" dirty="0">
                <a:solidFill>
                  <a:srgbClr val="2A9FBB"/>
                </a:solidFill>
                <a:latin typeface="Verdana" panose="020B0604030504040204"/>
              </a:rPr>
              <a:t>Joins two sorted datasets by merging them. Efficient for large sorted datasets.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994964" y="519066"/>
            <a:ext cx="9892236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pc="25" dirty="0">
                <a:solidFill>
                  <a:srgbClr val="404040"/>
                </a:solidFill>
              </a:rPr>
              <a:t>Components of a Query Plan</a:t>
            </a:r>
            <a:endParaRPr lang="en-IN" spc="25" dirty="0">
              <a:solidFill>
                <a:srgbClr val="404040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7"/>
          </p:nvPr>
        </p:nvSpPr>
        <p:spPr>
          <a:xfrm>
            <a:off x="8778240" y="6362700"/>
            <a:ext cx="2804160" cy="342900"/>
          </a:xfrm>
        </p:spPr>
        <p:txBody>
          <a:bodyPr/>
          <a:lstStyle/>
          <a:p>
            <a:fld id="{B6F15528-21DE-4FAA-801E-634DDDAF4B2B}" type="slidenum">
              <a:rPr/>
              <a:t>24</a:t>
            </a:fld>
            <a:endParaRPr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1CDCE21-AF2B-CB07-0CD5-FEF63CFC276A}"/>
              </a:ext>
            </a:extLst>
          </p:cNvPr>
          <p:cNvSpPr txBox="1"/>
          <p:nvPr/>
        </p:nvSpPr>
        <p:spPr>
          <a:xfrm>
            <a:off x="6017948" y="4765127"/>
            <a:ext cx="609797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spc="30" dirty="0">
                <a:solidFill>
                  <a:srgbClr val="2A9FBB"/>
                </a:solidFill>
                <a:latin typeface="Verdana" panose="020B0604030504040204"/>
              </a:rPr>
              <a:t>Applies conditions to filter rows.</a:t>
            </a:r>
            <a:endParaRPr lang="en-US" altLang="en-US" sz="2000" spc="30" dirty="0">
              <a:solidFill>
                <a:srgbClr val="2A9FBB"/>
              </a:solidFill>
              <a:latin typeface="Verdana" panose="020B0604030504040204"/>
            </a:endParaRPr>
          </a:p>
        </p:txBody>
      </p:sp>
      <p:sp>
        <p:nvSpPr>
          <p:cNvPr id="4" name="object 6">
            <a:extLst>
              <a:ext uri="{FF2B5EF4-FFF2-40B4-BE49-F238E27FC236}">
                <a16:creationId xmlns:a16="http://schemas.microsoft.com/office/drawing/2014/main" id="{735BF912-55D6-F9B9-2FD1-B4497465C9B3}"/>
              </a:ext>
            </a:extLst>
          </p:cNvPr>
          <p:cNvSpPr txBox="1"/>
          <p:nvPr/>
        </p:nvSpPr>
        <p:spPr>
          <a:xfrm>
            <a:off x="521653" y="1858969"/>
            <a:ext cx="5624461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 marL="12700" marR="0" lvl="0" indent="0" fontAlgn="base">
              <a:spcBef>
                <a:spcPts val="100"/>
              </a:spcBef>
              <a:spcAft>
                <a:spcPct val="0"/>
              </a:spcAft>
              <a:buClrTx/>
              <a:buSzTx/>
              <a:tabLst/>
              <a:defRPr sz="2000" spc="5">
                <a:solidFill>
                  <a:srgbClr val="EF5A28"/>
                </a:solidFill>
                <a:latin typeface="Verdana" panose="020B0604030504040204"/>
              </a:defRPr>
            </a:lvl1pPr>
          </a:lstStyle>
          <a:p>
            <a:r>
              <a:rPr lang="en-IN" dirty="0"/>
              <a:t>Merge Join</a:t>
            </a:r>
            <a:endParaRPr lang="en-US" dirty="0"/>
          </a:p>
        </p:txBody>
      </p:sp>
      <p:sp>
        <p:nvSpPr>
          <p:cNvPr id="10" name="object 6">
            <a:extLst>
              <a:ext uri="{FF2B5EF4-FFF2-40B4-BE49-F238E27FC236}">
                <a16:creationId xmlns:a16="http://schemas.microsoft.com/office/drawing/2014/main" id="{DD17B543-A5DE-28D0-61F6-0E2F3F404570}"/>
              </a:ext>
            </a:extLst>
          </p:cNvPr>
          <p:cNvSpPr txBox="1"/>
          <p:nvPr/>
        </p:nvSpPr>
        <p:spPr>
          <a:xfrm>
            <a:off x="6146114" y="3827699"/>
            <a:ext cx="5969812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2000" spc="30" dirty="0">
                <a:solidFill>
                  <a:srgbClr val="2A9FBB"/>
                </a:solidFill>
                <a:latin typeface="Verdana" panose="020B0604030504040204"/>
              </a:rPr>
              <a:t>Orders the result set based on specified columns.</a:t>
            </a:r>
          </a:p>
        </p:txBody>
      </p:sp>
      <p:sp>
        <p:nvSpPr>
          <p:cNvPr id="11" name="object 6">
            <a:extLst>
              <a:ext uri="{FF2B5EF4-FFF2-40B4-BE49-F238E27FC236}">
                <a16:creationId xmlns:a16="http://schemas.microsoft.com/office/drawing/2014/main" id="{CB5A8C70-AE13-7087-1200-DD75AFE7FACA}"/>
              </a:ext>
            </a:extLst>
          </p:cNvPr>
          <p:cNvSpPr txBox="1"/>
          <p:nvPr/>
        </p:nvSpPr>
        <p:spPr>
          <a:xfrm>
            <a:off x="521653" y="3810000"/>
            <a:ext cx="5196373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fontAlgn="base">
              <a:spcBef>
                <a:spcPts val="100"/>
              </a:spcBef>
              <a:spcAft>
                <a:spcPct val="0"/>
              </a:spcAft>
              <a:buClrTx/>
              <a:buSzTx/>
              <a:tabLst/>
            </a:pPr>
            <a:r>
              <a:rPr lang="en-IN" sz="2000" spc="5" dirty="0">
                <a:solidFill>
                  <a:srgbClr val="EF5A28"/>
                </a:solidFill>
                <a:latin typeface="Verdana" panose="020B0604030504040204"/>
              </a:rPr>
              <a:t>Sort</a:t>
            </a:r>
            <a:endParaRPr lang="en-US" sz="2000" spc="5" dirty="0">
              <a:solidFill>
                <a:srgbClr val="EF5A28"/>
              </a:solidFill>
              <a:latin typeface="Verdana" panose="020B0604030504040204"/>
            </a:endParaRPr>
          </a:p>
        </p:txBody>
      </p:sp>
      <p:sp>
        <p:nvSpPr>
          <p:cNvPr id="12" name="object 6">
            <a:extLst>
              <a:ext uri="{FF2B5EF4-FFF2-40B4-BE49-F238E27FC236}">
                <a16:creationId xmlns:a16="http://schemas.microsoft.com/office/drawing/2014/main" id="{BB7B38A4-EB73-8D45-CDFE-A8CC9E536284}"/>
              </a:ext>
            </a:extLst>
          </p:cNvPr>
          <p:cNvSpPr txBox="1"/>
          <p:nvPr/>
        </p:nvSpPr>
        <p:spPr>
          <a:xfrm>
            <a:off x="6096000" y="2946053"/>
            <a:ext cx="6045882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spc="30" dirty="0">
                <a:solidFill>
                  <a:srgbClr val="2A9FBB"/>
                </a:solidFill>
                <a:latin typeface="Verdana" panose="020B0604030504040204"/>
              </a:rPr>
              <a:t>Computes summary statistics like SUM, AVG, COUNT.</a:t>
            </a:r>
          </a:p>
        </p:txBody>
      </p:sp>
      <p:sp>
        <p:nvSpPr>
          <p:cNvPr id="14" name="object 6">
            <a:extLst>
              <a:ext uri="{FF2B5EF4-FFF2-40B4-BE49-F238E27FC236}">
                <a16:creationId xmlns:a16="http://schemas.microsoft.com/office/drawing/2014/main" id="{FED30E49-3464-CF24-ADD1-7688F8B8354C}"/>
              </a:ext>
            </a:extLst>
          </p:cNvPr>
          <p:cNvSpPr txBox="1"/>
          <p:nvPr/>
        </p:nvSpPr>
        <p:spPr>
          <a:xfrm>
            <a:off x="521653" y="2946053"/>
            <a:ext cx="5196373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fontAlgn="base">
              <a:spcBef>
                <a:spcPts val="100"/>
              </a:spcBef>
              <a:spcAft>
                <a:spcPct val="0"/>
              </a:spcAft>
              <a:buClrTx/>
              <a:buSzTx/>
              <a:tabLst/>
            </a:pPr>
            <a:r>
              <a:rPr lang="en-IN" sz="2000" spc="5" dirty="0">
                <a:solidFill>
                  <a:srgbClr val="EF5A28"/>
                </a:solidFill>
                <a:latin typeface="Verdana" panose="020B0604030504040204"/>
              </a:rPr>
              <a:t>Aggregate</a:t>
            </a:r>
            <a:endParaRPr lang="en-US" sz="2000" spc="5" dirty="0">
              <a:solidFill>
                <a:srgbClr val="EF5A28"/>
              </a:solidFill>
              <a:latin typeface="Verdana" panose="020B0604030504040204"/>
            </a:endParaRPr>
          </a:p>
        </p:txBody>
      </p:sp>
      <p:sp>
        <p:nvSpPr>
          <p:cNvPr id="15" name="object 6">
            <a:extLst>
              <a:ext uri="{FF2B5EF4-FFF2-40B4-BE49-F238E27FC236}">
                <a16:creationId xmlns:a16="http://schemas.microsoft.com/office/drawing/2014/main" id="{73C65E8F-0AF4-89AA-0078-CEBFEFB8702F}"/>
              </a:ext>
            </a:extLst>
          </p:cNvPr>
          <p:cNvSpPr txBox="1"/>
          <p:nvPr/>
        </p:nvSpPr>
        <p:spPr>
          <a:xfrm>
            <a:off x="521653" y="4765127"/>
            <a:ext cx="5496295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fontAlgn="base">
              <a:spcBef>
                <a:spcPts val="100"/>
              </a:spcBef>
              <a:spcAft>
                <a:spcPct val="0"/>
              </a:spcAft>
              <a:buClrTx/>
              <a:buSzTx/>
              <a:tabLst/>
            </a:pPr>
            <a:r>
              <a:rPr lang="en-IN" sz="2000" spc="5" dirty="0">
                <a:solidFill>
                  <a:srgbClr val="EF5A28"/>
                </a:solidFill>
                <a:latin typeface="Verdana" panose="020B0604030504040204"/>
              </a:rPr>
              <a:t>Filter</a:t>
            </a:r>
            <a:endParaRPr lang="en-US" sz="2000" spc="5" dirty="0">
              <a:solidFill>
                <a:srgbClr val="EF5A28"/>
              </a:solidFill>
              <a:latin typeface="Verdana" panose="020B0604030504040204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F05A792-5AC2-4676-F2F0-EB0F952C1CC5}"/>
              </a:ext>
            </a:extLst>
          </p:cNvPr>
          <p:cNvSpPr txBox="1"/>
          <p:nvPr/>
        </p:nvSpPr>
        <p:spPr>
          <a:xfrm>
            <a:off x="5953495" y="5695890"/>
            <a:ext cx="609797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spc="30" dirty="0">
                <a:solidFill>
                  <a:srgbClr val="2A9FBB"/>
                </a:solidFill>
                <a:latin typeface="Verdana" panose="020B0604030504040204"/>
              </a:rPr>
              <a:t>Restricts the number of rows returned.</a:t>
            </a:r>
            <a:endParaRPr lang="en-US" altLang="en-US" sz="2000" spc="30" dirty="0">
              <a:solidFill>
                <a:srgbClr val="2A9FBB"/>
              </a:solidFill>
              <a:latin typeface="Verdana" panose="020B0604030504040204"/>
            </a:endParaRPr>
          </a:p>
        </p:txBody>
      </p:sp>
      <p:sp>
        <p:nvSpPr>
          <p:cNvPr id="5" name="object 6">
            <a:extLst>
              <a:ext uri="{FF2B5EF4-FFF2-40B4-BE49-F238E27FC236}">
                <a16:creationId xmlns:a16="http://schemas.microsoft.com/office/drawing/2014/main" id="{7912C35A-F163-4FFB-DFE1-50CB5981AED4}"/>
              </a:ext>
            </a:extLst>
          </p:cNvPr>
          <p:cNvSpPr txBox="1"/>
          <p:nvPr/>
        </p:nvSpPr>
        <p:spPr>
          <a:xfrm>
            <a:off x="457200" y="5695890"/>
            <a:ext cx="5496295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fontAlgn="base">
              <a:spcBef>
                <a:spcPts val="100"/>
              </a:spcBef>
              <a:spcAft>
                <a:spcPct val="0"/>
              </a:spcAft>
              <a:buClrTx/>
              <a:buSzTx/>
              <a:tabLst/>
            </a:pPr>
            <a:r>
              <a:rPr lang="en-IN" sz="2000" spc="5" dirty="0">
                <a:solidFill>
                  <a:srgbClr val="EF5A28"/>
                </a:solidFill>
                <a:latin typeface="Verdana" panose="020B0604030504040204"/>
              </a:rPr>
              <a:t>Limit</a:t>
            </a:r>
            <a:endParaRPr lang="en-US" sz="2000" spc="5" dirty="0">
              <a:solidFill>
                <a:srgbClr val="EF5A28"/>
              </a:solidFill>
              <a:latin typeface="Verdana" panose="020B0604030504040204"/>
            </a:endParaRPr>
          </a:p>
        </p:txBody>
      </p:sp>
    </p:spTree>
    <p:extLst>
      <p:ext uri="{BB962C8B-B14F-4D97-AF65-F5344CB8AC3E}">
        <p14:creationId xmlns:p14="http://schemas.microsoft.com/office/powerpoint/2010/main" val="292786249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 flipH="1">
            <a:off x="5867400" y="1762886"/>
            <a:ext cx="45719" cy="4790314"/>
          </a:xfrm>
          <a:custGeom>
            <a:avLst/>
            <a:gdLst/>
            <a:ahLst/>
            <a:cxnLst/>
            <a:rect l="l" t="t" r="r" b="b"/>
            <a:pathLst>
              <a:path h="4645660">
                <a:moveTo>
                  <a:pt x="0" y="0"/>
                </a:moveTo>
                <a:lnTo>
                  <a:pt x="0" y="4645482"/>
                </a:lnTo>
              </a:path>
            </a:pathLst>
          </a:custGeom>
          <a:ln w="25146">
            <a:solidFill>
              <a:srgbClr val="EF5A2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994964" y="519066"/>
            <a:ext cx="9892236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pc="25" dirty="0">
                <a:solidFill>
                  <a:srgbClr val="404040"/>
                </a:solidFill>
              </a:rPr>
              <a:t>Identifying Performance Issues in SQL Queries</a:t>
            </a:r>
            <a:endParaRPr lang="en-IN" spc="25" dirty="0">
              <a:solidFill>
                <a:srgbClr val="404040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7"/>
          </p:nvPr>
        </p:nvSpPr>
        <p:spPr>
          <a:xfrm>
            <a:off x="8778240" y="6362700"/>
            <a:ext cx="2804160" cy="342900"/>
          </a:xfrm>
        </p:spPr>
        <p:txBody>
          <a:bodyPr/>
          <a:lstStyle/>
          <a:p>
            <a:fld id="{B6F15528-21DE-4FAA-801E-634DDDAF4B2B}" type="slidenum">
              <a:rPr/>
              <a:t>25</a:t>
            </a:fld>
            <a:endParaRPr dirty="0"/>
          </a:p>
        </p:txBody>
      </p:sp>
      <p:sp>
        <p:nvSpPr>
          <p:cNvPr id="12" name="object 6">
            <a:extLst>
              <a:ext uri="{FF2B5EF4-FFF2-40B4-BE49-F238E27FC236}">
                <a16:creationId xmlns:a16="http://schemas.microsoft.com/office/drawing/2014/main" id="{BB7B38A4-EB73-8D45-CDFE-A8CC9E536284}"/>
              </a:ext>
            </a:extLst>
          </p:cNvPr>
          <p:cNvSpPr txBox="1"/>
          <p:nvPr/>
        </p:nvSpPr>
        <p:spPr>
          <a:xfrm>
            <a:off x="6096000" y="2946053"/>
            <a:ext cx="6045882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spc="30" dirty="0">
                <a:solidFill>
                  <a:srgbClr val="2A9FBB"/>
                </a:solidFill>
                <a:latin typeface="Verdana" panose="020B0604030504040204"/>
              </a:rPr>
              <a:t>Use the EXPLAIN command to display the query plan.</a:t>
            </a:r>
          </a:p>
        </p:txBody>
      </p:sp>
      <p:sp>
        <p:nvSpPr>
          <p:cNvPr id="14" name="object 6">
            <a:extLst>
              <a:ext uri="{FF2B5EF4-FFF2-40B4-BE49-F238E27FC236}">
                <a16:creationId xmlns:a16="http://schemas.microsoft.com/office/drawing/2014/main" id="{FED30E49-3464-CF24-ADD1-7688F8B8354C}"/>
              </a:ext>
            </a:extLst>
          </p:cNvPr>
          <p:cNvSpPr txBox="1"/>
          <p:nvPr/>
        </p:nvSpPr>
        <p:spPr>
          <a:xfrm>
            <a:off x="521653" y="2946053"/>
            <a:ext cx="5196373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fontAlgn="base">
              <a:spcBef>
                <a:spcPts val="100"/>
              </a:spcBef>
              <a:spcAft>
                <a:spcPct val="0"/>
              </a:spcAft>
              <a:buClrTx/>
              <a:buSzTx/>
              <a:tabLst/>
            </a:pPr>
            <a:r>
              <a:rPr lang="en-IN" sz="2000" spc="5" dirty="0">
                <a:solidFill>
                  <a:srgbClr val="EF5A28"/>
                </a:solidFill>
                <a:latin typeface="Verdana" panose="020B0604030504040204"/>
              </a:rPr>
              <a:t>EXPLAIN Command</a:t>
            </a:r>
            <a:endParaRPr lang="en-US" sz="2000" spc="5" dirty="0">
              <a:solidFill>
                <a:srgbClr val="EF5A28"/>
              </a:solidFill>
              <a:latin typeface="Verdana" panose="020B0604030504040204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F05A792-5AC2-4676-F2F0-EB0F952C1CC5}"/>
              </a:ext>
            </a:extLst>
          </p:cNvPr>
          <p:cNvSpPr txBox="1"/>
          <p:nvPr/>
        </p:nvSpPr>
        <p:spPr>
          <a:xfrm>
            <a:off x="5953495" y="4095690"/>
            <a:ext cx="609797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spc="30" dirty="0">
                <a:solidFill>
                  <a:srgbClr val="2A9FBB"/>
                </a:solidFill>
                <a:latin typeface="Verdana" panose="020B0604030504040204"/>
              </a:rPr>
              <a:t>Provides actual execution statistics along with the query plan. Useful for identifying performance bottlenecks.</a:t>
            </a:r>
            <a:endParaRPr lang="en-US" altLang="en-US" sz="2000" spc="30" dirty="0">
              <a:solidFill>
                <a:srgbClr val="2A9FBB"/>
              </a:solidFill>
              <a:latin typeface="Verdana" panose="020B0604030504040204"/>
            </a:endParaRPr>
          </a:p>
        </p:txBody>
      </p:sp>
      <p:sp>
        <p:nvSpPr>
          <p:cNvPr id="5" name="object 6">
            <a:extLst>
              <a:ext uri="{FF2B5EF4-FFF2-40B4-BE49-F238E27FC236}">
                <a16:creationId xmlns:a16="http://schemas.microsoft.com/office/drawing/2014/main" id="{7912C35A-F163-4FFB-DFE1-50CB5981AED4}"/>
              </a:ext>
            </a:extLst>
          </p:cNvPr>
          <p:cNvSpPr txBox="1"/>
          <p:nvPr/>
        </p:nvSpPr>
        <p:spPr>
          <a:xfrm>
            <a:off x="476992" y="4077087"/>
            <a:ext cx="5496295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fontAlgn="base">
              <a:spcBef>
                <a:spcPts val="100"/>
              </a:spcBef>
              <a:spcAft>
                <a:spcPct val="0"/>
              </a:spcAft>
              <a:buClrTx/>
              <a:buSzTx/>
              <a:tabLst/>
            </a:pPr>
            <a:r>
              <a:rPr lang="en-IN" sz="2000" spc="5" dirty="0">
                <a:solidFill>
                  <a:srgbClr val="EF5A28"/>
                </a:solidFill>
                <a:latin typeface="Verdana" panose="020B0604030504040204"/>
              </a:rPr>
              <a:t>EXPLAIN ANALYZE</a:t>
            </a:r>
            <a:endParaRPr lang="en-US" sz="2000" spc="5" dirty="0">
              <a:solidFill>
                <a:srgbClr val="EF5A28"/>
              </a:solidFill>
              <a:latin typeface="Verdana" panose="020B0604030504040204"/>
            </a:endParaRPr>
          </a:p>
        </p:txBody>
      </p:sp>
    </p:spTree>
    <p:extLst>
      <p:ext uri="{BB962C8B-B14F-4D97-AF65-F5344CB8AC3E}">
        <p14:creationId xmlns:p14="http://schemas.microsoft.com/office/powerpoint/2010/main" val="34468714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 flipH="1">
            <a:off x="5867400" y="1762886"/>
            <a:ext cx="45719" cy="4790314"/>
          </a:xfrm>
          <a:custGeom>
            <a:avLst/>
            <a:gdLst/>
            <a:ahLst/>
            <a:cxnLst/>
            <a:rect l="l" t="t" r="r" b="b"/>
            <a:pathLst>
              <a:path h="4645660">
                <a:moveTo>
                  <a:pt x="0" y="0"/>
                </a:moveTo>
                <a:lnTo>
                  <a:pt x="0" y="4645482"/>
                </a:lnTo>
              </a:path>
            </a:pathLst>
          </a:custGeom>
          <a:ln w="25146">
            <a:solidFill>
              <a:srgbClr val="EF5A2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180053" y="1752600"/>
            <a:ext cx="5196373" cy="93551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2000" spc="30" dirty="0">
                <a:solidFill>
                  <a:srgbClr val="2A9FBB"/>
                </a:solidFill>
                <a:latin typeface="Verdana" panose="020B0604030504040204"/>
              </a:rPr>
              <a:t>When the database scans the entire table because no appropriate index is available.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994964" y="519066"/>
            <a:ext cx="9892236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spcBef>
                <a:spcPts val="100"/>
              </a:spcBef>
            </a:pPr>
            <a:r>
              <a:rPr lang="en-US" spc="25" dirty="0">
                <a:solidFill>
                  <a:srgbClr val="404040"/>
                </a:solidFill>
              </a:rPr>
              <a:t>Common Performance Issues</a:t>
            </a:r>
            <a:br>
              <a:rPr lang="en-IN" spc="25" dirty="0">
                <a:solidFill>
                  <a:srgbClr val="404040"/>
                </a:solidFill>
              </a:rPr>
            </a:br>
            <a:endParaRPr lang="en-IN" spc="25" dirty="0">
              <a:solidFill>
                <a:srgbClr val="404040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7"/>
          </p:nvPr>
        </p:nvSpPr>
        <p:spPr>
          <a:xfrm>
            <a:off x="8778240" y="6362700"/>
            <a:ext cx="2804160" cy="342900"/>
          </a:xfrm>
        </p:spPr>
        <p:txBody>
          <a:bodyPr/>
          <a:lstStyle/>
          <a:p>
            <a:fld id="{B6F15528-21DE-4FAA-801E-634DDDAF4B2B}" type="slidenum">
              <a:rPr/>
              <a:t>26</a:t>
            </a:fld>
            <a:endParaRPr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1CDCE21-AF2B-CB07-0CD5-FEF63CFC276A}"/>
              </a:ext>
            </a:extLst>
          </p:cNvPr>
          <p:cNvSpPr txBox="1"/>
          <p:nvPr/>
        </p:nvSpPr>
        <p:spPr>
          <a:xfrm>
            <a:off x="6017948" y="4765127"/>
            <a:ext cx="609797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spc="30" dirty="0">
                <a:solidFill>
                  <a:srgbClr val="2A9FBB"/>
                </a:solidFill>
                <a:latin typeface="Verdana" panose="020B0604030504040204"/>
              </a:rPr>
              <a:t>Lack of indexes on columns used in WHERE, JOIN, and ORDER BY clauses.</a:t>
            </a:r>
            <a:endParaRPr lang="en-US" altLang="en-US" sz="2000" spc="30" dirty="0">
              <a:solidFill>
                <a:srgbClr val="2A9FBB"/>
              </a:solidFill>
              <a:latin typeface="Verdana" panose="020B0604030504040204"/>
            </a:endParaRPr>
          </a:p>
        </p:txBody>
      </p:sp>
      <p:sp>
        <p:nvSpPr>
          <p:cNvPr id="4" name="object 6">
            <a:extLst>
              <a:ext uri="{FF2B5EF4-FFF2-40B4-BE49-F238E27FC236}">
                <a16:creationId xmlns:a16="http://schemas.microsoft.com/office/drawing/2014/main" id="{735BF912-55D6-F9B9-2FD1-B4497465C9B3}"/>
              </a:ext>
            </a:extLst>
          </p:cNvPr>
          <p:cNvSpPr txBox="1"/>
          <p:nvPr/>
        </p:nvSpPr>
        <p:spPr>
          <a:xfrm>
            <a:off x="521653" y="1858969"/>
            <a:ext cx="5624461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 marL="12700" marR="0" lvl="0" indent="0" fontAlgn="base">
              <a:spcBef>
                <a:spcPts val="100"/>
              </a:spcBef>
              <a:spcAft>
                <a:spcPct val="0"/>
              </a:spcAft>
              <a:buClrTx/>
              <a:buSzTx/>
              <a:tabLst/>
              <a:defRPr sz="2000" spc="5">
                <a:solidFill>
                  <a:srgbClr val="EF5A28"/>
                </a:solidFill>
                <a:latin typeface="Verdana" panose="020B0604030504040204"/>
              </a:defRPr>
            </a:lvl1pPr>
          </a:lstStyle>
          <a:p>
            <a:r>
              <a:rPr lang="en-IN" dirty="0"/>
              <a:t>Full Table Scans</a:t>
            </a:r>
            <a:endParaRPr lang="en-US" dirty="0"/>
          </a:p>
        </p:txBody>
      </p:sp>
      <p:sp>
        <p:nvSpPr>
          <p:cNvPr id="10" name="object 6">
            <a:extLst>
              <a:ext uri="{FF2B5EF4-FFF2-40B4-BE49-F238E27FC236}">
                <a16:creationId xmlns:a16="http://schemas.microsoft.com/office/drawing/2014/main" id="{DD17B543-A5DE-28D0-61F6-0E2F3F404570}"/>
              </a:ext>
            </a:extLst>
          </p:cNvPr>
          <p:cNvSpPr txBox="1"/>
          <p:nvPr/>
        </p:nvSpPr>
        <p:spPr>
          <a:xfrm>
            <a:off x="6146114" y="3827699"/>
            <a:ext cx="5969812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2000" spc="30" dirty="0">
                <a:solidFill>
                  <a:srgbClr val="2A9FBB"/>
                </a:solidFill>
                <a:latin typeface="Verdana" panose="020B0604030504040204"/>
              </a:rPr>
              <a:t>Inefficient join order can cause excessive data processing.</a:t>
            </a:r>
          </a:p>
        </p:txBody>
      </p:sp>
      <p:sp>
        <p:nvSpPr>
          <p:cNvPr id="11" name="object 6">
            <a:extLst>
              <a:ext uri="{FF2B5EF4-FFF2-40B4-BE49-F238E27FC236}">
                <a16:creationId xmlns:a16="http://schemas.microsoft.com/office/drawing/2014/main" id="{CB5A8C70-AE13-7087-1200-DD75AFE7FACA}"/>
              </a:ext>
            </a:extLst>
          </p:cNvPr>
          <p:cNvSpPr txBox="1"/>
          <p:nvPr/>
        </p:nvSpPr>
        <p:spPr>
          <a:xfrm>
            <a:off x="521653" y="3810000"/>
            <a:ext cx="5196373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fontAlgn="base">
              <a:spcBef>
                <a:spcPts val="100"/>
              </a:spcBef>
              <a:spcAft>
                <a:spcPct val="0"/>
              </a:spcAft>
              <a:buClrTx/>
              <a:buSzTx/>
              <a:tabLst/>
            </a:pPr>
            <a:r>
              <a:rPr lang="en-IN" sz="2000" spc="5" dirty="0">
                <a:solidFill>
                  <a:srgbClr val="EF5A28"/>
                </a:solidFill>
                <a:latin typeface="Verdana" panose="020B0604030504040204"/>
              </a:rPr>
              <a:t>Join Order</a:t>
            </a:r>
            <a:endParaRPr lang="en-US" sz="2000" spc="5" dirty="0">
              <a:solidFill>
                <a:srgbClr val="EF5A28"/>
              </a:solidFill>
              <a:latin typeface="Verdana" panose="020B0604030504040204"/>
            </a:endParaRPr>
          </a:p>
        </p:txBody>
      </p:sp>
      <p:sp>
        <p:nvSpPr>
          <p:cNvPr id="12" name="object 6">
            <a:extLst>
              <a:ext uri="{FF2B5EF4-FFF2-40B4-BE49-F238E27FC236}">
                <a16:creationId xmlns:a16="http://schemas.microsoft.com/office/drawing/2014/main" id="{BB7B38A4-EB73-8D45-CDFE-A8CC9E536284}"/>
              </a:ext>
            </a:extLst>
          </p:cNvPr>
          <p:cNvSpPr txBox="1"/>
          <p:nvPr/>
        </p:nvSpPr>
        <p:spPr>
          <a:xfrm>
            <a:off x="6096000" y="2946053"/>
            <a:ext cx="6045882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spc="30" dirty="0">
                <a:solidFill>
                  <a:srgbClr val="2A9FBB"/>
                </a:solidFill>
                <a:latin typeface="Verdana" panose="020B0604030504040204"/>
              </a:rPr>
              <a:t>Steps in the query plan with high cost values indicate potential bottlenecks.</a:t>
            </a:r>
          </a:p>
        </p:txBody>
      </p:sp>
      <p:sp>
        <p:nvSpPr>
          <p:cNvPr id="14" name="object 6">
            <a:extLst>
              <a:ext uri="{FF2B5EF4-FFF2-40B4-BE49-F238E27FC236}">
                <a16:creationId xmlns:a16="http://schemas.microsoft.com/office/drawing/2014/main" id="{FED30E49-3464-CF24-ADD1-7688F8B8354C}"/>
              </a:ext>
            </a:extLst>
          </p:cNvPr>
          <p:cNvSpPr txBox="1"/>
          <p:nvPr/>
        </p:nvSpPr>
        <p:spPr>
          <a:xfrm>
            <a:off x="521653" y="2946053"/>
            <a:ext cx="5196373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fontAlgn="base">
              <a:spcBef>
                <a:spcPts val="100"/>
              </a:spcBef>
              <a:spcAft>
                <a:spcPct val="0"/>
              </a:spcAft>
              <a:buClrTx/>
              <a:buSzTx/>
              <a:tabLst/>
            </a:pPr>
            <a:r>
              <a:rPr lang="en-IN" sz="2000" spc="5" dirty="0">
                <a:solidFill>
                  <a:srgbClr val="EF5A28"/>
                </a:solidFill>
                <a:latin typeface="Verdana" panose="020B0604030504040204"/>
              </a:rPr>
              <a:t>High Cost Operations</a:t>
            </a:r>
            <a:endParaRPr lang="en-US" sz="2000" spc="5" dirty="0">
              <a:solidFill>
                <a:srgbClr val="EF5A28"/>
              </a:solidFill>
              <a:latin typeface="Verdana" panose="020B0604030504040204"/>
            </a:endParaRPr>
          </a:p>
        </p:txBody>
      </p:sp>
      <p:sp>
        <p:nvSpPr>
          <p:cNvPr id="15" name="object 6">
            <a:extLst>
              <a:ext uri="{FF2B5EF4-FFF2-40B4-BE49-F238E27FC236}">
                <a16:creationId xmlns:a16="http://schemas.microsoft.com/office/drawing/2014/main" id="{73C65E8F-0AF4-89AA-0078-CEBFEFB8702F}"/>
              </a:ext>
            </a:extLst>
          </p:cNvPr>
          <p:cNvSpPr txBox="1"/>
          <p:nvPr/>
        </p:nvSpPr>
        <p:spPr>
          <a:xfrm>
            <a:off x="521653" y="4765127"/>
            <a:ext cx="5496295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fontAlgn="base">
              <a:spcBef>
                <a:spcPts val="100"/>
              </a:spcBef>
              <a:spcAft>
                <a:spcPct val="0"/>
              </a:spcAft>
              <a:buClrTx/>
              <a:buSzTx/>
              <a:tabLst/>
            </a:pPr>
            <a:r>
              <a:rPr lang="en-IN" sz="2000" spc="5" dirty="0">
                <a:solidFill>
                  <a:srgbClr val="EF5A28"/>
                </a:solidFill>
                <a:latin typeface="Verdana" panose="020B0604030504040204"/>
              </a:rPr>
              <a:t>Missing Indexes</a:t>
            </a:r>
            <a:endParaRPr lang="en-US" sz="2000" spc="5" dirty="0">
              <a:solidFill>
                <a:srgbClr val="EF5A28"/>
              </a:solidFill>
              <a:latin typeface="Verdana" panose="020B0604030504040204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F05A792-5AC2-4676-F2F0-EB0F952C1CC5}"/>
              </a:ext>
            </a:extLst>
          </p:cNvPr>
          <p:cNvSpPr txBox="1"/>
          <p:nvPr/>
        </p:nvSpPr>
        <p:spPr>
          <a:xfrm>
            <a:off x="5953495" y="5695890"/>
            <a:ext cx="609797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spc="30" dirty="0">
                <a:solidFill>
                  <a:srgbClr val="2A9FBB"/>
                </a:solidFill>
                <a:latin typeface="Verdana" panose="020B0604030504040204"/>
              </a:rPr>
              <a:t>Correlated subqueries can be inefficient if not optimized properly.</a:t>
            </a:r>
            <a:endParaRPr lang="en-US" altLang="en-US" sz="2000" spc="30" dirty="0">
              <a:solidFill>
                <a:srgbClr val="2A9FBB"/>
              </a:solidFill>
              <a:latin typeface="Verdana" panose="020B0604030504040204"/>
            </a:endParaRPr>
          </a:p>
        </p:txBody>
      </p:sp>
      <p:sp>
        <p:nvSpPr>
          <p:cNvPr id="5" name="object 6">
            <a:extLst>
              <a:ext uri="{FF2B5EF4-FFF2-40B4-BE49-F238E27FC236}">
                <a16:creationId xmlns:a16="http://schemas.microsoft.com/office/drawing/2014/main" id="{7912C35A-F163-4FFB-DFE1-50CB5981AED4}"/>
              </a:ext>
            </a:extLst>
          </p:cNvPr>
          <p:cNvSpPr txBox="1"/>
          <p:nvPr/>
        </p:nvSpPr>
        <p:spPr>
          <a:xfrm>
            <a:off x="457200" y="5695890"/>
            <a:ext cx="5496295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fontAlgn="base">
              <a:spcBef>
                <a:spcPts val="100"/>
              </a:spcBef>
              <a:spcAft>
                <a:spcPct val="0"/>
              </a:spcAft>
              <a:buClrTx/>
              <a:buSzTx/>
              <a:tabLst/>
            </a:pPr>
            <a:r>
              <a:rPr lang="en-IN" sz="2000" spc="5" dirty="0">
                <a:solidFill>
                  <a:srgbClr val="EF5A28"/>
                </a:solidFill>
                <a:latin typeface="Verdana" panose="020B0604030504040204"/>
              </a:rPr>
              <a:t>Unoptimized Subqueries</a:t>
            </a:r>
            <a:endParaRPr lang="en-US" sz="2000" spc="5" dirty="0">
              <a:solidFill>
                <a:srgbClr val="EF5A28"/>
              </a:solidFill>
              <a:latin typeface="Verdana" panose="020B0604030504040204"/>
            </a:endParaRPr>
          </a:p>
        </p:txBody>
      </p:sp>
    </p:spTree>
    <p:extLst>
      <p:ext uri="{BB962C8B-B14F-4D97-AF65-F5344CB8AC3E}">
        <p14:creationId xmlns:p14="http://schemas.microsoft.com/office/powerpoint/2010/main" val="29815345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4635246" cy="68580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5230620" y="2079350"/>
            <a:ext cx="6437630" cy="2463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80" dirty="0">
                <a:solidFill>
                  <a:srgbClr val="EF5A28"/>
                </a:solidFill>
                <a:latin typeface="Verdana" panose="020B0604030504040204"/>
                <a:cs typeface="Verdana" panose="020B0604030504040204"/>
              </a:rPr>
              <a:t>ORDER</a:t>
            </a:r>
            <a:r>
              <a:rPr sz="2400" spc="-135" dirty="0">
                <a:solidFill>
                  <a:srgbClr val="EF5A28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400" spc="160" dirty="0">
                <a:solidFill>
                  <a:srgbClr val="EF5A28"/>
                </a:solidFill>
                <a:latin typeface="Verdana" panose="020B0604030504040204"/>
                <a:cs typeface="Verdana" panose="020B0604030504040204"/>
              </a:rPr>
              <a:t>BY</a:t>
            </a:r>
            <a:r>
              <a:rPr sz="2400" spc="-135" dirty="0">
                <a:solidFill>
                  <a:srgbClr val="EF5A28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400" dirty="0">
                <a:solidFill>
                  <a:srgbClr val="EF5A28"/>
                </a:solidFill>
                <a:latin typeface="Verdana" panose="020B0604030504040204"/>
                <a:cs typeface="Verdana" panose="020B0604030504040204"/>
              </a:rPr>
              <a:t>sorts</a:t>
            </a:r>
            <a:r>
              <a:rPr sz="2400" spc="-135" dirty="0">
                <a:solidFill>
                  <a:srgbClr val="EF5A28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400" spc="15" dirty="0">
                <a:solidFill>
                  <a:srgbClr val="EF5A28"/>
                </a:solidFill>
                <a:latin typeface="Verdana" panose="020B0604030504040204"/>
                <a:cs typeface="Verdana" panose="020B0604030504040204"/>
              </a:rPr>
              <a:t>query</a:t>
            </a:r>
            <a:r>
              <a:rPr sz="2400" spc="-130" dirty="0">
                <a:solidFill>
                  <a:srgbClr val="EF5A28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400" spc="-15" dirty="0">
                <a:solidFill>
                  <a:srgbClr val="EF5A28"/>
                </a:solidFill>
                <a:latin typeface="Verdana" panose="020B0604030504040204"/>
                <a:cs typeface="Verdana" panose="020B0604030504040204"/>
              </a:rPr>
              <a:t>results</a:t>
            </a:r>
            <a:endParaRPr sz="2400">
              <a:latin typeface="Verdana" panose="020B0604030504040204"/>
              <a:cs typeface="Verdana" panose="020B0604030504040204"/>
            </a:endParaRPr>
          </a:p>
          <a:p>
            <a:pPr marL="12700">
              <a:lnSpc>
                <a:spcPct val="100000"/>
              </a:lnSpc>
              <a:spcBef>
                <a:spcPts val="1800"/>
              </a:spcBef>
            </a:pPr>
            <a:r>
              <a:rPr sz="2400" spc="65" dirty="0">
                <a:solidFill>
                  <a:srgbClr val="EF5A28"/>
                </a:solidFill>
                <a:latin typeface="Verdana" panose="020B0604030504040204"/>
                <a:cs typeface="Verdana" panose="020B0604030504040204"/>
              </a:rPr>
              <a:t>Aggregate</a:t>
            </a:r>
            <a:r>
              <a:rPr sz="2400" spc="-140" dirty="0">
                <a:solidFill>
                  <a:srgbClr val="EF5A28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400" spc="20" dirty="0">
                <a:solidFill>
                  <a:srgbClr val="EF5A28"/>
                </a:solidFill>
                <a:latin typeface="Verdana" panose="020B0604030504040204"/>
                <a:cs typeface="Verdana" panose="020B0604030504040204"/>
              </a:rPr>
              <a:t>functions</a:t>
            </a:r>
            <a:r>
              <a:rPr sz="2400" spc="-135" dirty="0">
                <a:solidFill>
                  <a:srgbClr val="EF5A28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400" spc="25" dirty="0">
                <a:solidFill>
                  <a:srgbClr val="EF5A28"/>
                </a:solidFill>
                <a:latin typeface="Verdana" panose="020B0604030504040204"/>
                <a:cs typeface="Verdana" panose="020B0604030504040204"/>
              </a:rPr>
              <a:t>perform</a:t>
            </a:r>
            <a:r>
              <a:rPr sz="2400" spc="-135" dirty="0">
                <a:solidFill>
                  <a:srgbClr val="EF5A28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400" spc="25" dirty="0">
                <a:solidFill>
                  <a:srgbClr val="EF5A28"/>
                </a:solidFill>
                <a:latin typeface="Verdana" panose="020B0604030504040204"/>
                <a:cs typeface="Verdana" panose="020B0604030504040204"/>
              </a:rPr>
              <a:t>calculations</a:t>
            </a:r>
            <a:endParaRPr sz="2400">
              <a:latin typeface="Verdana" panose="020B0604030504040204"/>
              <a:cs typeface="Verdana" panose="020B0604030504040204"/>
            </a:endParaRPr>
          </a:p>
          <a:p>
            <a:pPr marL="536575" indent="-289560">
              <a:lnSpc>
                <a:spcPct val="100000"/>
              </a:lnSpc>
              <a:spcBef>
                <a:spcPts val="600"/>
              </a:spcBef>
              <a:buSzPct val="75000"/>
              <a:buFont typeface="Segoe UI" panose="020B0502040204020203"/>
              <a:buChar char="-"/>
              <a:tabLst>
                <a:tab pos="536575" algn="l"/>
                <a:tab pos="537210" algn="l"/>
              </a:tabLst>
            </a:pPr>
            <a:r>
              <a:rPr sz="2400" spc="55" dirty="0">
                <a:solidFill>
                  <a:srgbClr val="EF5A28"/>
                </a:solidFill>
                <a:latin typeface="Verdana" panose="020B0604030504040204"/>
                <a:cs typeface="Verdana" panose="020B0604030504040204"/>
              </a:rPr>
              <a:t>On</a:t>
            </a:r>
            <a:r>
              <a:rPr sz="2400" spc="-150" dirty="0">
                <a:solidFill>
                  <a:srgbClr val="EF5A28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400" spc="-30" dirty="0">
                <a:solidFill>
                  <a:srgbClr val="EF5A28"/>
                </a:solidFill>
                <a:latin typeface="Verdana" panose="020B0604030504040204"/>
                <a:cs typeface="Verdana" panose="020B0604030504040204"/>
              </a:rPr>
              <a:t>entire</a:t>
            </a:r>
            <a:r>
              <a:rPr sz="2400" spc="-135" dirty="0">
                <a:solidFill>
                  <a:srgbClr val="EF5A28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400" dirty="0">
                <a:solidFill>
                  <a:srgbClr val="EF5A28"/>
                </a:solidFill>
                <a:latin typeface="Verdana" panose="020B0604030504040204"/>
                <a:cs typeface="Verdana" panose="020B0604030504040204"/>
              </a:rPr>
              <a:t>data</a:t>
            </a:r>
            <a:r>
              <a:rPr sz="2400" spc="-145" dirty="0">
                <a:solidFill>
                  <a:srgbClr val="EF5A28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400" spc="-20" dirty="0">
                <a:solidFill>
                  <a:srgbClr val="EF5A28"/>
                </a:solidFill>
                <a:latin typeface="Verdana" panose="020B0604030504040204"/>
                <a:cs typeface="Verdana" panose="020B0604030504040204"/>
              </a:rPr>
              <a:t>set</a:t>
            </a:r>
            <a:endParaRPr sz="2400">
              <a:latin typeface="Verdana" panose="020B0604030504040204"/>
              <a:cs typeface="Verdana" panose="020B0604030504040204"/>
            </a:endParaRPr>
          </a:p>
          <a:p>
            <a:pPr marL="536575" indent="-289560">
              <a:lnSpc>
                <a:spcPct val="100000"/>
              </a:lnSpc>
              <a:spcBef>
                <a:spcPts val="600"/>
              </a:spcBef>
              <a:buSzPct val="75000"/>
              <a:buFont typeface="Segoe UI" panose="020B0502040204020203"/>
              <a:buChar char="-"/>
              <a:tabLst>
                <a:tab pos="536575" algn="l"/>
                <a:tab pos="537210" algn="l"/>
              </a:tabLst>
            </a:pPr>
            <a:r>
              <a:rPr sz="2400" spc="55" dirty="0">
                <a:solidFill>
                  <a:srgbClr val="EF5A28"/>
                </a:solidFill>
                <a:latin typeface="Verdana" panose="020B0604030504040204"/>
                <a:cs typeface="Verdana" panose="020B0604030504040204"/>
              </a:rPr>
              <a:t>On</a:t>
            </a:r>
            <a:r>
              <a:rPr sz="2400" spc="-140" dirty="0">
                <a:solidFill>
                  <a:srgbClr val="EF5A28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400" spc="10" dirty="0">
                <a:solidFill>
                  <a:srgbClr val="EF5A28"/>
                </a:solidFill>
                <a:latin typeface="Verdana" panose="020B0604030504040204"/>
                <a:cs typeface="Verdana" panose="020B0604030504040204"/>
              </a:rPr>
              <a:t>groups</a:t>
            </a:r>
            <a:r>
              <a:rPr sz="2400" spc="-130" dirty="0">
                <a:solidFill>
                  <a:srgbClr val="EF5A28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400" spc="20" dirty="0">
                <a:solidFill>
                  <a:srgbClr val="EF5A28"/>
                </a:solidFill>
                <a:latin typeface="Verdana" panose="020B0604030504040204"/>
                <a:cs typeface="Verdana" panose="020B0604030504040204"/>
              </a:rPr>
              <a:t>specified</a:t>
            </a:r>
            <a:r>
              <a:rPr sz="2400" spc="-140" dirty="0">
                <a:solidFill>
                  <a:srgbClr val="EF5A28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400" spc="-20" dirty="0">
                <a:solidFill>
                  <a:srgbClr val="EF5A28"/>
                </a:solidFill>
                <a:latin typeface="Verdana" panose="020B0604030504040204"/>
                <a:cs typeface="Verdana" panose="020B0604030504040204"/>
              </a:rPr>
              <a:t>using</a:t>
            </a:r>
            <a:r>
              <a:rPr sz="2400" spc="-130" dirty="0">
                <a:solidFill>
                  <a:srgbClr val="EF5A28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400" spc="90" dirty="0">
                <a:solidFill>
                  <a:srgbClr val="EF5A28"/>
                </a:solidFill>
                <a:latin typeface="Verdana" panose="020B0604030504040204"/>
                <a:cs typeface="Verdana" panose="020B0604030504040204"/>
              </a:rPr>
              <a:t>GROUP</a:t>
            </a:r>
            <a:r>
              <a:rPr sz="2400" spc="-125" dirty="0">
                <a:solidFill>
                  <a:srgbClr val="EF5A28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400" spc="125" dirty="0">
                <a:solidFill>
                  <a:srgbClr val="EF5A28"/>
                </a:solidFill>
                <a:latin typeface="Verdana" panose="020B0604030504040204"/>
                <a:cs typeface="Verdana" panose="020B0604030504040204"/>
              </a:rPr>
              <a:t>BY</a:t>
            </a:r>
            <a:endParaRPr sz="2400">
              <a:latin typeface="Verdana" panose="020B0604030504040204"/>
              <a:cs typeface="Verdana" panose="020B0604030504040204"/>
            </a:endParaRPr>
          </a:p>
          <a:p>
            <a:pPr marL="12700">
              <a:lnSpc>
                <a:spcPct val="100000"/>
              </a:lnSpc>
              <a:spcBef>
                <a:spcPts val="1800"/>
              </a:spcBef>
            </a:pPr>
            <a:r>
              <a:rPr sz="2400" spc="50" dirty="0">
                <a:solidFill>
                  <a:srgbClr val="EF5A28"/>
                </a:solidFill>
                <a:latin typeface="Verdana" panose="020B0604030504040204"/>
                <a:cs typeface="Verdana" panose="020B0604030504040204"/>
              </a:rPr>
              <a:t>HAVING</a:t>
            </a:r>
            <a:r>
              <a:rPr sz="2400" spc="-120" dirty="0">
                <a:solidFill>
                  <a:srgbClr val="EF5A28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400" spc="10" dirty="0">
                <a:solidFill>
                  <a:srgbClr val="EF5A28"/>
                </a:solidFill>
                <a:latin typeface="Verdana" panose="020B0604030504040204"/>
                <a:cs typeface="Verdana" panose="020B0604030504040204"/>
              </a:rPr>
              <a:t>filters</a:t>
            </a:r>
            <a:r>
              <a:rPr sz="2400" spc="-114" dirty="0">
                <a:solidFill>
                  <a:srgbClr val="EF5A28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400" spc="35" dirty="0">
                <a:solidFill>
                  <a:srgbClr val="EF5A28"/>
                </a:solidFill>
                <a:latin typeface="Verdana" panose="020B0604030504040204"/>
                <a:cs typeface="Verdana" panose="020B0604030504040204"/>
              </a:rPr>
              <a:t>aggregate</a:t>
            </a:r>
            <a:r>
              <a:rPr sz="2400" spc="-114" dirty="0">
                <a:solidFill>
                  <a:srgbClr val="EF5A28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400" spc="-15" dirty="0">
                <a:solidFill>
                  <a:srgbClr val="EF5A28"/>
                </a:solidFill>
                <a:latin typeface="Verdana" panose="020B0604030504040204"/>
                <a:cs typeface="Verdana" panose="020B0604030504040204"/>
              </a:rPr>
              <a:t>results</a:t>
            </a:r>
            <a:endParaRPr sz="2400">
              <a:latin typeface="Verdana" panose="020B0604030504040204"/>
              <a:cs typeface="Verdana" panose="020B0604030504040204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226374" y="1916483"/>
            <a:ext cx="218249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5" dirty="0"/>
              <a:t>Sum</a:t>
            </a:r>
            <a:r>
              <a:rPr spc="-80" dirty="0"/>
              <a:t>m</a:t>
            </a:r>
            <a:r>
              <a:rPr spc="-105" dirty="0"/>
              <a:t>a</a:t>
            </a:r>
            <a:r>
              <a:rPr spc="-55" dirty="0"/>
              <a:t>ry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/>
              <a:t>27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439</TotalTime>
  <Words>1176</Words>
  <Application>Microsoft Office PowerPoint</Application>
  <PresentationFormat>Widescreen</PresentationFormat>
  <Paragraphs>420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4" baseType="lpstr">
      <vt:lpstr>Arial MT</vt:lpstr>
      <vt:lpstr>Calibri</vt:lpstr>
      <vt:lpstr>Lucida Sans Unicode</vt:lpstr>
      <vt:lpstr>Segoe UI</vt:lpstr>
      <vt:lpstr>Times New Roman</vt:lpstr>
      <vt:lpstr>Verdana</vt:lpstr>
      <vt:lpstr>Office Theme</vt:lpstr>
      <vt:lpstr>Presenting and Aggregating Results</vt:lpstr>
      <vt:lpstr>Overview</vt:lpstr>
      <vt:lpstr>Querying Residency</vt:lpstr>
      <vt:lpstr>SELECT name, state FROM residency  ORDER BY name</vt:lpstr>
      <vt:lpstr>Specifying Sort Order</vt:lpstr>
      <vt:lpstr>SELECT name, state FROM residency  ORDER BY state, name</vt:lpstr>
      <vt:lpstr>SELECT name, state</vt:lpstr>
      <vt:lpstr>SELECT name, state</vt:lpstr>
      <vt:lpstr>Aggregate Functions</vt:lpstr>
      <vt:lpstr>SELECT AVG(age)</vt:lpstr>
      <vt:lpstr>Analyzing Groups</vt:lpstr>
      <vt:lpstr>PowerPoint Presentation</vt:lpstr>
      <vt:lpstr>Using GROUP BY With Aggregation</vt:lpstr>
      <vt:lpstr>PowerPoint Presentation</vt:lpstr>
      <vt:lpstr>Filtering Aggregate Results</vt:lpstr>
      <vt:lpstr>PowerPoint Presentation</vt:lpstr>
      <vt:lpstr>PowerPoint Presentation</vt:lpstr>
      <vt:lpstr>Understanding Subqueries in PostgreSQL</vt:lpstr>
      <vt:lpstr>Database Views in PostgreSQL</vt:lpstr>
      <vt:lpstr>Writing High-Performing SQL Queries</vt:lpstr>
      <vt:lpstr>Writing High-Performing SQL Queries</vt:lpstr>
      <vt:lpstr>Query Plan Overview</vt:lpstr>
      <vt:lpstr>Components of a Query Plan</vt:lpstr>
      <vt:lpstr>Components of a Query Plan</vt:lpstr>
      <vt:lpstr>Identifying Performance Issues in SQL Queries</vt:lpstr>
      <vt:lpstr>Common Performance Issues 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Presenting and Aggregating Results</dc:title>
  <dc:creator>Browning, Jason</dc:creator>
  <cp:lastModifiedBy>Stephen Joseph Samuels</cp:lastModifiedBy>
  <cp:revision>7</cp:revision>
  <dcterms:created xsi:type="dcterms:W3CDTF">2022-04-03T19:45:49Z</dcterms:created>
  <dcterms:modified xsi:type="dcterms:W3CDTF">2026-01-06T10:23:41Z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2019-03-05T05:30:00Z</vt:filetime>
  </property>
  <property fmtid="{D5CDD505-2E9C-101B-9397-08002B2CF9AE}" pid="3" name="Creator">
    <vt:lpwstr>Acrobat PDFMaker 19 for PowerPoint</vt:lpwstr>
  </property>
  <property fmtid="{D5CDD505-2E9C-101B-9397-08002B2CF9AE}" pid="4" name="LastSaved">
    <vt:filetime>2022-02-17T05:30:00Z</vt:filetime>
  </property>
  <property fmtid="{D5CDD505-2E9C-101B-9397-08002B2CF9AE}" pid="5" name="ICV">
    <vt:lpwstr>3700A8CD823F43D19D58F380258E3809</vt:lpwstr>
  </property>
  <property fmtid="{D5CDD505-2E9C-101B-9397-08002B2CF9AE}" pid="6" name="KSOProductBuildVer">
    <vt:lpwstr>1033-11.2.0.11042</vt:lpwstr>
  </property>
</Properties>
</file>