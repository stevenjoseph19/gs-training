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15895" y="519066"/>
            <a:ext cx="8560208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E3E3E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05A28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E3E3E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4585334" y="427101"/>
            <a:ext cx="0" cy="5990590"/>
          </a:xfrm>
          <a:custGeom>
            <a:avLst/>
            <a:gdLst/>
            <a:ahLst/>
            <a:cxnLst/>
            <a:rect l="l" t="t" r="r" b="b"/>
            <a:pathLst>
              <a:path h="5990590">
                <a:moveTo>
                  <a:pt x="0" y="0"/>
                </a:moveTo>
                <a:lnTo>
                  <a:pt x="0" y="5990424"/>
                </a:lnTo>
              </a:path>
            </a:pathLst>
          </a:custGeom>
          <a:ln w="25146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E3E3E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2255" y="519066"/>
            <a:ext cx="9407489" cy="1040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E3E3E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4746" y="2818490"/>
            <a:ext cx="9922507" cy="275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05A28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17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8.png"/><Relationship Id="rId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708" y="2977895"/>
            <a:ext cx="10768609" cy="38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1383" y="1427896"/>
            <a:ext cx="8813165" cy="129413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ts val="4590"/>
              </a:lnSpc>
              <a:spcBef>
                <a:spcPts val="925"/>
              </a:spcBef>
            </a:pPr>
            <a:r>
              <a:rPr sz="4500" spc="-105" dirty="0">
                <a:solidFill>
                  <a:srgbClr val="101010"/>
                </a:solidFill>
              </a:rPr>
              <a:t>Gett</a:t>
            </a:r>
            <a:r>
              <a:rPr sz="4500" spc="-114" dirty="0">
                <a:solidFill>
                  <a:srgbClr val="101010"/>
                </a:solidFill>
              </a:rPr>
              <a:t>i</a:t>
            </a:r>
            <a:r>
              <a:rPr sz="4500" spc="-65" dirty="0">
                <a:solidFill>
                  <a:srgbClr val="101010"/>
                </a:solidFill>
              </a:rPr>
              <a:t>n</a:t>
            </a:r>
            <a:r>
              <a:rPr sz="4500" spc="50" dirty="0">
                <a:solidFill>
                  <a:srgbClr val="101010"/>
                </a:solidFill>
              </a:rPr>
              <a:t>g</a:t>
            </a:r>
            <a:r>
              <a:rPr sz="4500" spc="-455" dirty="0">
                <a:solidFill>
                  <a:srgbClr val="101010"/>
                </a:solidFill>
              </a:rPr>
              <a:t> </a:t>
            </a:r>
            <a:r>
              <a:rPr sz="4500" spc="-140" dirty="0">
                <a:solidFill>
                  <a:srgbClr val="101010"/>
                </a:solidFill>
              </a:rPr>
              <a:t>t</a:t>
            </a:r>
            <a:r>
              <a:rPr sz="4500" spc="175" dirty="0">
                <a:solidFill>
                  <a:srgbClr val="101010"/>
                </a:solidFill>
              </a:rPr>
              <a:t>o</a:t>
            </a:r>
            <a:r>
              <a:rPr sz="4500" spc="-455" dirty="0">
                <a:solidFill>
                  <a:srgbClr val="101010"/>
                </a:solidFill>
              </a:rPr>
              <a:t> </a:t>
            </a:r>
            <a:r>
              <a:rPr sz="4500" spc="-5" dirty="0">
                <a:solidFill>
                  <a:srgbClr val="101010"/>
                </a:solidFill>
              </a:rPr>
              <a:t>K</a:t>
            </a:r>
            <a:r>
              <a:rPr sz="4500" spc="-195" dirty="0">
                <a:solidFill>
                  <a:srgbClr val="101010"/>
                </a:solidFill>
              </a:rPr>
              <a:t>n</a:t>
            </a:r>
            <a:r>
              <a:rPr sz="4500" spc="-50" dirty="0">
                <a:solidFill>
                  <a:srgbClr val="101010"/>
                </a:solidFill>
              </a:rPr>
              <a:t>o</a:t>
            </a:r>
            <a:r>
              <a:rPr sz="4500" spc="190" dirty="0">
                <a:solidFill>
                  <a:srgbClr val="101010"/>
                </a:solidFill>
              </a:rPr>
              <a:t>w</a:t>
            </a:r>
            <a:r>
              <a:rPr sz="4500" spc="-445" dirty="0">
                <a:solidFill>
                  <a:srgbClr val="101010"/>
                </a:solidFill>
              </a:rPr>
              <a:t> </a:t>
            </a:r>
            <a:r>
              <a:rPr sz="4500" spc="75" dirty="0">
                <a:solidFill>
                  <a:srgbClr val="101010"/>
                </a:solidFill>
              </a:rPr>
              <a:t>Ap</a:t>
            </a:r>
            <a:r>
              <a:rPr sz="4500" spc="55" dirty="0">
                <a:solidFill>
                  <a:srgbClr val="101010"/>
                </a:solidFill>
              </a:rPr>
              <a:t>a</a:t>
            </a:r>
            <a:r>
              <a:rPr sz="4500" spc="105" dirty="0">
                <a:solidFill>
                  <a:srgbClr val="101010"/>
                </a:solidFill>
              </a:rPr>
              <a:t>c</a:t>
            </a:r>
            <a:r>
              <a:rPr sz="4500" spc="-165" dirty="0">
                <a:solidFill>
                  <a:srgbClr val="101010"/>
                </a:solidFill>
              </a:rPr>
              <a:t>h</a:t>
            </a:r>
            <a:r>
              <a:rPr sz="4500" spc="-45" dirty="0">
                <a:solidFill>
                  <a:srgbClr val="101010"/>
                </a:solidFill>
              </a:rPr>
              <a:t>e</a:t>
            </a:r>
            <a:r>
              <a:rPr sz="4500" spc="-450" dirty="0">
                <a:solidFill>
                  <a:srgbClr val="101010"/>
                </a:solidFill>
              </a:rPr>
              <a:t> </a:t>
            </a:r>
            <a:r>
              <a:rPr sz="4500" spc="-50" dirty="0">
                <a:solidFill>
                  <a:srgbClr val="101010"/>
                </a:solidFill>
              </a:rPr>
              <a:t>K</a:t>
            </a:r>
            <a:r>
              <a:rPr sz="4500" spc="-220" dirty="0">
                <a:solidFill>
                  <a:srgbClr val="101010"/>
                </a:solidFill>
              </a:rPr>
              <a:t>a</a:t>
            </a:r>
            <a:r>
              <a:rPr sz="4500" spc="-55" dirty="0">
                <a:solidFill>
                  <a:srgbClr val="101010"/>
                </a:solidFill>
              </a:rPr>
              <a:t>f</a:t>
            </a:r>
            <a:r>
              <a:rPr sz="4500" spc="-270" dirty="0">
                <a:solidFill>
                  <a:srgbClr val="101010"/>
                </a:solidFill>
              </a:rPr>
              <a:t>k</a:t>
            </a:r>
            <a:r>
              <a:rPr sz="4500" spc="-220" dirty="0">
                <a:solidFill>
                  <a:srgbClr val="101010"/>
                </a:solidFill>
              </a:rPr>
              <a:t>a</a:t>
            </a:r>
            <a:r>
              <a:rPr sz="4500" spc="-345" dirty="0">
                <a:solidFill>
                  <a:srgbClr val="101010"/>
                </a:solidFill>
              </a:rPr>
              <a:t>’</a:t>
            </a:r>
            <a:r>
              <a:rPr sz="4500" spc="-85" dirty="0">
                <a:solidFill>
                  <a:srgbClr val="101010"/>
                </a:solidFill>
              </a:rPr>
              <a:t>s  </a:t>
            </a:r>
            <a:r>
              <a:rPr sz="4500" spc="-80" dirty="0">
                <a:solidFill>
                  <a:srgbClr val="101010"/>
                </a:solidFill>
              </a:rPr>
              <a:t>Architecture</a:t>
            </a:r>
            <a:endParaRPr sz="450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5895" y="519066"/>
            <a:ext cx="847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8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Apache</a:t>
            </a:r>
            <a:r>
              <a:rPr sz="3600" spc="-2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-6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Kafka</a:t>
            </a:r>
            <a:r>
              <a:rPr sz="3600" spc="-2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-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as</a:t>
            </a:r>
            <a:r>
              <a:rPr sz="3600" spc="-2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-1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3600" spc="-2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-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Messaging</a:t>
            </a:r>
            <a:r>
              <a:rPr sz="3600" spc="-2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600" spc="-10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System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953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0" algn="l"/>
              </a:tabLst>
            </a:pPr>
            <a:r>
              <a:rPr sz="1800" u="sng" spc="4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d</a:t>
            </a:r>
            <a:r>
              <a:rPr sz="1800" u="sng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</a:t>
            </a:r>
            <a:r>
              <a:rPr sz="1800" u="sng" spc="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-1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-4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02764" y="2463545"/>
            <a:ext cx="2327275" cy="847725"/>
            <a:chOff x="2302764" y="2463545"/>
            <a:chExt cx="2327275" cy="847725"/>
          </a:xfrm>
        </p:grpSpPr>
        <p:sp>
          <p:nvSpPr>
            <p:cNvPr id="5" name="object 5"/>
            <p:cNvSpPr/>
            <p:nvPr/>
          </p:nvSpPr>
          <p:spPr>
            <a:xfrm>
              <a:off x="2507742" y="2756915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2764" y="2463545"/>
              <a:ext cx="409955" cy="23393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532126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0" y="0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302764" y="4178810"/>
            <a:ext cx="2355850" cy="851535"/>
            <a:chOff x="2302764" y="4178810"/>
            <a:chExt cx="2355850" cy="851535"/>
          </a:xfrm>
        </p:grpSpPr>
        <p:sp>
          <p:nvSpPr>
            <p:cNvPr id="9" name="object 9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2764" y="4796027"/>
              <a:ext cx="409955" cy="233933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432297" y="2669285"/>
            <a:ext cx="1325245" cy="2400300"/>
            <a:chOff x="5432297" y="2669285"/>
            <a:chExt cx="1325245" cy="240030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4583" y="2669285"/>
              <a:ext cx="1322831" cy="13030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2297" y="3766565"/>
              <a:ext cx="1322831" cy="130301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0276" y="2492501"/>
            <a:ext cx="410717" cy="40995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0276" y="4632197"/>
            <a:ext cx="410717" cy="410717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895" y="519066"/>
            <a:ext cx="847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Apache</a:t>
            </a:r>
            <a:r>
              <a:rPr spc="-210" dirty="0"/>
              <a:t> </a:t>
            </a:r>
            <a:r>
              <a:rPr spc="-60" dirty="0"/>
              <a:t>Kafka</a:t>
            </a:r>
            <a:r>
              <a:rPr spc="-215" dirty="0"/>
              <a:t> </a:t>
            </a:r>
            <a:r>
              <a:rPr spc="-95" dirty="0"/>
              <a:t>as</a:t>
            </a:r>
            <a:r>
              <a:rPr spc="-200" dirty="0"/>
              <a:t> </a:t>
            </a:r>
            <a:r>
              <a:rPr spc="-100" dirty="0"/>
              <a:t>a</a:t>
            </a:r>
            <a:r>
              <a:rPr spc="-210" dirty="0"/>
              <a:t> </a:t>
            </a:r>
            <a:r>
              <a:rPr spc="-20" dirty="0"/>
              <a:t>Messaging</a:t>
            </a:r>
            <a:r>
              <a:rPr spc="-200" dirty="0"/>
              <a:t> </a:t>
            </a:r>
            <a:r>
              <a:rPr spc="-105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02764" y="2463545"/>
            <a:ext cx="2327275" cy="847725"/>
            <a:chOff x="2302764" y="2463545"/>
            <a:chExt cx="2327275" cy="847725"/>
          </a:xfrm>
        </p:grpSpPr>
        <p:sp>
          <p:nvSpPr>
            <p:cNvPr id="4" name="object 4"/>
            <p:cNvSpPr/>
            <p:nvPr/>
          </p:nvSpPr>
          <p:spPr>
            <a:xfrm>
              <a:off x="2507742" y="2756915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2764" y="2463545"/>
              <a:ext cx="409955" cy="233933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532126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0" y="0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302764" y="4178810"/>
            <a:ext cx="2355850" cy="851535"/>
            <a:chOff x="2302764" y="4178810"/>
            <a:chExt cx="2355850" cy="851535"/>
          </a:xfrm>
        </p:grpSpPr>
        <p:sp>
          <p:nvSpPr>
            <p:cNvPr id="8" name="object 8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2764" y="4796027"/>
              <a:ext cx="409955" cy="233933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362555" y="1437763"/>
            <a:ext cx="953452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4296410" algn="l"/>
                <a:tab pos="8229600" algn="l"/>
              </a:tabLst>
            </a:pPr>
            <a:r>
              <a:rPr sz="1800" u="sng" spc="4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d</a:t>
            </a:r>
            <a:r>
              <a:rPr sz="1800" u="sng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</a:t>
            </a:r>
            <a:r>
              <a:rPr sz="1800" u="sng" spc="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-1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-4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dash" spc="-1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T</a:t>
            </a:r>
            <a:r>
              <a:rPr sz="1800" u="dash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dash" spc="6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dash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i</a:t>
            </a:r>
            <a:r>
              <a:rPr sz="1800" u="dash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dash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Verdana" panose="020B0604030504040204"/>
              <a:cs typeface="Verdana" panose="020B0604030504040204"/>
            </a:endParaRPr>
          </a:p>
          <a:p>
            <a:pPr marR="5715" algn="r">
              <a:lnSpc>
                <a:spcPct val="100000"/>
              </a:lnSpc>
              <a:tabLst>
                <a:tab pos="7173595" algn="l"/>
              </a:tabLst>
            </a:pPr>
            <a:r>
              <a:rPr sz="2000" spc="-17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000" spc="-13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o:</a:t>
            </a:r>
            <a:r>
              <a:rPr sz="2000" spc="-10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“X”</a:t>
            </a:r>
            <a:r>
              <a:rPr sz="200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2000" spc="3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etr</a:t>
            </a:r>
            <a:r>
              <a:rPr sz="2000" spc="1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000" spc="-3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6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v</a:t>
            </a:r>
            <a:r>
              <a:rPr sz="2000" spc="-17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e:</a:t>
            </a:r>
            <a:r>
              <a:rPr sz="2000" spc="-7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“X”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432297" y="2669285"/>
            <a:ext cx="1325245" cy="2400300"/>
            <a:chOff x="5432297" y="2669285"/>
            <a:chExt cx="1325245" cy="240030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4583" y="2669285"/>
              <a:ext cx="1322831" cy="13030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2297" y="3766565"/>
              <a:ext cx="1322831" cy="130301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0276" y="2492501"/>
            <a:ext cx="410717" cy="40995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0276" y="4632197"/>
            <a:ext cx="410717" cy="41071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952130" y="3146667"/>
            <a:ext cx="4654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“X”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52130" y="4241074"/>
            <a:ext cx="46100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</a:t>
            </a:r>
            <a:r>
              <a:rPr sz="2000" spc="13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Y”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46218" y="5158112"/>
            <a:ext cx="911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7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000" spc="-13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o:</a:t>
            </a:r>
            <a:r>
              <a:rPr sz="2000" spc="-10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</a:t>
            </a:r>
            <a:r>
              <a:rPr sz="2000" spc="19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20379" y="5158112"/>
            <a:ext cx="16719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3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etr</a:t>
            </a:r>
            <a:r>
              <a:rPr sz="2000" spc="1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000" spc="-3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6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v</a:t>
            </a:r>
            <a:r>
              <a:rPr sz="2000" spc="-17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e:</a:t>
            </a:r>
            <a:r>
              <a:rPr sz="2000" spc="-7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2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“</a:t>
            </a:r>
            <a:r>
              <a:rPr sz="2000" spc="155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Y</a:t>
            </a:r>
            <a:r>
              <a:rPr sz="2000" spc="80" dirty="0">
                <a:solidFill>
                  <a:srgbClr val="675BA7"/>
                </a:solidFill>
                <a:latin typeface="Verdana" panose="020B0604030504040204"/>
                <a:cs typeface="Verdana" panose="020B0604030504040204"/>
              </a:rPr>
              <a:t>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895" y="519066"/>
            <a:ext cx="847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Apache</a:t>
            </a:r>
            <a:r>
              <a:rPr spc="-210" dirty="0"/>
              <a:t> </a:t>
            </a:r>
            <a:r>
              <a:rPr spc="-60" dirty="0"/>
              <a:t>Kafka</a:t>
            </a:r>
            <a:r>
              <a:rPr spc="-215" dirty="0"/>
              <a:t> </a:t>
            </a:r>
            <a:r>
              <a:rPr spc="-95" dirty="0"/>
              <a:t>as</a:t>
            </a:r>
            <a:r>
              <a:rPr spc="-200" dirty="0"/>
              <a:t> </a:t>
            </a:r>
            <a:r>
              <a:rPr spc="-100" dirty="0"/>
              <a:t>a</a:t>
            </a:r>
            <a:r>
              <a:rPr spc="-210" dirty="0"/>
              <a:t> </a:t>
            </a:r>
            <a:r>
              <a:rPr spc="-20" dirty="0"/>
              <a:t>Messaging</a:t>
            </a:r>
            <a:r>
              <a:rPr spc="-200" dirty="0"/>
              <a:t> </a:t>
            </a:r>
            <a:r>
              <a:rPr spc="-10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953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0" algn="l"/>
              </a:tabLst>
            </a:pPr>
            <a:r>
              <a:rPr sz="1800" u="sng" spc="4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d</a:t>
            </a:r>
            <a:r>
              <a:rPr sz="1800" u="sng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</a:t>
            </a:r>
            <a:r>
              <a:rPr sz="1800" u="sng" spc="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-1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-4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774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0"/>
                </a:moveTo>
                <a:lnTo>
                  <a:pt x="210312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2126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0" y="0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35935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535089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61001" y="2863214"/>
            <a:ext cx="2268220" cy="1929764"/>
          </a:xfrm>
          <a:prstGeom prst="rect">
            <a:avLst/>
          </a:prstGeom>
          <a:ln w="25146">
            <a:solidFill>
              <a:srgbClr val="3E3E3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70802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3135" y="4367021"/>
            <a:ext cx="371855" cy="36575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3135" y="2907792"/>
            <a:ext cx="371855" cy="365759"/>
          </a:xfrm>
          <a:prstGeom prst="rect">
            <a:avLst/>
          </a:prstGeom>
        </p:spPr>
      </p:pic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895" y="519066"/>
            <a:ext cx="847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Apache</a:t>
            </a:r>
            <a:r>
              <a:rPr spc="-210" dirty="0"/>
              <a:t> </a:t>
            </a:r>
            <a:r>
              <a:rPr spc="-60" dirty="0"/>
              <a:t>Kafka</a:t>
            </a:r>
            <a:r>
              <a:rPr spc="-215" dirty="0"/>
              <a:t> </a:t>
            </a:r>
            <a:r>
              <a:rPr spc="-95" dirty="0"/>
              <a:t>as</a:t>
            </a:r>
            <a:r>
              <a:rPr spc="-200" dirty="0"/>
              <a:t> </a:t>
            </a:r>
            <a:r>
              <a:rPr spc="-100" dirty="0"/>
              <a:t>a</a:t>
            </a:r>
            <a:r>
              <a:rPr spc="-210" dirty="0"/>
              <a:t> </a:t>
            </a:r>
            <a:r>
              <a:rPr spc="-20" dirty="0"/>
              <a:t>Messaging</a:t>
            </a:r>
            <a:r>
              <a:rPr spc="-200" dirty="0"/>
              <a:t> </a:t>
            </a:r>
            <a:r>
              <a:rPr spc="-105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953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52290" algn="l"/>
                <a:tab pos="8242300" algn="l"/>
              </a:tabLst>
            </a:pPr>
            <a:r>
              <a:rPr sz="1800" u="sng" spc="4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d</a:t>
            </a:r>
            <a:r>
              <a:rPr sz="1800" u="sng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</a:t>
            </a:r>
            <a:r>
              <a:rPr sz="1800" u="sng" spc="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-1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-4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6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B</a:t>
            </a:r>
            <a:r>
              <a:rPr sz="1800" u="sng" spc="-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-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k</a:t>
            </a:r>
            <a:r>
              <a:rPr sz="1800" u="sng" spc="-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774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0"/>
                </a:moveTo>
                <a:lnTo>
                  <a:pt x="210312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2126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0" y="0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35935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535089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961001" y="2863214"/>
            <a:ext cx="2520315" cy="2072005"/>
            <a:chOff x="4961001" y="2863214"/>
            <a:chExt cx="2520315" cy="2072005"/>
          </a:xfrm>
        </p:grpSpPr>
        <p:sp>
          <p:nvSpPr>
            <p:cNvPr id="11" name="object 11"/>
            <p:cNvSpPr/>
            <p:nvPr/>
          </p:nvSpPr>
          <p:spPr>
            <a:xfrm>
              <a:off x="4961001" y="2863214"/>
              <a:ext cx="2268220" cy="1929764"/>
            </a:xfrm>
            <a:custGeom>
              <a:avLst/>
              <a:gdLst/>
              <a:ahLst/>
              <a:cxnLst/>
              <a:rect l="l" t="t" r="r" b="b"/>
              <a:pathLst>
                <a:path w="2268220" h="1929764">
                  <a:moveTo>
                    <a:pt x="2267712" y="0"/>
                  </a:moveTo>
                  <a:lnTo>
                    <a:pt x="0" y="0"/>
                  </a:lnTo>
                  <a:lnTo>
                    <a:pt x="0" y="1106805"/>
                  </a:lnTo>
                  <a:lnTo>
                    <a:pt x="0" y="1929384"/>
                  </a:lnTo>
                  <a:lnTo>
                    <a:pt x="2267712" y="1929384"/>
                  </a:lnTo>
                  <a:lnTo>
                    <a:pt x="2267712" y="1106805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494" y="3970019"/>
              <a:ext cx="480822" cy="9646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5164" y="2927603"/>
              <a:ext cx="608837" cy="5105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9784" y="3552443"/>
              <a:ext cx="461009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9784" y="4197857"/>
              <a:ext cx="461009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9784" y="2907791"/>
              <a:ext cx="461009" cy="5486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5164" y="3573780"/>
              <a:ext cx="608836" cy="50977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9830" y="4213859"/>
              <a:ext cx="608837" cy="5105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91175" y="3182492"/>
              <a:ext cx="675005" cy="1270"/>
            </a:xfrm>
            <a:custGeom>
              <a:avLst/>
              <a:gdLst/>
              <a:ahLst/>
              <a:cxnLst/>
              <a:rect l="l" t="t" r="r" b="b"/>
              <a:pathLst>
                <a:path w="675004" h="1269">
                  <a:moveTo>
                    <a:pt x="0" y="0"/>
                  </a:moveTo>
                  <a:lnTo>
                    <a:pt x="674878" y="812"/>
                  </a:lnTo>
                </a:path>
              </a:pathLst>
            </a:custGeom>
            <a:ln w="25145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91175" y="3827144"/>
              <a:ext cx="675005" cy="1905"/>
            </a:xfrm>
            <a:custGeom>
              <a:avLst/>
              <a:gdLst/>
              <a:ahLst/>
              <a:cxnLst/>
              <a:rect l="l" t="t" r="r" b="b"/>
              <a:pathLst>
                <a:path w="675004" h="1904">
                  <a:moveTo>
                    <a:pt x="0" y="0"/>
                  </a:moveTo>
                  <a:lnTo>
                    <a:pt x="674878" y="1841"/>
                  </a:lnTo>
                </a:path>
              </a:pathLst>
            </a:custGeom>
            <a:ln w="25146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91175" y="4472558"/>
              <a:ext cx="744855" cy="0"/>
            </a:xfrm>
            <a:custGeom>
              <a:avLst/>
              <a:gdLst/>
              <a:ahLst/>
              <a:cxnLst/>
              <a:rect l="l" t="t" r="r" b="b"/>
              <a:pathLst>
                <a:path w="744854">
                  <a:moveTo>
                    <a:pt x="0" y="0"/>
                  </a:moveTo>
                  <a:lnTo>
                    <a:pt x="744270" y="0"/>
                  </a:lnTo>
                </a:path>
              </a:pathLst>
            </a:custGeom>
            <a:ln w="25146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1872" y="2894075"/>
              <a:ext cx="253746" cy="2537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1872" y="3539489"/>
              <a:ext cx="253746" cy="2537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6444" y="4185665"/>
              <a:ext cx="253746" cy="253746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961001" y="2863214"/>
            <a:ext cx="2268220" cy="1929764"/>
          </a:xfrm>
          <a:prstGeom prst="rect">
            <a:avLst/>
          </a:prstGeom>
          <a:ln w="25146">
            <a:solidFill>
              <a:srgbClr val="3E3E3E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45"/>
              </a:spcBef>
            </a:pPr>
            <a:r>
              <a:rPr sz="1400" spc="1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457960">
              <a:lnSpc>
                <a:spcPct val="100000"/>
              </a:lnSpc>
              <a:spcBef>
                <a:spcPts val="240"/>
              </a:spcBef>
            </a:pPr>
            <a:r>
              <a:rPr sz="1050" spc="-3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~/A/…</a:t>
            </a:r>
            <a:endParaRPr sz="105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Verdana" panose="020B0604030504040204"/>
              <a:cs typeface="Verdana" panose="020B0604030504040204"/>
            </a:endParaRPr>
          </a:p>
          <a:p>
            <a:pPr marL="172720">
              <a:lnSpc>
                <a:spcPct val="100000"/>
              </a:lnSpc>
              <a:spcBef>
                <a:spcPts val="5"/>
              </a:spcBef>
            </a:pPr>
            <a:r>
              <a:rPr sz="1400" spc="4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457960">
              <a:lnSpc>
                <a:spcPct val="100000"/>
              </a:lnSpc>
              <a:spcBef>
                <a:spcPts val="290"/>
              </a:spcBef>
            </a:pPr>
            <a:r>
              <a:rPr sz="1050" spc="-4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~/B/…</a:t>
            </a:r>
            <a:endParaRPr sz="105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Verdana" panose="020B0604030504040204"/>
              <a:cs typeface="Verdana" panose="020B0604030504040204"/>
            </a:endParaRPr>
          </a:p>
          <a:p>
            <a:pPr marL="175895">
              <a:lnSpc>
                <a:spcPct val="100000"/>
              </a:lnSpc>
              <a:spcBef>
                <a:spcPts val="5"/>
              </a:spcBef>
            </a:pPr>
            <a:r>
              <a:rPr sz="14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457960">
              <a:lnSpc>
                <a:spcPct val="100000"/>
              </a:lnSpc>
              <a:spcBef>
                <a:spcPts val="240"/>
              </a:spcBef>
            </a:pPr>
            <a:r>
              <a:rPr sz="1050" spc="-4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~/C/…</a:t>
            </a:r>
            <a:endParaRPr sz="105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10450" y="2622803"/>
            <a:ext cx="978535" cy="2322195"/>
          </a:xfrm>
          <a:custGeom>
            <a:avLst/>
            <a:gdLst/>
            <a:ahLst/>
            <a:cxnLst/>
            <a:rect l="l" t="t" r="r" b="b"/>
            <a:pathLst>
              <a:path w="978534" h="2322195">
                <a:moveTo>
                  <a:pt x="978408" y="580644"/>
                </a:moveTo>
                <a:lnTo>
                  <a:pt x="489204" y="0"/>
                </a:lnTo>
                <a:lnTo>
                  <a:pt x="489204" y="290322"/>
                </a:lnTo>
                <a:lnTo>
                  <a:pt x="0" y="290322"/>
                </a:lnTo>
                <a:lnTo>
                  <a:pt x="0" y="870966"/>
                </a:lnTo>
                <a:lnTo>
                  <a:pt x="489204" y="870966"/>
                </a:lnTo>
                <a:lnTo>
                  <a:pt x="489204" y="1160526"/>
                </a:lnTo>
                <a:lnTo>
                  <a:pt x="489204" y="1161288"/>
                </a:lnTo>
                <a:lnTo>
                  <a:pt x="489204" y="1450848"/>
                </a:lnTo>
                <a:lnTo>
                  <a:pt x="0" y="1450848"/>
                </a:lnTo>
                <a:lnTo>
                  <a:pt x="0" y="2031492"/>
                </a:lnTo>
                <a:lnTo>
                  <a:pt x="489204" y="2031492"/>
                </a:lnTo>
                <a:lnTo>
                  <a:pt x="489204" y="2321814"/>
                </a:lnTo>
                <a:lnTo>
                  <a:pt x="978408" y="1741170"/>
                </a:lnTo>
                <a:lnTo>
                  <a:pt x="489521" y="1160907"/>
                </a:lnTo>
                <a:lnTo>
                  <a:pt x="978408" y="580644"/>
                </a:lnTo>
                <a:close/>
              </a:path>
            </a:pathLst>
          </a:custGeom>
          <a:solidFill>
            <a:srgbClr val="D7E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488692" y="2625089"/>
            <a:ext cx="2341245" cy="2311400"/>
            <a:chOff x="2488692" y="2625089"/>
            <a:chExt cx="2341245" cy="2311400"/>
          </a:xfrm>
        </p:grpSpPr>
        <p:sp>
          <p:nvSpPr>
            <p:cNvPr id="4" name="object 4"/>
            <p:cNvSpPr/>
            <p:nvPr/>
          </p:nvSpPr>
          <p:spPr>
            <a:xfrm>
              <a:off x="3851148" y="2625089"/>
              <a:ext cx="978535" cy="2311400"/>
            </a:xfrm>
            <a:custGeom>
              <a:avLst/>
              <a:gdLst/>
              <a:ahLst/>
              <a:cxnLst/>
              <a:rect l="l" t="t" r="r" b="b"/>
              <a:pathLst>
                <a:path w="978535" h="2311400">
                  <a:moveTo>
                    <a:pt x="978408" y="290131"/>
                  </a:moveTo>
                  <a:lnTo>
                    <a:pt x="489204" y="290131"/>
                  </a:lnTo>
                  <a:lnTo>
                    <a:pt x="489204" y="0"/>
                  </a:lnTo>
                  <a:lnTo>
                    <a:pt x="0" y="580263"/>
                  </a:lnTo>
                  <a:lnTo>
                    <a:pt x="485343" y="1155954"/>
                  </a:lnTo>
                  <a:lnTo>
                    <a:pt x="0" y="1731264"/>
                  </a:lnTo>
                  <a:lnTo>
                    <a:pt x="489204" y="2311146"/>
                  </a:lnTo>
                  <a:lnTo>
                    <a:pt x="489204" y="2021205"/>
                  </a:lnTo>
                  <a:lnTo>
                    <a:pt x="978408" y="2021205"/>
                  </a:lnTo>
                  <a:lnTo>
                    <a:pt x="978408" y="1441323"/>
                  </a:lnTo>
                  <a:lnTo>
                    <a:pt x="489204" y="1441323"/>
                  </a:lnTo>
                  <a:lnTo>
                    <a:pt x="489204" y="1160526"/>
                  </a:lnTo>
                  <a:lnTo>
                    <a:pt x="489204" y="1151382"/>
                  </a:lnTo>
                  <a:lnTo>
                    <a:pt x="489204" y="870394"/>
                  </a:lnTo>
                  <a:lnTo>
                    <a:pt x="978408" y="870394"/>
                  </a:lnTo>
                  <a:lnTo>
                    <a:pt x="978408" y="290131"/>
                  </a:lnTo>
                  <a:close/>
                </a:path>
              </a:pathLst>
            </a:custGeom>
            <a:solidFill>
              <a:srgbClr val="D7E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07742" y="2756915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2126" y="3766565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00605" y="519066"/>
            <a:ext cx="9303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How</a:t>
            </a:r>
            <a:r>
              <a:rPr spc="-215" dirty="0"/>
              <a:t> </a:t>
            </a:r>
            <a:r>
              <a:rPr spc="80" dirty="0"/>
              <a:t>Apache</a:t>
            </a:r>
            <a:r>
              <a:rPr spc="-204" dirty="0"/>
              <a:t> </a:t>
            </a:r>
            <a:r>
              <a:rPr spc="-55" dirty="0"/>
              <a:t>Kafka</a:t>
            </a:r>
            <a:r>
              <a:rPr spc="-215" dirty="0"/>
              <a:t> </a:t>
            </a:r>
            <a:r>
              <a:rPr spc="-70" dirty="0"/>
              <a:t>Starts</a:t>
            </a:r>
            <a:r>
              <a:rPr spc="-225" dirty="0"/>
              <a:t> </a:t>
            </a:r>
            <a:r>
              <a:rPr spc="40" dirty="0"/>
              <a:t>to</a:t>
            </a:r>
            <a:r>
              <a:rPr spc="-210" dirty="0"/>
              <a:t> </a:t>
            </a:r>
            <a:r>
              <a:rPr spc="-50" dirty="0"/>
              <a:t>Differentiate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79014" y="5829804"/>
            <a:ext cx="7691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5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“A</a:t>
            </a:r>
            <a:r>
              <a:rPr sz="2400" spc="-114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0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high-throughput</a:t>
            </a:r>
            <a:r>
              <a:rPr sz="2400" spc="-90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distributed</a:t>
            </a:r>
            <a:r>
              <a:rPr sz="2400" spc="-105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0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messaging</a:t>
            </a:r>
            <a:r>
              <a:rPr sz="2400" spc="-125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14" dirty="0">
                <a:solidFill>
                  <a:srgbClr val="A62E5C"/>
                </a:solidFill>
                <a:latin typeface="Verdana" panose="020B0604030504040204"/>
                <a:cs typeface="Verdana" panose="020B0604030504040204"/>
              </a:rPr>
              <a:t>system.”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362555" y="1437763"/>
            <a:ext cx="9534525" cy="93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2300" algn="l"/>
              </a:tabLst>
            </a:pPr>
            <a:r>
              <a:rPr sz="1800" u="sng" spc="4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8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</a:t>
            </a:r>
            <a:r>
              <a:rPr sz="1800" u="sng" spc="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d</a:t>
            </a:r>
            <a:r>
              <a:rPr sz="1800" u="sng" spc="3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</a:t>
            </a:r>
            <a:r>
              <a:rPr sz="1800" u="sng" spc="5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-1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</a:t>
            </a:r>
            <a:r>
              <a:rPr sz="1800" u="sng" spc="-4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Verdana" panose="020B0604030504040204"/>
              <a:cs typeface="Verdana" panose="020B0604030504040204"/>
            </a:endParaRPr>
          </a:p>
          <a:p>
            <a:pPr marR="66040" algn="ctr">
              <a:lnSpc>
                <a:spcPct val="100000"/>
              </a:lnSpc>
            </a:pPr>
            <a:r>
              <a:rPr sz="2000" spc="12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L</a:t>
            </a:r>
            <a:r>
              <a:rPr sz="2000" spc="1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000" spc="-3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n</a:t>
            </a:r>
            <a:r>
              <a:rPr sz="2000" spc="-7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5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ed</a:t>
            </a:r>
            <a:r>
              <a:rPr sz="2000" spc="-21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000" spc="-3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n</a:t>
            </a:r>
            <a:r>
              <a:rPr sz="2000" spc="-35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:</a:t>
            </a:r>
            <a:r>
              <a:rPr sz="2000" spc="-9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4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1,</a:t>
            </a:r>
            <a:r>
              <a:rPr sz="2000" spc="14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400</a:t>
            </a:r>
            <a:r>
              <a:rPr sz="2000" spc="-10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-1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er</a:t>
            </a:r>
            <a:r>
              <a:rPr sz="2000" spc="-4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000" spc="-11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7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=&gt;</a:t>
            </a:r>
            <a:r>
              <a:rPr sz="2000" spc="-11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5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2</a:t>
            </a:r>
            <a:r>
              <a:rPr sz="2000" spc="-10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2000" spc="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et</a:t>
            </a:r>
            <a:r>
              <a:rPr sz="200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3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yt</a:t>
            </a:r>
            <a:r>
              <a:rPr sz="2000" spc="-1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es</a:t>
            </a:r>
            <a:r>
              <a:rPr sz="2000" spc="-9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8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2000" spc="-1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er</a:t>
            </a:r>
            <a:r>
              <a:rPr sz="2000" spc="-9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3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w</a:t>
            </a:r>
            <a:r>
              <a:rPr sz="200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eek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791075" y="2655189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5" h="1097279">
                <a:moveTo>
                  <a:pt x="1289303" y="0"/>
                </a:moveTo>
                <a:lnTo>
                  <a:pt x="0" y="0"/>
                </a:lnTo>
                <a:lnTo>
                  <a:pt x="0" y="1097280"/>
                </a:lnTo>
                <a:lnTo>
                  <a:pt x="1289303" y="1097280"/>
                </a:lnTo>
                <a:lnTo>
                  <a:pt x="1289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778502" y="2642616"/>
          <a:ext cx="2643505" cy="225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7305"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571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15900" algn="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571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9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7305"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08915" algn="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791075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5" h="1097279">
                <a:moveTo>
                  <a:pt x="1289303" y="0"/>
                </a:moveTo>
                <a:lnTo>
                  <a:pt x="0" y="0"/>
                </a:lnTo>
                <a:lnTo>
                  <a:pt x="0" y="1097279"/>
                </a:lnTo>
                <a:lnTo>
                  <a:pt x="1289303" y="1097279"/>
                </a:lnTo>
                <a:lnTo>
                  <a:pt x="1289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41339" y="2655189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1289304" y="0"/>
                </a:moveTo>
                <a:lnTo>
                  <a:pt x="0" y="0"/>
                </a:lnTo>
                <a:lnTo>
                  <a:pt x="0" y="1097280"/>
                </a:lnTo>
                <a:lnTo>
                  <a:pt x="1289304" y="1097280"/>
                </a:lnTo>
                <a:lnTo>
                  <a:pt x="12893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48196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1289303" y="0"/>
                </a:moveTo>
                <a:lnTo>
                  <a:pt x="0" y="0"/>
                </a:lnTo>
                <a:lnTo>
                  <a:pt x="0" y="1097279"/>
                </a:lnTo>
                <a:lnTo>
                  <a:pt x="1289303" y="1097279"/>
                </a:lnTo>
                <a:lnTo>
                  <a:pt x="1289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5378" y="4518659"/>
            <a:ext cx="182879" cy="36652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5378" y="3368040"/>
            <a:ext cx="182879" cy="36652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4446" y="4518659"/>
            <a:ext cx="182879" cy="36652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3684" y="3368040"/>
            <a:ext cx="182879" cy="366521"/>
          </a:xfrm>
          <a:prstGeom prst="rect">
            <a:avLst/>
          </a:prstGeom>
        </p:spPr>
      </p:pic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8820" y="51906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The</a:t>
            </a:r>
            <a:r>
              <a:rPr spc="-220" dirty="0"/>
              <a:t> </a:t>
            </a:r>
            <a:r>
              <a:rPr spc="80" dirty="0"/>
              <a:t>Apache</a:t>
            </a:r>
            <a:r>
              <a:rPr spc="-220" dirty="0"/>
              <a:t> </a:t>
            </a:r>
            <a:r>
              <a:rPr spc="-60" dirty="0"/>
              <a:t>Kafka</a:t>
            </a:r>
            <a:r>
              <a:rPr spc="-225" dirty="0"/>
              <a:t> </a:t>
            </a:r>
            <a:r>
              <a:rPr spc="-45" dirty="0"/>
              <a:t>Cluster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Producers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457" y="1437763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774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0"/>
                </a:moveTo>
                <a:lnTo>
                  <a:pt x="210312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32126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0" y="0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35935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0" y="535089"/>
                </a:moveTo>
                <a:lnTo>
                  <a:pt x="210312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8852" y="2756916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0"/>
                </a:moveTo>
                <a:lnTo>
                  <a:pt x="0" y="535089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48193" y="3766565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>
                <a:moveTo>
                  <a:pt x="210312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78852" y="4197860"/>
            <a:ext cx="2103120" cy="535305"/>
          </a:xfrm>
          <a:custGeom>
            <a:avLst/>
            <a:gdLst/>
            <a:ahLst/>
            <a:cxnLst/>
            <a:rect l="l" t="t" r="r" b="b"/>
            <a:pathLst>
              <a:path w="2103120" h="535304">
                <a:moveTo>
                  <a:pt x="2103120" y="535089"/>
                </a:moveTo>
                <a:lnTo>
                  <a:pt x="0" y="0"/>
                </a:lnTo>
              </a:path>
            </a:pathLst>
          </a:custGeom>
          <a:ln w="38100">
            <a:solidFill>
              <a:srgbClr val="8D8D8D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791075" y="2655189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5" h="1097279">
                <a:moveTo>
                  <a:pt x="0" y="0"/>
                </a:moveTo>
                <a:lnTo>
                  <a:pt x="1289303" y="0"/>
                </a:lnTo>
                <a:lnTo>
                  <a:pt x="1289303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97443" y="3028638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5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-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91075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5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97442" y="4181571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5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-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41339" y="2655189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0" y="0"/>
                </a:moveTo>
                <a:lnTo>
                  <a:pt x="1289304" y="0"/>
                </a:lnTo>
                <a:lnTo>
                  <a:pt x="1289304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47652" y="3028638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48196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54259" y="4181570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79720" y="1437763"/>
            <a:ext cx="8362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Cluster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51020" y="2318764"/>
            <a:ext cx="3488054" cy="2895600"/>
            <a:chOff x="4351020" y="2318764"/>
            <a:chExt cx="3488054" cy="2895600"/>
          </a:xfrm>
        </p:grpSpPr>
        <p:sp>
          <p:nvSpPr>
            <p:cNvPr id="27" name="object 27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3227946" y="0"/>
                  </a:moveTo>
                  <a:lnTo>
                    <a:pt x="221627" y="0"/>
                  </a:lnTo>
                  <a:lnTo>
                    <a:pt x="176961" y="4502"/>
                  </a:lnTo>
                  <a:lnTo>
                    <a:pt x="135359" y="17416"/>
                  </a:lnTo>
                  <a:lnTo>
                    <a:pt x="97713" y="37850"/>
                  </a:lnTo>
                  <a:lnTo>
                    <a:pt x="64912" y="64912"/>
                  </a:lnTo>
                  <a:lnTo>
                    <a:pt x="37850" y="97713"/>
                  </a:lnTo>
                  <a:lnTo>
                    <a:pt x="17416" y="135359"/>
                  </a:lnTo>
                  <a:lnTo>
                    <a:pt x="4502" y="176961"/>
                  </a:lnTo>
                  <a:lnTo>
                    <a:pt x="0" y="221627"/>
                  </a:lnTo>
                  <a:lnTo>
                    <a:pt x="0" y="2635872"/>
                  </a:lnTo>
                  <a:lnTo>
                    <a:pt x="4502" y="2680538"/>
                  </a:lnTo>
                  <a:lnTo>
                    <a:pt x="17416" y="2722140"/>
                  </a:lnTo>
                  <a:lnTo>
                    <a:pt x="37850" y="2759786"/>
                  </a:lnTo>
                  <a:lnTo>
                    <a:pt x="64912" y="2792587"/>
                  </a:lnTo>
                  <a:lnTo>
                    <a:pt x="97713" y="2819649"/>
                  </a:lnTo>
                  <a:lnTo>
                    <a:pt x="135359" y="2840083"/>
                  </a:lnTo>
                  <a:lnTo>
                    <a:pt x="176961" y="2852997"/>
                  </a:lnTo>
                  <a:lnTo>
                    <a:pt x="221627" y="2857500"/>
                  </a:lnTo>
                  <a:lnTo>
                    <a:pt x="3227946" y="2857500"/>
                  </a:lnTo>
                  <a:lnTo>
                    <a:pt x="3272612" y="2852997"/>
                  </a:lnTo>
                  <a:lnTo>
                    <a:pt x="3314214" y="2840083"/>
                  </a:lnTo>
                  <a:lnTo>
                    <a:pt x="3351860" y="2819649"/>
                  </a:lnTo>
                  <a:lnTo>
                    <a:pt x="3384661" y="2792587"/>
                  </a:lnTo>
                  <a:lnTo>
                    <a:pt x="3411723" y="2759786"/>
                  </a:lnTo>
                  <a:lnTo>
                    <a:pt x="3432157" y="2722140"/>
                  </a:lnTo>
                  <a:lnTo>
                    <a:pt x="3445071" y="2680538"/>
                  </a:lnTo>
                  <a:lnTo>
                    <a:pt x="3449574" y="2635872"/>
                  </a:lnTo>
                  <a:lnTo>
                    <a:pt x="3449574" y="221627"/>
                  </a:lnTo>
                  <a:lnTo>
                    <a:pt x="3445071" y="176961"/>
                  </a:lnTo>
                  <a:lnTo>
                    <a:pt x="3432157" y="135359"/>
                  </a:lnTo>
                  <a:lnTo>
                    <a:pt x="3411723" y="97713"/>
                  </a:lnTo>
                  <a:lnTo>
                    <a:pt x="3384661" y="64912"/>
                  </a:lnTo>
                  <a:lnTo>
                    <a:pt x="3351860" y="37850"/>
                  </a:lnTo>
                  <a:lnTo>
                    <a:pt x="3314214" y="17416"/>
                  </a:lnTo>
                  <a:lnTo>
                    <a:pt x="3272612" y="4502"/>
                  </a:lnTo>
                  <a:lnTo>
                    <a:pt x="3227946" y="0"/>
                  </a:lnTo>
                  <a:close/>
                </a:path>
              </a:pathLst>
            </a:custGeom>
            <a:solidFill>
              <a:srgbClr val="DADAD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0" y="221627"/>
                  </a:moveTo>
                  <a:lnTo>
                    <a:pt x="4502" y="176961"/>
                  </a:lnTo>
                  <a:lnTo>
                    <a:pt x="17416" y="135359"/>
                  </a:lnTo>
                  <a:lnTo>
                    <a:pt x="37850" y="97713"/>
                  </a:lnTo>
                  <a:lnTo>
                    <a:pt x="64912" y="64912"/>
                  </a:lnTo>
                  <a:lnTo>
                    <a:pt x="97713" y="37850"/>
                  </a:lnTo>
                  <a:lnTo>
                    <a:pt x="135359" y="17416"/>
                  </a:lnTo>
                  <a:lnTo>
                    <a:pt x="176961" y="4502"/>
                  </a:lnTo>
                  <a:lnTo>
                    <a:pt x="221627" y="0"/>
                  </a:lnTo>
                  <a:lnTo>
                    <a:pt x="3227946" y="0"/>
                  </a:lnTo>
                  <a:lnTo>
                    <a:pt x="3272612" y="4502"/>
                  </a:lnTo>
                  <a:lnTo>
                    <a:pt x="3314214" y="17416"/>
                  </a:lnTo>
                  <a:lnTo>
                    <a:pt x="3351860" y="37850"/>
                  </a:lnTo>
                  <a:lnTo>
                    <a:pt x="3384661" y="64912"/>
                  </a:lnTo>
                  <a:lnTo>
                    <a:pt x="3411723" y="97713"/>
                  </a:lnTo>
                  <a:lnTo>
                    <a:pt x="3432157" y="135359"/>
                  </a:lnTo>
                  <a:lnTo>
                    <a:pt x="3445071" y="176961"/>
                  </a:lnTo>
                  <a:lnTo>
                    <a:pt x="3449574" y="221627"/>
                  </a:lnTo>
                  <a:lnTo>
                    <a:pt x="3449574" y="2635872"/>
                  </a:lnTo>
                  <a:lnTo>
                    <a:pt x="3445071" y="2680538"/>
                  </a:lnTo>
                  <a:lnTo>
                    <a:pt x="3432157" y="2722140"/>
                  </a:lnTo>
                  <a:lnTo>
                    <a:pt x="3411723" y="2759786"/>
                  </a:lnTo>
                  <a:lnTo>
                    <a:pt x="3384661" y="2792587"/>
                  </a:lnTo>
                  <a:lnTo>
                    <a:pt x="3351860" y="2819649"/>
                  </a:lnTo>
                  <a:lnTo>
                    <a:pt x="3314214" y="2840083"/>
                  </a:lnTo>
                  <a:lnTo>
                    <a:pt x="3272612" y="2852997"/>
                  </a:lnTo>
                  <a:lnTo>
                    <a:pt x="3227946" y="2857500"/>
                  </a:lnTo>
                  <a:lnTo>
                    <a:pt x="221627" y="2857500"/>
                  </a:lnTo>
                  <a:lnTo>
                    <a:pt x="176961" y="2852997"/>
                  </a:lnTo>
                  <a:lnTo>
                    <a:pt x="135359" y="2840083"/>
                  </a:lnTo>
                  <a:lnTo>
                    <a:pt x="97713" y="2819649"/>
                  </a:lnTo>
                  <a:lnTo>
                    <a:pt x="64912" y="2792587"/>
                  </a:lnTo>
                  <a:lnTo>
                    <a:pt x="37850" y="2759786"/>
                  </a:lnTo>
                  <a:lnTo>
                    <a:pt x="17416" y="2722140"/>
                  </a:lnTo>
                  <a:lnTo>
                    <a:pt x="4502" y="2680538"/>
                  </a:lnTo>
                  <a:lnTo>
                    <a:pt x="0" y="2635872"/>
                  </a:lnTo>
                  <a:lnTo>
                    <a:pt x="0" y="221627"/>
                  </a:lnTo>
                  <a:close/>
                </a:path>
              </a:pathLst>
            </a:custGeom>
            <a:ln w="38100">
              <a:solidFill>
                <a:srgbClr val="B4B5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8820" y="51906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The</a:t>
            </a:r>
            <a:r>
              <a:rPr spc="-220" dirty="0"/>
              <a:t> </a:t>
            </a:r>
            <a:r>
              <a:rPr spc="80" dirty="0"/>
              <a:t>Apache</a:t>
            </a:r>
            <a:r>
              <a:rPr spc="-220" dirty="0"/>
              <a:t> </a:t>
            </a:r>
            <a:r>
              <a:rPr spc="-60" dirty="0"/>
              <a:t>Kafka</a:t>
            </a:r>
            <a:r>
              <a:rPr spc="-225" dirty="0"/>
              <a:t> </a:t>
            </a:r>
            <a:r>
              <a:rPr spc="-45" dirty="0"/>
              <a:t>Cluster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Producers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457" y="1437763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8692" y="2642489"/>
            <a:ext cx="7282180" cy="2110105"/>
            <a:chOff x="2488692" y="2642489"/>
            <a:chExt cx="7282180" cy="2110105"/>
          </a:xfrm>
        </p:grpSpPr>
        <p:sp>
          <p:nvSpPr>
            <p:cNvPr id="6" name="object 6"/>
            <p:cNvSpPr/>
            <p:nvPr/>
          </p:nvSpPr>
          <p:spPr>
            <a:xfrm>
              <a:off x="2507742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2126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8851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0"/>
                  </a:moveTo>
                  <a:lnTo>
                    <a:pt x="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48194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210312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8851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5350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1338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4" h="1097279">
                  <a:moveTo>
                    <a:pt x="0" y="0"/>
                  </a:moveTo>
                  <a:lnTo>
                    <a:pt x="1289304" y="0"/>
                  </a:lnTo>
                  <a:lnTo>
                    <a:pt x="1289304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347652" y="3028638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91075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5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997442" y="4181571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5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-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48196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54259" y="4181570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72862" y="1437763"/>
            <a:ext cx="84328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350">
              <a:lnSpc>
                <a:spcPct val="103000"/>
              </a:lnSpc>
              <a:spcBef>
                <a:spcPts val="25"/>
              </a:spcBef>
              <a:tabLst>
                <a:tab pos="736600" algn="l"/>
              </a:tabLst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Clu</a:t>
            </a:r>
            <a:r>
              <a:rPr sz="1800" u="sng" spc="-6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t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2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 </a:t>
            </a:r>
            <a:r>
              <a:rPr sz="1800" spc="-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spc="-12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700" spc="3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z</a:t>
            </a:r>
            <a:r>
              <a:rPr sz="2700" spc="52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spc="-48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: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spc="-434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1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51020" y="2318764"/>
            <a:ext cx="3488054" cy="2895600"/>
            <a:chOff x="4351020" y="2318764"/>
            <a:chExt cx="3488054" cy="2895600"/>
          </a:xfrm>
        </p:grpSpPr>
        <p:sp>
          <p:nvSpPr>
            <p:cNvPr id="26" name="object 26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3227946" y="0"/>
                  </a:moveTo>
                  <a:lnTo>
                    <a:pt x="221627" y="0"/>
                  </a:lnTo>
                  <a:lnTo>
                    <a:pt x="176961" y="4502"/>
                  </a:lnTo>
                  <a:lnTo>
                    <a:pt x="135359" y="17416"/>
                  </a:lnTo>
                  <a:lnTo>
                    <a:pt x="97713" y="37850"/>
                  </a:lnTo>
                  <a:lnTo>
                    <a:pt x="64912" y="64912"/>
                  </a:lnTo>
                  <a:lnTo>
                    <a:pt x="37850" y="97713"/>
                  </a:lnTo>
                  <a:lnTo>
                    <a:pt x="17416" y="135359"/>
                  </a:lnTo>
                  <a:lnTo>
                    <a:pt x="4502" y="176961"/>
                  </a:lnTo>
                  <a:lnTo>
                    <a:pt x="0" y="221627"/>
                  </a:lnTo>
                  <a:lnTo>
                    <a:pt x="0" y="2635872"/>
                  </a:lnTo>
                  <a:lnTo>
                    <a:pt x="4502" y="2680538"/>
                  </a:lnTo>
                  <a:lnTo>
                    <a:pt x="17416" y="2722140"/>
                  </a:lnTo>
                  <a:lnTo>
                    <a:pt x="37850" y="2759786"/>
                  </a:lnTo>
                  <a:lnTo>
                    <a:pt x="64912" y="2792587"/>
                  </a:lnTo>
                  <a:lnTo>
                    <a:pt x="97713" y="2819649"/>
                  </a:lnTo>
                  <a:lnTo>
                    <a:pt x="135359" y="2840083"/>
                  </a:lnTo>
                  <a:lnTo>
                    <a:pt x="176961" y="2852997"/>
                  </a:lnTo>
                  <a:lnTo>
                    <a:pt x="221627" y="2857500"/>
                  </a:lnTo>
                  <a:lnTo>
                    <a:pt x="3227946" y="2857500"/>
                  </a:lnTo>
                  <a:lnTo>
                    <a:pt x="3272612" y="2852997"/>
                  </a:lnTo>
                  <a:lnTo>
                    <a:pt x="3314214" y="2840083"/>
                  </a:lnTo>
                  <a:lnTo>
                    <a:pt x="3351860" y="2819649"/>
                  </a:lnTo>
                  <a:lnTo>
                    <a:pt x="3384661" y="2792587"/>
                  </a:lnTo>
                  <a:lnTo>
                    <a:pt x="3411723" y="2759786"/>
                  </a:lnTo>
                  <a:lnTo>
                    <a:pt x="3432157" y="2722140"/>
                  </a:lnTo>
                  <a:lnTo>
                    <a:pt x="3445071" y="2680538"/>
                  </a:lnTo>
                  <a:lnTo>
                    <a:pt x="3449574" y="2635872"/>
                  </a:lnTo>
                  <a:lnTo>
                    <a:pt x="3449574" y="221627"/>
                  </a:lnTo>
                  <a:lnTo>
                    <a:pt x="3445071" y="176961"/>
                  </a:lnTo>
                  <a:lnTo>
                    <a:pt x="3432157" y="135359"/>
                  </a:lnTo>
                  <a:lnTo>
                    <a:pt x="3411723" y="97713"/>
                  </a:lnTo>
                  <a:lnTo>
                    <a:pt x="3384661" y="64912"/>
                  </a:lnTo>
                  <a:lnTo>
                    <a:pt x="3351860" y="37850"/>
                  </a:lnTo>
                  <a:lnTo>
                    <a:pt x="3314214" y="17416"/>
                  </a:lnTo>
                  <a:lnTo>
                    <a:pt x="3272612" y="4502"/>
                  </a:lnTo>
                  <a:lnTo>
                    <a:pt x="3227946" y="0"/>
                  </a:lnTo>
                  <a:close/>
                </a:path>
              </a:pathLst>
            </a:custGeom>
            <a:solidFill>
              <a:srgbClr val="DADAD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0" y="221627"/>
                  </a:moveTo>
                  <a:lnTo>
                    <a:pt x="4502" y="176961"/>
                  </a:lnTo>
                  <a:lnTo>
                    <a:pt x="17416" y="135359"/>
                  </a:lnTo>
                  <a:lnTo>
                    <a:pt x="37850" y="97713"/>
                  </a:lnTo>
                  <a:lnTo>
                    <a:pt x="64912" y="64912"/>
                  </a:lnTo>
                  <a:lnTo>
                    <a:pt x="97713" y="37850"/>
                  </a:lnTo>
                  <a:lnTo>
                    <a:pt x="135359" y="17416"/>
                  </a:lnTo>
                  <a:lnTo>
                    <a:pt x="176961" y="4502"/>
                  </a:lnTo>
                  <a:lnTo>
                    <a:pt x="221627" y="0"/>
                  </a:lnTo>
                  <a:lnTo>
                    <a:pt x="3227946" y="0"/>
                  </a:lnTo>
                  <a:lnTo>
                    <a:pt x="3272612" y="4502"/>
                  </a:lnTo>
                  <a:lnTo>
                    <a:pt x="3314214" y="17416"/>
                  </a:lnTo>
                  <a:lnTo>
                    <a:pt x="3351860" y="37850"/>
                  </a:lnTo>
                  <a:lnTo>
                    <a:pt x="3384661" y="64912"/>
                  </a:lnTo>
                  <a:lnTo>
                    <a:pt x="3411723" y="97713"/>
                  </a:lnTo>
                  <a:lnTo>
                    <a:pt x="3432157" y="135359"/>
                  </a:lnTo>
                  <a:lnTo>
                    <a:pt x="3445071" y="176961"/>
                  </a:lnTo>
                  <a:lnTo>
                    <a:pt x="3449574" y="221627"/>
                  </a:lnTo>
                  <a:lnTo>
                    <a:pt x="3449574" y="2635872"/>
                  </a:lnTo>
                  <a:lnTo>
                    <a:pt x="3445071" y="2680538"/>
                  </a:lnTo>
                  <a:lnTo>
                    <a:pt x="3432157" y="2722140"/>
                  </a:lnTo>
                  <a:lnTo>
                    <a:pt x="3411723" y="2759786"/>
                  </a:lnTo>
                  <a:lnTo>
                    <a:pt x="3384661" y="2792587"/>
                  </a:lnTo>
                  <a:lnTo>
                    <a:pt x="3351860" y="2819649"/>
                  </a:lnTo>
                  <a:lnTo>
                    <a:pt x="3314214" y="2840083"/>
                  </a:lnTo>
                  <a:lnTo>
                    <a:pt x="3272612" y="2852997"/>
                  </a:lnTo>
                  <a:lnTo>
                    <a:pt x="3227946" y="2857500"/>
                  </a:lnTo>
                  <a:lnTo>
                    <a:pt x="221627" y="2857500"/>
                  </a:lnTo>
                  <a:lnTo>
                    <a:pt x="176961" y="2852997"/>
                  </a:lnTo>
                  <a:lnTo>
                    <a:pt x="135359" y="2840083"/>
                  </a:lnTo>
                  <a:lnTo>
                    <a:pt x="97713" y="2819649"/>
                  </a:lnTo>
                  <a:lnTo>
                    <a:pt x="64912" y="2792587"/>
                  </a:lnTo>
                  <a:lnTo>
                    <a:pt x="37850" y="2759786"/>
                  </a:lnTo>
                  <a:lnTo>
                    <a:pt x="17416" y="2722140"/>
                  </a:lnTo>
                  <a:lnTo>
                    <a:pt x="4502" y="2680538"/>
                  </a:lnTo>
                  <a:lnTo>
                    <a:pt x="0" y="2635872"/>
                  </a:lnTo>
                  <a:lnTo>
                    <a:pt x="0" y="221627"/>
                  </a:lnTo>
                  <a:close/>
                </a:path>
              </a:pathLst>
            </a:custGeom>
            <a:ln w="38100">
              <a:solidFill>
                <a:srgbClr val="B4B5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791075" y="2655189"/>
            <a:ext cx="1289685" cy="1097280"/>
          </a:xfrm>
          <a:prstGeom prst="rect">
            <a:avLst/>
          </a:prstGeom>
          <a:solidFill>
            <a:srgbClr val="FFFFFF"/>
          </a:solidFill>
          <a:ln w="25146">
            <a:solidFill>
              <a:srgbClr val="3E3E3E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18440">
              <a:lnSpc>
                <a:spcPct val="100000"/>
              </a:lnSpc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8820" y="51906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The</a:t>
            </a:r>
            <a:r>
              <a:rPr spc="-220" dirty="0"/>
              <a:t> </a:t>
            </a:r>
            <a:r>
              <a:rPr spc="80" dirty="0"/>
              <a:t>Apache</a:t>
            </a:r>
            <a:r>
              <a:rPr spc="-220" dirty="0"/>
              <a:t> </a:t>
            </a:r>
            <a:r>
              <a:rPr spc="-60" dirty="0"/>
              <a:t>Kafka</a:t>
            </a:r>
            <a:r>
              <a:rPr spc="-225" dirty="0"/>
              <a:t> </a:t>
            </a:r>
            <a:r>
              <a:rPr spc="-45" dirty="0"/>
              <a:t>Cluster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Producers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457" y="1437763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8692" y="2642489"/>
            <a:ext cx="7282180" cy="2110105"/>
            <a:chOff x="2488692" y="2642489"/>
            <a:chExt cx="7282180" cy="2110105"/>
          </a:xfrm>
        </p:grpSpPr>
        <p:sp>
          <p:nvSpPr>
            <p:cNvPr id="6" name="object 6"/>
            <p:cNvSpPr/>
            <p:nvPr/>
          </p:nvSpPr>
          <p:spPr>
            <a:xfrm>
              <a:off x="2507742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2126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8851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0"/>
                  </a:moveTo>
                  <a:lnTo>
                    <a:pt x="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48194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210312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8851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5350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1338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4" h="1097279">
                  <a:moveTo>
                    <a:pt x="0" y="0"/>
                  </a:moveTo>
                  <a:lnTo>
                    <a:pt x="1289304" y="0"/>
                  </a:lnTo>
                  <a:lnTo>
                    <a:pt x="1289304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347652" y="3028638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48196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54259" y="4181570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72862" y="1437763"/>
            <a:ext cx="889635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350">
              <a:lnSpc>
                <a:spcPct val="103000"/>
              </a:lnSpc>
              <a:spcBef>
                <a:spcPts val="25"/>
              </a:spcBef>
              <a:tabLst>
                <a:tab pos="736600" algn="l"/>
              </a:tabLst>
            </a:pP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Cluster </a:t>
            </a:r>
            <a:r>
              <a:rPr sz="1800" spc="-6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spc="-12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700" spc="3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z</a:t>
            </a:r>
            <a:r>
              <a:rPr sz="2700" spc="52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spc="-48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: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spc="-4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2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51020" y="2318764"/>
            <a:ext cx="3488054" cy="2895600"/>
            <a:chOff x="4351020" y="2318764"/>
            <a:chExt cx="3488054" cy="2895600"/>
          </a:xfrm>
        </p:grpSpPr>
        <p:sp>
          <p:nvSpPr>
            <p:cNvPr id="24" name="object 24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3227946" y="0"/>
                  </a:moveTo>
                  <a:lnTo>
                    <a:pt x="221627" y="0"/>
                  </a:lnTo>
                  <a:lnTo>
                    <a:pt x="176961" y="4502"/>
                  </a:lnTo>
                  <a:lnTo>
                    <a:pt x="135359" y="17416"/>
                  </a:lnTo>
                  <a:lnTo>
                    <a:pt x="97713" y="37850"/>
                  </a:lnTo>
                  <a:lnTo>
                    <a:pt x="64912" y="64912"/>
                  </a:lnTo>
                  <a:lnTo>
                    <a:pt x="37850" y="97713"/>
                  </a:lnTo>
                  <a:lnTo>
                    <a:pt x="17416" y="135359"/>
                  </a:lnTo>
                  <a:lnTo>
                    <a:pt x="4502" y="176961"/>
                  </a:lnTo>
                  <a:lnTo>
                    <a:pt x="0" y="221627"/>
                  </a:lnTo>
                  <a:lnTo>
                    <a:pt x="0" y="2635872"/>
                  </a:lnTo>
                  <a:lnTo>
                    <a:pt x="4502" y="2680538"/>
                  </a:lnTo>
                  <a:lnTo>
                    <a:pt x="17416" y="2722140"/>
                  </a:lnTo>
                  <a:lnTo>
                    <a:pt x="37850" y="2759786"/>
                  </a:lnTo>
                  <a:lnTo>
                    <a:pt x="64912" y="2792587"/>
                  </a:lnTo>
                  <a:lnTo>
                    <a:pt x="97713" y="2819649"/>
                  </a:lnTo>
                  <a:lnTo>
                    <a:pt x="135359" y="2840083"/>
                  </a:lnTo>
                  <a:lnTo>
                    <a:pt x="176961" y="2852997"/>
                  </a:lnTo>
                  <a:lnTo>
                    <a:pt x="221627" y="2857500"/>
                  </a:lnTo>
                  <a:lnTo>
                    <a:pt x="3227946" y="2857500"/>
                  </a:lnTo>
                  <a:lnTo>
                    <a:pt x="3272612" y="2852997"/>
                  </a:lnTo>
                  <a:lnTo>
                    <a:pt x="3314214" y="2840083"/>
                  </a:lnTo>
                  <a:lnTo>
                    <a:pt x="3351860" y="2819649"/>
                  </a:lnTo>
                  <a:lnTo>
                    <a:pt x="3384661" y="2792587"/>
                  </a:lnTo>
                  <a:lnTo>
                    <a:pt x="3411723" y="2759786"/>
                  </a:lnTo>
                  <a:lnTo>
                    <a:pt x="3432157" y="2722140"/>
                  </a:lnTo>
                  <a:lnTo>
                    <a:pt x="3445071" y="2680538"/>
                  </a:lnTo>
                  <a:lnTo>
                    <a:pt x="3449574" y="2635872"/>
                  </a:lnTo>
                  <a:lnTo>
                    <a:pt x="3449574" y="221627"/>
                  </a:lnTo>
                  <a:lnTo>
                    <a:pt x="3445071" y="176961"/>
                  </a:lnTo>
                  <a:lnTo>
                    <a:pt x="3432157" y="135359"/>
                  </a:lnTo>
                  <a:lnTo>
                    <a:pt x="3411723" y="97713"/>
                  </a:lnTo>
                  <a:lnTo>
                    <a:pt x="3384661" y="64912"/>
                  </a:lnTo>
                  <a:lnTo>
                    <a:pt x="3351860" y="37850"/>
                  </a:lnTo>
                  <a:lnTo>
                    <a:pt x="3314214" y="17416"/>
                  </a:lnTo>
                  <a:lnTo>
                    <a:pt x="3272612" y="4502"/>
                  </a:lnTo>
                  <a:lnTo>
                    <a:pt x="3227946" y="0"/>
                  </a:lnTo>
                  <a:close/>
                </a:path>
              </a:pathLst>
            </a:custGeom>
            <a:solidFill>
              <a:srgbClr val="DADAD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0" y="221627"/>
                  </a:moveTo>
                  <a:lnTo>
                    <a:pt x="4502" y="176961"/>
                  </a:lnTo>
                  <a:lnTo>
                    <a:pt x="17416" y="135359"/>
                  </a:lnTo>
                  <a:lnTo>
                    <a:pt x="37850" y="97713"/>
                  </a:lnTo>
                  <a:lnTo>
                    <a:pt x="64912" y="64912"/>
                  </a:lnTo>
                  <a:lnTo>
                    <a:pt x="97713" y="37850"/>
                  </a:lnTo>
                  <a:lnTo>
                    <a:pt x="135359" y="17416"/>
                  </a:lnTo>
                  <a:lnTo>
                    <a:pt x="176961" y="4502"/>
                  </a:lnTo>
                  <a:lnTo>
                    <a:pt x="221627" y="0"/>
                  </a:lnTo>
                  <a:lnTo>
                    <a:pt x="3227946" y="0"/>
                  </a:lnTo>
                  <a:lnTo>
                    <a:pt x="3272612" y="4502"/>
                  </a:lnTo>
                  <a:lnTo>
                    <a:pt x="3314214" y="17416"/>
                  </a:lnTo>
                  <a:lnTo>
                    <a:pt x="3351860" y="37850"/>
                  </a:lnTo>
                  <a:lnTo>
                    <a:pt x="3384661" y="64912"/>
                  </a:lnTo>
                  <a:lnTo>
                    <a:pt x="3411723" y="97713"/>
                  </a:lnTo>
                  <a:lnTo>
                    <a:pt x="3432157" y="135359"/>
                  </a:lnTo>
                  <a:lnTo>
                    <a:pt x="3445071" y="176961"/>
                  </a:lnTo>
                  <a:lnTo>
                    <a:pt x="3449574" y="221627"/>
                  </a:lnTo>
                  <a:lnTo>
                    <a:pt x="3449574" y="2635872"/>
                  </a:lnTo>
                  <a:lnTo>
                    <a:pt x="3445071" y="2680538"/>
                  </a:lnTo>
                  <a:lnTo>
                    <a:pt x="3432157" y="2722140"/>
                  </a:lnTo>
                  <a:lnTo>
                    <a:pt x="3411723" y="2759786"/>
                  </a:lnTo>
                  <a:lnTo>
                    <a:pt x="3384661" y="2792587"/>
                  </a:lnTo>
                  <a:lnTo>
                    <a:pt x="3351860" y="2819649"/>
                  </a:lnTo>
                  <a:lnTo>
                    <a:pt x="3314214" y="2840083"/>
                  </a:lnTo>
                  <a:lnTo>
                    <a:pt x="3272612" y="2852997"/>
                  </a:lnTo>
                  <a:lnTo>
                    <a:pt x="3227946" y="2857500"/>
                  </a:lnTo>
                  <a:lnTo>
                    <a:pt x="221627" y="2857500"/>
                  </a:lnTo>
                  <a:lnTo>
                    <a:pt x="176961" y="2852997"/>
                  </a:lnTo>
                  <a:lnTo>
                    <a:pt x="135359" y="2840083"/>
                  </a:lnTo>
                  <a:lnTo>
                    <a:pt x="97713" y="2819649"/>
                  </a:lnTo>
                  <a:lnTo>
                    <a:pt x="64912" y="2792587"/>
                  </a:lnTo>
                  <a:lnTo>
                    <a:pt x="37850" y="2759786"/>
                  </a:lnTo>
                  <a:lnTo>
                    <a:pt x="17416" y="2722140"/>
                  </a:lnTo>
                  <a:lnTo>
                    <a:pt x="4502" y="2680538"/>
                  </a:lnTo>
                  <a:lnTo>
                    <a:pt x="0" y="2635872"/>
                  </a:lnTo>
                  <a:lnTo>
                    <a:pt x="0" y="221627"/>
                  </a:lnTo>
                  <a:close/>
                </a:path>
              </a:pathLst>
            </a:custGeom>
            <a:ln w="38100">
              <a:solidFill>
                <a:srgbClr val="B4B5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91075" y="3808094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1289303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89303" y="1097279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91075" y="3808094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0" y="0"/>
                  </a:moveTo>
                  <a:lnTo>
                    <a:pt x="1289303" y="0"/>
                  </a:lnTo>
                  <a:lnTo>
                    <a:pt x="1289303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03647" y="4181571"/>
            <a:ext cx="12642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8502" y="2642616"/>
            <a:ext cx="1314450" cy="1122680"/>
            <a:chOff x="4778502" y="2642616"/>
            <a:chExt cx="1314450" cy="1122680"/>
          </a:xfrm>
        </p:grpSpPr>
        <p:sp>
          <p:nvSpPr>
            <p:cNvPr id="30" name="object 30"/>
            <p:cNvSpPr/>
            <p:nvPr/>
          </p:nvSpPr>
          <p:spPr>
            <a:xfrm>
              <a:off x="4791075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1289303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289303" y="109728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91075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0" y="0"/>
                  </a:moveTo>
                  <a:lnTo>
                    <a:pt x="1289303" y="0"/>
                  </a:lnTo>
                  <a:lnTo>
                    <a:pt x="1289303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03647" y="3028638"/>
            <a:ext cx="12642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5479" y="3509771"/>
            <a:ext cx="274320" cy="550163"/>
          </a:xfrm>
          <a:prstGeom prst="rect">
            <a:avLst/>
          </a:prstGeom>
        </p:spPr>
      </p:pic>
      <p:sp>
        <p:nvSpPr>
          <p:cNvPr id="34" name="Slide Number Placeholder 3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8820" y="51906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The</a:t>
            </a:r>
            <a:r>
              <a:rPr spc="-220" dirty="0"/>
              <a:t> </a:t>
            </a:r>
            <a:r>
              <a:rPr spc="80" dirty="0"/>
              <a:t>Apache</a:t>
            </a:r>
            <a:r>
              <a:rPr spc="-220" dirty="0"/>
              <a:t> </a:t>
            </a:r>
            <a:r>
              <a:rPr spc="-60" dirty="0"/>
              <a:t>Kafka</a:t>
            </a:r>
            <a:r>
              <a:rPr spc="-225" dirty="0"/>
              <a:t> </a:t>
            </a:r>
            <a:r>
              <a:rPr spc="-45" dirty="0"/>
              <a:t>Cluster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555" y="1437763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Producers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457" y="1437763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88692" y="2642489"/>
            <a:ext cx="7282180" cy="2110105"/>
            <a:chOff x="2488692" y="2642489"/>
            <a:chExt cx="7282180" cy="2110105"/>
          </a:xfrm>
        </p:grpSpPr>
        <p:sp>
          <p:nvSpPr>
            <p:cNvPr id="6" name="object 6"/>
            <p:cNvSpPr/>
            <p:nvPr/>
          </p:nvSpPr>
          <p:spPr>
            <a:xfrm>
              <a:off x="2507742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2126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78851" y="2756916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0"/>
                  </a:moveTo>
                  <a:lnTo>
                    <a:pt x="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48194" y="3766566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210312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78851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5350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1338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4" h="1097279">
                  <a:moveTo>
                    <a:pt x="0" y="0"/>
                  </a:moveTo>
                  <a:lnTo>
                    <a:pt x="1289304" y="0"/>
                  </a:lnTo>
                  <a:lnTo>
                    <a:pt x="1289304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23" y="4488941"/>
            <a:ext cx="586739" cy="69722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347652" y="3028638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48196" y="3808095"/>
            <a:ext cx="1289685" cy="1097280"/>
          </a:xfrm>
          <a:custGeom>
            <a:avLst/>
            <a:gdLst/>
            <a:ahLst/>
            <a:cxnLst/>
            <a:rect l="l" t="t" r="r" b="b"/>
            <a:pathLst>
              <a:path w="1289684" h="1097279">
                <a:moveTo>
                  <a:pt x="0" y="0"/>
                </a:moveTo>
                <a:lnTo>
                  <a:pt x="1289303" y="0"/>
                </a:lnTo>
                <a:lnTo>
                  <a:pt x="1289303" y="1097279"/>
                </a:lnTo>
                <a:lnTo>
                  <a:pt x="0" y="1097279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54259" y="4181570"/>
            <a:ext cx="875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000" spc="-6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000" spc="-7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k</a:t>
            </a:r>
            <a:r>
              <a:rPr sz="2000" spc="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72862" y="1437763"/>
            <a:ext cx="889635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350">
              <a:lnSpc>
                <a:spcPct val="103000"/>
              </a:lnSpc>
              <a:spcBef>
                <a:spcPts val="25"/>
              </a:spcBef>
              <a:tabLst>
                <a:tab pos="736600" algn="l"/>
              </a:tabLst>
            </a:pPr>
            <a:r>
              <a:rPr sz="1800" u="sng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Cluster </a:t>
            </a:r>
            <a:r>
              <a:rPr sz="1800" spc="-6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spc="-12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700" spc="3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z</a:t>
            </a:r>
            <a:r>
              <a:rPr sz="2700" spc="52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spc="-48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: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spc="-45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2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51020" y="2318764"/>
            <a:ext cx="3488054" cy="2895600"/>
            <a:chOff x="4351020" y="2318764"/>
            <a:chExt cx="3488054" cy="2895600"/>
          </a:xfrm>
        </p:grpSpPr>
        <p:sp>
          <p:nvSpPr>
            <p:cNvPr id="24" name="object 24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3227946" y="0"/>
                  </a:moveTo>
                  <a:lnTo>
                    <a:pt x="221627" y="0"/>
                  </a:lnTo>
                  <a:lnTo>
                    <a:pt x="176961" y="4502"/>
                  </a:lnTo>
                  <a:lnTo>
                    <a:pt x="135359" y="17416"/>
                  </a:lnTo>
                  <a:lnTo>
                    <a:pt x="97713" y="37850"/>
                  </a:lnTo>
                  <a:lnTo>
                    <a:pt x="64912" y="64912"/>
                  </a:lnTo>
                  <a:lnTo>
                    <a:pt x="37850" y="97713"/>
                  </a:lnTo>
                  <a:lnTo>
                    <a:pt x="17416" y="135359"/>
                  </a:lnTo>
                  <a:lnTo>
                    <a:pt x="4502" y="176961"/>
                  </a:lnTo>
                  <a:lnTo>
                    <a:pt x="0" y="221627"/>
                  </a:lnTo>
                  <a:lnTo>
                    <a:pt x="0" y="2635872"/>
                  </a:lnTo>
                  <a:lnTo>
                    <a:pt x="4502" y="2680538"/>
                  </a:lnTo>
                  <a:lnTo>
                    <a:pt x="17416" y="2722140"/>
                  </a:lnTo>
                  <a:lnTo>
                    <a:pt x="37850" y="2759786"/>
                  </a:lnTo>
                  <a:lnTo>
                    <a:pt x="64912" y="2792587"/>
                  </a:lnTo>
                  <a:lnTo>
                    <a:pt x="97713" y="2819649"/>
                  </a:lnTo>
                  <a:lnTo>
                    <a:pt x="135359" y="2840083"/>
                  </a:lnTo>
                  <a:lnTo>
                    <a:pt x="176961" y="2852997"/>
                  </a:lnTo>
                  <a:lnTo>
                    <a:pt x="221627" y="2857500"/>
                  </a:lnTo>
                  <a:lnTo>
                    <a:pt x="3227946" y="2857500"/>
                  </a:lnTo>
                  <a:lnTo>
                    <a:pt x="3272612" y="2852997"/>
                  </a:lnTo>
                  <a:lnTo>
                    <a:pt x="3314214" y="2840083"/>
                  </a:lnTo>
                  <a:lnTo>
                    <a:pt x="3351860" y="2819649"/>
                  </a:lnTo>
                  <a:lnTo>
                    <a:pt x="3384661" y="2792587"/>
                  </a:lnTo>
                  <a:lnTo>
                    <a:pt x="3411723" y="2759786"/>
                  </a:lnTo>
                  <a:lnTo>
                    <a:pt x="3432157" y="2722140"/>
                  </a:lnTo>
                  <a:lnTo>
                    <a:pt x="3445071" y="2680538"/>
                  </a:lnTo>
                  <a:lnTo>
                    <a:pt x="3449574" y="2635872"/>
                  </a:lnTo>
                  <a:lnTo>
                    <a:pt x="3449574" y="221627"/>
                  </a:lnTo>
                  <a:lnTo>
                    <a:pt x="3445071" y="176961"/>
                  </a:lnTo>
                  <a:lnTo>
                    <a:pt x="3432157" y="135359"/>
                  </a:lnTo>
                  <a:lnTo>
                    <a:pt x="3411723" y="97713"/>
                  </a:lnTo>
                  <a:lnTo>
                    <a:pt x="3384661" y="64912"/>
                  </a:lnTo>
                  <a:lnTo>
                    <a:pt x="3351860" y="37850"/>
                  </a:lnTo>
                  <a:lnTo>
                    <a:pt x="3314214" y="17416"/>
                  </a:lnTo>
                  <a:lnTo>
                    <a:pt x="3272612" y="4502"/>
                  </a:lnTo>
                  <a:lnTo>
                    <a:pt x="3227946" y="0"/>
                  </a:lnTo>
                  <a:close/>
                </a:path>
              </a:pathLst>
            </a:custGeom>
            <a:solidFill>
              <a:srgbClr val="DADAD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0" y="221627"/>
                  </a:moveTo>
                  <a:lnTo>
                    <a:pt x="4502" y="176961"/>
                  </a:lnTo>
                  <a:lnTo>
                    <a:pt x="17416" y="135359"/>
                  </a:lnTo>
                  <a:lnTo>
                    <a:pt x="37850" y="97713"/>
                  </a:lnTo>
                  <a:lnTo>
                    <a:pt x="64912" y="64912"/>
                  </a:lnTo>
                  <a:lnTo>
                    <a:pt x="97713" y="37850"/>
                  </a:lnTo>
                  <a:lnTo>
                    <a:pt x="135359" y="17416"/>
                  </a:lnTo>
                  <a:lnTo>
                    <a:pt x="176961" y="4502"/>
                  </a:lnTo>
                  <a:lnTo>
                    <a:pt x="221627" y="0"/>
                  </a:lnTo>
                  <a:lnTo>
                    <a:pt x="3227946" y="0"/>
                  </a:lnTo>
                  <a:lnTo>
                    <a:pt x="3272612" y="4502"/>
                  </a:lnTo>
                  <a:lnTo>
                    <a:pt x="3314214" y="17416"/>
                  </a:lnTo>
                  <a:lnTo>
                    <a:pt x="3351860" y="37850"/>
                  </a:lnTo>
                  <a:lnTo>
                    <a:pt x="3384661" y="64912"/>
                  </a:lnTo>
                  <a:lnTo>
                    <a:pt x="3411723" y="97713"/>
                  </a:lnTo>
                  <a:lnTo>
                    <a:pt x="3432157" y="135359"/>
                  </a:lnTo>
                  <a:lnTo>
                    <a:pt x="3445071" y="176961"/>
                  </a:lnTo>
                  <a:lnTo>
                    <a:pt x="3449574" y="221627"/>
                  </a:lnTo>
                  <a:lnTo>
                    <a:pt x="3449574" y="2635872"/>
                  </a:lnTo>
                  <a:lnTo>
                    <a:pt x="3445071" y="2680538"/>
                  </a:lnTo>
                  <a:lnTo>
                    <a:pt x="3432157" y="2722140"/>
                  </a:lnTo>
                  <a:lnTo>
                    <a:pt x="3411723" y="2759786"/>
                  </a:lnTo>
                  <a:lnTo>
                    <a:pt x="3384661" y="2792587"/>
                  </a:lnTo>
                  <a:lnTo>
                    <a:pt x="3351860" y="2819649"/>
                  </a:lnTo>
                  <a:lnTo>
                    <a:pt x="3314214" y="2840083"/>
                  </a:lnTo>
                  <a:lnTo>
                    <a:pt x="3272612" y="2852997"/>
                  </a:lnTo>
                  <a:lnTo>
                    <a:pt x="3227946" y="2857500"/>
                  </a:lnTo>
                  <a:lnTo>
                    <a:pt x="221627" y="2857500"/>
                  </a:lnTo>
                  <a:lnTo>
                    <a:pt x="176961" y="2852997"/>
                  </a:lnTo>
                  <a:lnTo>
                    <a:pt x="135359" y="2840083"/>
                  </a:lnTo>
                  <a:lnTo>
                    <a:pt x="97713" y="2819649"/>
                  </a:lnTo>
                  <a:lnTo>
                    <a:pt x="64912" y="2792587"/>
                  </a:lnTo>
                  <a:lnTo>
                    <a:pt x="37850" y="2759786"/>
                  </a:lnTo>
                  <a:lnTo>
                    <a:pt x="17416" y="2722140"/>
                  </a:lnTo>
                  <a:lnTo>
                    <a:pt x="4502" y="2680538"/>
                  </a:lnTo>
                  <a:lnTo>
                    <a:pt x="0" y="2635872"/>
                  </a:lnTo>
                  <a:lnTo>
                    <a:pt x="0" y="221627"/>
                  </a:lnTo>
                  <a:close/>
                </a:path>
              </a:pathLst>
            </a:custGeom>
            <a:ln w="38100">
              <a:solidFill>
                <a:srgbClr val="B4B5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91075" y="3808094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1289303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89303" y="1097279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91075" y="3808094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0" y="0"/>
                  </a:moveTo>
                  <a:lnTo>
                    <a:pt x="1289303" y="0"/>
                  </a:lnTo>
                  <a:lnTo>
                    <a:pt x="1289303" y="1097279"/>
                  </a:lnTo>
                  <a:lnTo>
                    <a:pt x="0" y="1097279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03647" y="4181571"/>
            <a:ext cx="12642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8502" y="2642616"/>
            <a:ext cx="1314450" cy="1122680"/>
            <a:chOff x="4778502" y="2642616"/>
            <a:chExt cx="1314450" cy="1122680"/>
          </a:xfrm>
        </p:grpSpPr>
        <p:sp>
          <p:nvSpPr>
            <p:cNvPr id="30" name="object 30"/>
            <p:cNvSpPr/>
            <p:nvPr/>
          </p:nvSpPr>
          <p:spPr>
            <a:xfrm>
              <a:off x="4791075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1289303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289303" y="1097280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91075" y="2655189"/>
              <a:ext cx="1289685" cy="1097280"/>
            </a:xfrm>
            <a:custGeom>
              <a:avLst/>
              <a:gdLst/>
              <a:ahLst/>
              <a:cxnLst/>
              <a:rect l="l" t="t" r="r" b="b"/>
              <a:pathLst>
                <a:path w="1289685" h="1097279">
                  <a:moveTo>
                    <a:pt x="0" y="0"/>
                  </a:moveTo>
                  <a:lnTo>
                    <a:pt x="1289303" y="0"/>
                  </a:lnTo>
                  <a:lnTo>
                    <a:pt x="1289303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03647" y="3028638"/>
            <a:ext cx="12642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Broker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4446" y="4518659"/>
            <a:ext cx="182879" cy="36652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3684" y="3368040"/>
            <a:ext cx="182879" cy="366521"/>
          </a:xfrm>
          <a:prstGeom prst="rect">
            <a:avLst/>
          </a:prstGeom>
        </p:spPr>
      </p:pic>
      <p:sp>
        <p:nvSpPr>
          <p:cNvPr id="35" name="Slide Number Placeholder 3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26145" y="4754720"/>
            <a:ext cx="2360930" cy="2101850"/>
            <a:chOff x="8026145" y="4754720"/>
            <a:chExt cx="2360930" cy="2101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6145" y="4754720"/>
              <a:ext cx="1527047" cy="10655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7947" y="5580888"/>
              <a:ext cx="1658758" cy="127561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348534" y="5050970"/>
            <a:ext cx="8667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1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L</a:t>
            </a:r>
            <a:r>
              <a:rPr sz="2000" spc="-4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000" spc="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000" spc="-2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000" spc="-5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…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28820" y="519066"/>
            <a:ext cx="5844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The</a:t>
            </a:r>
            <a:r>
              <a:rPr spc="-215" dirty="0"/>
              <a:t> </a:t>
            </a:r>
            <a:r>
              <a:rPr spc="80" dirty="0"/>
              <a:t>Apache</a:t>
            </a:r>
            <a:r>
              <a:rPr spc="-220" dirty="0"/>
              <a:t> </a:t>
            </a:r>
            <a:r>
              <a:rPr spc="-60" dirty="0"/>
              <a:t>Kafka</a:t>
            </a:r>
            <a:r>
              <a:rPr spc="-225" dirty="0"/>
              <a:t> </a:t>
            </a:r>
            <a:r>
              <a:rPr spc="-45" dirty="0"/>
              <a:t>Cluster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2555" y="1437763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2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Producers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92457" y="1437763"/>
            <a:ext cx="1304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5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</a:t>
            </a:r>
            <a:r>
              <a:rPr sz="1800" u="sng" spc="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on</a:t>
            </a:r>
            <a:r>
              <a:rPr sz="1800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s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um</a:t>
            </a:r>
            <a:r>
              <a:rPr sz="1800" u="sng" spc="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e</a:t>
            </a:r>
            <a:r>
              <a:rPr sz="1800" u="sng" spc="-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rs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7350" y="2352294"/>
            <a:ext cx="586739" cy="6979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7350" y="3422142"/>
            <a:ext cx="586739" cy="6972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7350" y="4488941"/>
            <a:ext cx="586739" cy="69722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5623" y="2352294"/>
            <a:ext cx="586739" cy="6979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5623" y="3422142"/>
            <a:ext cx="586739" cy="69722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488692" y="2318764"/>
            <a:ext cx="8044180" cy="2895600"/>
            <a:chOff x="2488692" y="2318764"/>
            <a:chExt cx="8044180" cy="2895600"/>
          </a:xfrm>
        </p:grpSpPr>
        <p:sp>
          <p:nvSpPr>
            <p:cNvPr id="15" name="object 15"/>
            <p:cNvSpPr/>
            <p:nvPr/>
          </p:nvSpPr>
          <p:spPr>
            <a:xfrm>
              <a:off x="7578851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53508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45623" y="4488941"/>
              <a:ext cx="586739" cy="69722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07742" y="2756915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0"/>
                  </a:moveTo>
                  <a:lnTo>
                    <a:pt x="210312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32126" y="3766565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35936" y="4197860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0" y="535089"/>
                  </a:moveTo>
                  <a:lnTo>
                    <a:pt x="210312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78851" y="2756915"/>
              <a:ext cx="2103120" cy="535305"/>
            </a:xfrm>
            <a:custGeom>
              <a:avLst/>
              <a:gdLst/>
              <a:ahLst/>
              <a:cxnLst/>
              <a:rect l="l" t="t" r="r" b="b"/>
              <a:pathLst>
                <a:path w="2103120" h="535304">
                  <a:moveTo>
                    <a:pt x="2103120" y="0"/>
                  </a:moveTo>
                  <a:lnTo>
                    <a:pt x="0" y="535089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48194" y="3766565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210312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D8D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3227946" y="0"/>
                  </a:moveTo>
                  <a:lnTo>
                    <a:pt x="221627" y="0"/>
                  </a:lnTo>
                  <a:lnTo>
                    <a:pt x="176961" y="4502"/>
                  </a:lnTo>
                  <a:lnTo>
                    <a:pt x="135359" y="17416"/>
                  </a:lnTo>
                  <a:lnTo>
                    <a:pt x="97713" y="37850"/>
                  </a:lnTo>
                  <a:lnTo>
                    <a:pt x="64912" y="64912"/>
                  </a:lnTo>
                  <a:lnTo>
                    <a:pt x="37850" y="97713"/>
                  </a:lnTo>
                  <a:lnTo>
                    <a:pt x="17416" y="135359"/>
                  </a:lnTo>
                  <a:lnTo>
                    <a:pt x="4502" y="176961"/>
                  </a:lnTo>
                  <a:lnTo>
                    <a:pt x="0" y="221627"/>
                  </a:lnTo>
                  <a:lnTo>
                    <a:pt x="0" y="2635872"/>
                  </a:lnTo>
                  <a:lnTo>
                    <a:pt x="4502" y="2680538"/>
                  </a:lnTo>
                  <a:lnTo>
                    <a:pt x="17416" y="2722140"/>
                  </a:lnTo>
                  <a:lnTo>
                    <a:pt x="37850" y="2759786"/>
                  </a:lnTo>
                  <a:lnTo>
                    <a:pt x="64912" y="2792587"/>
                  </a:lnTo>
                  <a:lnTo>
                    <a:pt x="97713" y="2819649"/>
                  </a:lnTo>
                  <a:lnTo>
                    <a:pt x="135359" y="2840083"/>
                  </a:lnTo>
                  <a:lnTo>
                    <a:pt x="176961" y="2852997"/>
                  </a:lnTo>
                  <a:lnTo>
                    <a:pt x="221627" y="2857500"/>
                  </a:lnTo>
                  <a:lnTo>
                    <a:pt x="3227946" y="2857500"/>
                  </a:lnTo>
                  <a:lnTo>
                    <a:pt x="3272612" y="2852997"/>
                  </a:lnTo>
                  <a:lnTo>
                    <a:pt x="3314214" y="2840083"/>
                  </a:lnTo>
                  <a:lnTo>
                    <a:pt x="3351860" y="2819649"/>
                  </a:lnTo>
                  <a:lnTo>
                    <a:pt x="3384661" y="2792587"/>
                  </a:lnTo>
                  <a:lnTo>
                    <a:pt x="3411723" y="2759786"/>
                  </a:lnTo>
                  <a:lnTo>
                    <a:pt x="3432157" y="2722140"/>
                  </a:lnTo>
                  <a:lnTo>
                    <a:pt x="3445071" y="2680538"/>
                  </a:lnTo>
                  <a:lnTo>
                    <a:pt x="3449574" y="2635872"/>
                  </a:lnTo>
                  <a:lnTo>
                    <a:pt x="3449574" y="221627"/>
                  </a:lnTo>
                  <a:lnTo>
                    <a:pt x="3445071" y="176961"/>
                  </a:lnTo>
                  <a:lnTo>
                    <a:pt x="3432157" y="135359"/>
                  </a:lnTo>
                  <a:lnTo>
                    <a:pt x="3411723" y="97713"/>
                  </a:lnTo>
                  <a:lnTo>
                    <a:pt x="3384661" y="64912"/>
                  </a:lnTo>
                  <a:lnTo>
                    <a:pt x="3351860" y="37850"/>
                  </a:lnTo>
                  <a:lnTo>
                    <a:pt x="3314214" y="17416"/>
                  </a:lnTo>
                  <a:lnTo>
                    <a:pt x="3272612" y="4502"/>
                  </a:lnTo>
                  <a:lnTo>
                    <a:pt x="3227946" y="0"/>
                  </a:lnTo>
                  <a:close/>
                </a:path>
              </a:pathLst>
            </a:custGeom>
            <a:solidFill>
              <a:srgbClr val="DADAD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70070" y="2337814"/>
              <a:ext cx="3449954" cy="2857500"/>
            </a:xfrm>
            <a:custGeom>
              <a:avLst/>
              <a:gdLst/>
              <a:ahLst/>
              <a:cxnLst/>
              <a:rect l="l" t="t" r="r" b="b"/>
              <a:pathLst>
                <a:path w="3449954" h="2857500">
                  <a:moveTo>
                    <a:pt x="0" y="221627"/>
                  </a:moveTo>
                  <a:lnTo>
                    <a:pt x="4502" y="176961"/>
                  </a:lnTo>
                  <a:lnTo>
                    <a:pt x="17416" y="135359"/>
                  </a:lnTo>
                  <a:lnTo>
                    <a:pt x="37850" y="97713"/>
                  </a:lnTo>
                  <a:lnTo>
                    <a:pt x="64912" y="64912"/>
                  </a:lnTo>
                  <a:lnTo>
                    <a:pt x="97713" y="37850"/>
                  </a:lnTo>
                  <a:lnTo>
                    <a:pt x="135359" y="17416"/>
                  </a:lnTo>
                  <a:lnTo>
                    <a:pt x="176961" y="4502"/>
                  </a:lnTo>
                  <a:lnTo>
                    <a:pt x="221627" y="0"/>
                  </a:lnTo>
                  <a:lnTo>
                    <a:pt x="3227946" y="0"/>
                  </a:lnTo>
                  <a:lnTo>
                    <a:pt x="3272612" y="4502"/>
                  </a:lnTo>
                  <a:lnTo>
                    <a:pt x="3314214" y="17416"/>
                  </a:lnTo>
                  <a:lnTo>
                    <a:pt x="3351860" y="37850"/>
                  </a:lnTo>
                  <a:lnTo>
                    <a:pt x="3384661" y="64912"/>
                  </a:lnTo>
                  <a:lnTo>
                    <a:pt x="3411723" y="97713"/>
                  </a:lnTo>
                  <a:lnTo>
                    <a:pt x="3432157" y="135359"/>
                  </a:lnTo>
                  <a:lnTo>
                    <a:pt x="3445071" y="176961"/>
                  </a:lnTo>
                  <a:lnTo>
                    <a:pt x="3449574" y="221627"/>
                  </a:lnTo>
                  <a:lnTo>
                    <a:pt x="3449574" y="2635872"/>
                  </a:lnTo>
                  <a:lnTo>
                    <a:pt x="3445071" y="2680538"/>
                  </a:lnTo>
                  <a:lnTo>
                    <a:pt x="3432157" y="2722140"/>
                  </a:lnTo>
                  <a:lnTo>
                    <a:pt x="3411723" y="2759786"/>
                  </a:lnTo>
                  <a:lnTo>
                    <a:pt x="3384661" y="2792587"/>
                  </a:lnTo>
                  <a:lnTo>
                    <a:pt x="3351860" y="2819649"/>
                  </a:lnTo>
                  <a:lnTo>
                    <a:pt x="3314214" y="2840083"/>
                  </a:lnTo>
                  <a:lnTo>
                    <a:pt x="3272612" y="2852997"/>
                  </a:lnTo>
                  <a:lnTo>
                    <a:pt x="3227946" y="2857500"/>
                  </a:lnTo>
                  <a:lnTo>
                    <a:pt x="221627" y="2857500"/>
                  </a:lnTo>
                  <a:lnTo>
                    <a:pt x="176961" y="2852997"/>
                  </a:lnTo>
                  <a:lnTo>
                    <a:pt x="135359" y="2840083"/>
                  </a:lnTo>
                  <a:lnTo>
                    <a:pt x="97713" y="2819649"/>
                  </a:lnTo>
                  <a:lnTo>
                    <a:pt x="64912" y="2792587"/>
                  </a:lnTo>
                  <a:lnTo>
                    <a:pt x="37850" y="2759786"/>
                  </a:lnTo>
                  <a:lnTo>
                    <a:pt x="17416" y="2722140"/>
                  </a:lnTo>
                  <a:lnTo>
                    <a:pt x="4502" y="2680538"/>
                  </a:lnTo>
                  <a:lnTo>
                    <a:pt x="0" y="2635872"/>
                  </a:lnTo>
                  <a:lnTo>
                    <a:pt x="0" y="221627"/>
                  </a:lnTo>
                  <a:close/>
                </a:path>
              </a:pathLst>
            </a:custGeom>
            <a:ln w="38100">
              <a:solidFill>
                <a:srgbClr val="B4B5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72862" y="1437763"/>
            <a:ext cx="905510" cy="583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350">
              <a:lnSpc>
                <a:spcPct val="103000"/>
              </a:lnSpc>
              <a:spcBef>
                <a:spcPts val="25"/>
              </a:spcBef>
              <a:tabLst>
                <a:tab pos="736600" algn="l"/>
              </a:tabLst>
            </a:pPr>
            <a:r>
              <a:rPr sz="1800" u="dash" spc="-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Cluster </a:t>
            </a:r>
            <a:r>
              <a:rPr sz="1800" spc="-6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700" spc="-12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700" spc="3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i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z</a:t>
            </a:r>
            <a:r>
              <a:rPr sz="2700" spc="52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700" spc="-48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:</a:t>
            </a:r>
            <a:r>
              <a:rPr sz="2700" baseline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	</a:t>
            </a:r>
            <a:r>
              <a:rPr sz="1800" spc="80" dirty="0">
                <a:solidFill>
                  <a:srgbClr val="2A9FBC"/>
                </a:solidFill>
                <a:latin typeface="Verdana" panose="020B0604030504040204"/>
                <a:cs typeface="Verdana" panose="020B0604030504040204"/>
              </a:rPr>
              <a:t>4</a:t>
            </a:r>
            <a:endParaRPr sz="1800">
              <a:latin typeface="Verdana" panose="020B0604030504040204"/>
              <a:cs typeface="Verdana" panose="020B0604030504040204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778502" y="2642616"/>
          <a:ext cx="2643505" cy="225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7305"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571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15900" algn="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571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9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7305"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08915" algn="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3E3E3E"/>
                          </a:solidFill>
                          <a:latin typeface="Verdana" panose="020B0604030504040204"/>
                          <a:cs typeface="Verdana" panose="020B0604030504040204"/>
                        </a:rPr>
                        <a:t>Broker</a:t>
                      </a:r>
                      <a:endParaRPr sz="2000">
                        <a:latin typeface="Verdana" panose="020B0604030504040204"/>
                        <a:cs typeface="Verdana" panose="020B0604030504040204"/>
                      </a:endParaRPr>
                    </a:p>
                  </a:txBody>
                  <a:tcPr marL="0" marR="0" marT="3175" marB="0">
                    <a:lnL w="28575">
                      <a:solidFill>
                        <a:srgbClr val="3E3E3E"/>
                      </a:solidFill>
                      <a:prstDash val="solid"/>
                    </a:lnL>
                    <a:lnR w="28575">
                      <a:solidFill>
                        <a:srgbClr val="3E3E3E"/>
                      </a:solidFill>
                      <a:prstDash val="solid"/>
                    </a:lnR>
                    <a:lnT w="28575">
                      <a:solidFill>
                        <a:srgbClr val="3E3E3E"/>
                      </a:solidFill>
                      <a:prstDash val="solid"/>
                    </a:lnT>
                    <a:lnB w="28575">
                      <a:solidFill>
                        <a:srgbClr val="3E3E3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4446" y="4518659"/>
            <a:ext cx="182879" cy="36652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3684" y="3368040"/>
            <a:ext cx="182879" cy="36652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2695" y="3509771"/>
            <a:ext cx="274320" cy="550163"/>
          </a:xfrm>
          <a:prstGeom prst="rect">
            <a:avLst/>
          </a:prstGeom>
        </p:spPr>
      </p:pic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5334" y="157086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146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81813" y="1805252"/>
            <a:ext cx="6498590" cy="3637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Collection</a:t>
            </a:r>
            <a:r>
              <a:rPr sz="2400" spc="-1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resources</a:t>
            </a:r>
            <a:r>
              <a:rPr sz="2400" spc="-1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that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are</a:t>
            </a:r>
            <a:r>
              <a:rPr sz="2400" spc="-1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instructed </a:t>
            </a:r>
            <a:r>
              <a:rPr sz="2400" spc="-8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6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to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achieve</a:t>
            </a:r>
            <a:r>
              <a:rPr sz="2400" spc="-1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specific</a:t>
            </a:r>
            <a:r>
              <a:rPr sz="2400" spc="-1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goal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function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Consist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multiple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workers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 marR="42545">
              <a:lnSpc>
                <a:spcPct val="100000"/>
              </a:lnSpc>
              <a:spcBef>
                <a:spcPts val="1800"/>
              </a:spcBef>
            </a:pP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The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nodes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require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coordination </a:t>
            </a:r>
            <a:r>
              <a:rPr sz="2400" spc="-8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6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to </a:t>
            </a:r>
            <a:r>
              <a:rPr sz="2400" spc="-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ensure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consistency and </a:t>
            </a:r>
            <a:r>
              <a:rPr sz="2400" spc="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progress </a:t>
            </a:r>
            <a:r>
              <a:rPr sz="2400" spc="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towards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common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goal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 marR="31750">
              <a:lnSpc>
                <a:spcPct val="100000"/>
              </a:lnSpc>
              <a:spcBef>
                <a:spcPts val="1800"/>
              </a:spcBef>
            </a:pPr>
            <a:r>
              <a:rPr sz="2400" spc="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Each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communicates</a:t>
            </a:r>
            <a:r>
              <a:rPr sz="2400" spc="-114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with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each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other </a:t>
            </a:r>
            <a:r>
              <a:rPr sz="2400" spc="-8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though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messages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813" y="2810255"/>
            <a:ext cx="2895599" cy="16520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85697" y="519066"/>
            <a:ext cx="4533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Distributed</a:t>
            </a:r>
            <a:r>
              <a:rPr spc="-235" dirty="0"/>
              <a:t> </a:t>
            </a:r>
            <a:r>
              <a:rPr spc="-100" dirty="0"/>
              <a:t>Systems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2094" y="4525517"/>
            <a:ext cx="298704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705" rIns="0" bIns="0" rtlCol="0">
            <a:spAutoFit/>
          </a:bodyPr>
          <a:lstStyle/>
          <a:p>
            <a:pPr marL="577850">
              <a:lnSpc>
                <a:spcPct val="100000"/>
              </a:lnSpc>
              <a:spcBef>
                <a:spcPts val="415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KAFKA</a:t>
            </a:r>
            <a:r>
              <a:rPr sz="1600" spc="-1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BROKERS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2094" y="2718054"/>
            <a:ext cx="2987040" cy="1807845"/>
          </a:xfrm>
          <a:custGeom>
            <a:avLst/>
            <a:gdLst/>
            <a:ahLst/>
            <a:cxnLst/>
            <a:rect l="l" t="t" r="r" b="b"/>
            <a:pathLst>
              <a:path w="2987040" h="1807845">
                <a:moveTo>
                  <a:pt x="0" y="0"/>
                </a:moveTo>
                <a:lnTo>
                  <a:pt x="2987039" y="0"/>
                </a:lnTo>
                <a:lnTo>
                  <a:pt x="2987039" y="1807464"/>
                </a:lnTo>
                <a:lnTo>
                  <a:pt x="0" y="180746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9801" y="519066"/>
            <a:ext cx="8964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Distributed</a:t>
            </a:r>
            <a:r>
              <a:rPr spc="-185" dirty="0"/>
              <a:t> Systems:</a:t>
            </a:r>
            <a:r>
              <a:rPr spc="-190" dirty="0"/>
              <a:t> </a:t>
            </a:r>
            <a:r>
              <a:rPr spc="-25" dirty="0"/>
              <a:t>Controller</a:t>
            </a:r>
            <a:r>
              <a:rPr spc="-185" dirty="0"/>
              <a:t> </a:t>
            </a:r>
            <a:r>
              <a:rPr spc="15" dirty="0"/>
              <a:t>Election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75610" y="3062477"/>
            <a:ext cx="5944235" cy="3002280"/>
            <a:chOff x="2975610" y="3062477"/>
            <a:chExt cx="5944235" cy="3002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5282" y="5238750"/>
              <a:ext cx="823721" cy="8260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2680" y="4413503"/>
              <a:ext cx="823721" cy="8252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7567" y="3590544"/>
              <a:ext cx="821435" cy="8229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7883" y="4413504"/>
              <a:ext cx="824483" cy="8229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8200" y="5240273"/>
              <a:ext cx="824483" cy="8229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9316" y="5234939"/>
              <a:ext cx="824483" cy="8229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94660" y="3081527"/>
              <a:ext cx="2693035" cy="920750"/>
            </a:xfrm>
            <a:custGeom>
              <a:avLst/>
              <a:gdLst/>
              <a:ahLst/>
              <a:cxnLst/>
              <a:rect l="l" t="t" r="r" b="b"/>
              <a:pathLst>
                <a:path w="2693035" h="920750">
                  <a:moveTo>
                    <a:pt x="0" y="0"/>
                  </a:moveTo>
                  <a:lnTo>
                    <a:pt x="2692971" y="920369"/>
                  </a:lnTo>
                </a:path>
              </a:pathLst>
            </a:custGeom>
            <a:ln w="38100">
              <a:solidFill>
                <a:srgbClr val="B4B5B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6000" y="3081527"/>
              <a:ext cx="2540" cy="509270"/>
            </a:xfrm>
            <a:custGeom>
              <a:avLst/>
              <a:gdLst/>
              <a:ahLst/>
              <a:cxnLst/>
              <a:rect l="l" t="t" r="r" b="b"/>
              <a:pathLst>
                <a:path w="2539" h="509270">
                  <a:moveTo>
                    <a:pt x="0" y="0"/>
                  </a:moveTo>
                  <a:lnTo>
                    <a:pt x="2540" y="508889"/>
                  </a:lnTo>
                </a:path>
              </a:pathLst>
            </a:custGeom>
            <a:ln w="38100">
              <a:solidFill>
                <a:srgbClr val="B4B5B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09004" y="3081527"/>
              <a:ext cx="2392045" cy="920750"/>
            </a:xfrm>
            <a:custGeom>
              <a:avLst/>
              <a:gdLst/>
              <a:ahLst/>
              <a:cxnLst/>
              <a:rect l="l" t="t" r="r" b="b"/>
              <a:pathLst>
                <a:path w="2392045" h="920750">
                  <a:moveTo>
                    <a:pt x="2391537" y="0"/>
                  </a:moveTo>
                  <a:lnTo>
                    <a:pt x="0" y="920369"/>
                  </a:lnTo>
                </a:path>
              </a:pathLst>
            </a:custGeom>
            <a:ln w="38100">
              <a:solidFill>
                <a:srgbClr val="B4B5B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8711" y="1808988"/>
            <a:ext cx="692657" cy="86944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240578" y="2704550"/>
            <a:ext cx="14909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4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Work</a:t>
            </a:r>
            <a:r>
              <a:rPr sz="2000" spc="-17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6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Items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4959" y="1808988"/>
            <a:ext cx="1402079" cy="86944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35089" y="2704550"/>
            <a:ext cx="1503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Attendance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9902" y="1812798"/>
            <a:ext cx="1118615" cy="86867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482065" y="2704550"/>
            <a:ext cx="826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000" spc="-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t</a:t>
            </a:r>
            <a:r>
              <a:rPr sz="2000" spc="-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u</a:t>
            </a:r>
            <a:r>
              <a:rPr sz="2000" spc="-4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s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7427" y="519066"/>
            <a:ext cx="732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</a:t>
            </a:r>
            <a:r>
              <a:rPr spc="-20" dirty="0"/>
              <a:t>i</a:t>
            </a:r>
            <a:r>
              <a:rPr spc="-130" dirty="0"/>
              <a:t>s</a:t>
            </a:r>
            <a:r>
              <a:rPr spc="-65" dirty="0"/>
              <a:t>tr</a:t>
            </a:r>
            <a:r>
              <a:rPr spc="-50" dirty="0"/>
              <a:t>i</a:t>
            </a:r>
            <a:r>
              <a:rPr spc="30" dirty="0"/>
              <a:t>bu</a:t>
            </a:r>
            <a:r>
              <a:rPr spc="-40" dirty="0"/>
              <a:t>t</a:t>
            </a:r>
            <a:r>
              <a:rPr spc="-50" dirty="0"/>
              <a:t>e</a:t>
            </a:r>
            <a:r>
              <a:rPr spc="130" dirty="0"/>
              <a:t>d</a:t>
            </a:r>
            <a:r>
              <a:rPr spc="-190" dirty="0"/>
              <a:t> </a:t>
            </a:r>
            <a:r>
              <a:rPr spc="-215" dirty="0"/>
              <a:t>S</a:t>
            </a:r>
            <a:r>
              <a:rPr spc="-90" dirty="0"/>
              <a:t>y</a:t>
            </a:r>
            <a:r>
              <a:rPr spc="-130" dirty="0"/>
              <a:t>s</a:t>
            </a:r>
            <a:r>
              <a:rPr spc="-35" dirty="0"/>
              <a:t>t</a:t>
            </a:r>
            <a:r>
              <a:rPr spc="-50" dirty="0"/>
              <a:t>e</a:t>
            </a:r>
            <a:r>
              <a:rPr spc="-320" dirty="0"/>
              <a:t>ms:</a:t>
            </a:r>
            <a:r>
              <a:rPr spc="-200" dirty="0"/>
              <a:t> </a:t>
            </a:r>
            <a:r>
              <a:rPr spc="20" dirty="0"/>
              <a:t>T</a:t>
            </a:r>
            <a:r>
              <a:rPr spc="-60" dirty="0"/>
              <a:t>he</a:t>
            </a:r>
            <a:r>
              <a:rPr spc="-190" dirty="0"/>
              <a:t> </a:t>
            </a:r>
            <a:r>
              <a:rPr spc="50" dirty="0"/>
              <a:t>C</a:t>
            </a:r>
            <a:r>
              <a:rPr spc="10" dirty="0"/>
              <a:t>l</a:t>
            </a:r>
            <a:r>
              <a:rPr spc="-90" dirty="0"/>
              <a:t>u</a:t>
            </a:r>
            <a:r>
              <a:rPr spc="-114" dirty="0"/>
              <a:t>s</a:t>
            </a:r>
            <a:r>
              <a:rPr spc="-35" dirty="0"/>
              <a:t>t</a:t>
            </a:r>
            <a:r>
              <a:rPr spc="-50" dirty="0"/>
              <a:t>e</a:t>
            </a:r>
            <a:r>
              <a:rPr spc="-100" dirty="0"/>
              <a:t>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48200" y="3060954"/>
            <a:ext cx="2895600" cy="2474595"/>
            <a:chOff x="4648200" y="3060954"/>
            <a:chExt cx="2895600" cy="2474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5282" y="4709160"/>
              <a:ext cx="823721" cy="8260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2680" y="3883913"/>
              <a:ext cx="823721" cy="82524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7567" y="3060954"/>
              <a:ext cx="821435" cy="8229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7883" y="3883914"/>
              <a:ext cx="824483" cy="8229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8200" y="4710683"/>
              <a:ext cx="824483" cy="8229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9316" y="4705350"/>
              <a:ext cx="824483" cy="82295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08220" y="1808988"/>
            <a:ext cx="374141" cy="4693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7286" y="1808988"/>
            <a:ext cx="757427" cy="4693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79514" y="1808988"/>
            <a:ext cx="604265" cy="4693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02479" y="5679185"/>
            <a:ext cx="298704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069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410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KAFKA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CLUSTER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02479" y="2943605"/>
            <a:ext cx="2987040" cy="2735580"/>
          </a:xfrm>
          <a:custGeom>
            <a:avLst/>
            <a:gdLst/>
            <a:ahLst/>
            <a:cxnLst/>
            <a:rect l="l" t="t" r="r" b="b"/>
            <a:pathLst>
              <a:path w="2987040" h="2735579">
                <a:moveTo>
                  <a:pt x="0" y="0"/>
                </a:moveTo>
                <a:lnTo>
                  <a:pt x="2987039" y="0"/>
                </a:lnTo>
                <a:lnTo>
                  <a:pt x="2987039" y="2735580"/>
                </a:lnTo>
                <a:lnTo>
                  <a:pt x="0" y="273558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2139" y="519066"/>
            <a:ext cx="9139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Distributed</a:t>
            </a:r>
            <a:r>
              <a:rPr spc="-190" dirty="0"/>
              <a:t> </a:t>
            </a:r>
            <a:r>
              <a:rPr spc="-185" dirty="0"/>
              <a:t>Systems:</a:t>
            </a:r>
            <a:r>
              <a:rPr spc="-200" dirty="0"/>
              <a:t> </a:t>
            </a:r>
            <a:r>
              <a:rPr spc="-5" dirty="0"/>
              <a:t>Getting</a:t>
            </a:r>
            <a:r>
              <a:rPr spc="-190" dirty="0"/>
              <a:t> </a:t>
            </a:r>
            <a:r>
              <a:rPr spc="15" dirty="0"/>
              <a:t>Work</a:t>
            </a:r>
            <a:r>
              <a:rPr spc="-204" dirty="0"/>
              <a:t> </a:t>
            </a:r>
            <a:r>
              <a:rPr spc="10" dirty="0"/>
              <a:t>Done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8220" y="1808988"/>
            <a:ext cx="374141" cy="4693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7286" y="1808988"/>
            <a:ext cx="757427" cy="4693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9514" y="1808988"/>
            <a:ext cx="604265" cy="46939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648200" y="3060954"/>
            <a:ext cx="2895600" cy="2474595"/>
            <a:chOff x="4648200" y="3060954"/>
            <a:chExt cx="2895600" cy="247459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5282" y="4709160"/>
              <a:ext cx="823721" cy="8260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2680" y="3883913"/>
              <a:ext cx="823721" cy="8252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7567" y="3060954"/>
              <a:ext cx="821435" cy="8229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7883" y="3883914"/>
              <a:ext cx="824483" cy="8229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8200" y="4710683"/>
              <a:ext cx="824483" cy="8229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9316" y="4705350"/>
              <a:ext cx="824483" cy="822959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2488692" y="4439413"/>
            <a:ext cx="1920239" cy="0"/>
          </a:xfrm>
          <a:custGeom>
            <a:avLst/>
            <a:gdLst/>
            <a:ahLst/>
            <a:cxnLst/>
            <a:rect l="l" t="t" r="r" b="b"/>
            <a:pathLst>
              <a:path w="1920239">
                <a:moveTo>
                  <a:pt x="0" y="0"/>
                </a:moveTo>
                <a:lnTo>
                  <a:pt x="1920239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940308" y="2023872"/>
            <a:ext cx="1645920" cy="1838960"/>
            <a:chOff x="940308" y="2023872"/>
            <a:chExt cx="1645920" cy="183896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028" y="2023872"/>
              <a:ext cx="1554479" cy="155752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0308" y="3496818"/>
              <a:ext cx="1645920" cy="365760"/>
            </a:xfrm>
            <a:custGeom>
              <a:avLst/>
              <a:gdLst/>
              <a:ahLst/>
              <a:cxnLst/>
              <a:rect l="l" t="t" r="r" b="b"/>
              <a:pathLst>
                <a:path w="1645920" h="365760">
                  <a:moveTo>
                    <a:pt x="1645919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645919" y="365760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0308" y="3496817"/>
            <a:ext cx="1645920" cy="3657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20980">
              <a:lnSpc>
                <a:spcPct val="100000"/>
              </a:lnSpc>
              <a:spcBef>
                <a:spcPts val="415"/>
              </a:spcBef>
            </a:pP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PRODUCER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4473" y="3819905"/>
            <a:ext cx="1600200" cy="951230"/>
            <a:chOff x="744473" y="3819905"/>
            <a:chExt cx="1600200" cy="95123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1862" y="4107942"/>
              <a:ext cx="1162811" cy="6629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4473" y="3819905"/>
              <a:ext cx="769619" cy="769619"/>
            </a:xfrm>
            <a:prstGeom prst="rect">
              <a:avLst/>
            </a:prstGeom>
          </p:spPr>
        </p:pic>
      </p:grpSp>
      <p:sp>
        <p:nvSpPr>
          <p:cNvPr id="21" name="Slide Number Placeholder 2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813" y="2916965"/>
            <a:ext cx="46348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F05A28"/>
                </a:solidFill>
              </a:rPr>
              <a:t>Worker</a:t>
            </a:r>
            <a:r>
              <a:rPr sz="2400" spc="-145" dirty="0">
                <a:solidFill>
                  <a:srgbClr val="F05A28"/>
                </a:solidFill>
              </a:rPr>
              <a:t> </a:t>
            </a:r>
            <a:r>
              <a:rPr sz="2400" spc="10" dirty="0">
                <a:solidFill>
                  <a:srgbClr val="F05A28"/>
                </a:solidFill>
              </a:rPr>
              <a:t>availability</a:t>
            </a:r>
            <a:r>
              <a:rPr sz="2400" spc="-145" dirty="0">
                <a:solidFill>
                  <a:srgbClr val="F05A28"/>
                </a:solidFill>
              </a:rPr>
              <a:t> </a:t>
            </a:r>
            <a:r>
              <a:rPr sz="2400" spc="10" dirty="0">
                <a:solidFill>
                  <a:srgbClr val="F05A28"/>
                </a:solidFill>
              </a:rPr>
              <a:t>and</a:t>
            </a:r>
            <a:r>
              <a:rPr sz="2400" spc="-140" dirty="0">
                <a:solidFill>
                  <a:srgbClr val="F05A28"/>
                </a:solidFill>
              </a:rPr>
              <a:t> </a:t>
            </a:r>
            <a:r>
              <a:rPr sz="2400" spc="-10" dirty="0">
                <a:solidFill>
                  <a:srgbClr val="F05A28"/>
                </a:solidFill>
              </a:rPr>
              <a:t>health</a:t>
            </a:r>
            <a:endParaRPr sz="2400"/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-10" dirty="0">
                <a:solidFill>
                  <a:srgbClr val="F05A28"/>
                </a:solidFill>
              </a:rPr>
              <a:t>Task</a:t>
            </a:r>
            <a:r>
              <a:rPr sz="2400" spc="-145" dirty="0">
                <a:solidFill>
                  <a:srgbClr val="F05A28"/>
                </a:solidFill>
              </a:rPr>
              <a:t> </a:t>
            </a:r>
            <a:r>
              <a:rPr sz="2400" spc="20" dirty="0">
                <a:solidFill>
                  <a:srgbClr val="F05A28"/>
                </a:solidFill>
              </a:rPr>
              <a:t>redundancy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112" y="1649824"/>
            <a:ext cx="3529694" cy="35365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33338" y="3623309"/>
            <a:ext cx="952500" cy="826135"/>
            <a:chOff x="6133338" y="3623309"/>
            <a:chExt cx="952500" cy="826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394" y="3623309"/>
              <a:ext cx="823721" cy="8260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33338" y="4402835"/>
              <a:ext cx="952500" cy="3810"/>
            </a:xfrm>
            <a:custGeom>
              <a:avLst/>
              <a:gdLst/>
              <a:ahLst/>
              <a:cxnLst/>
              <a:rect l="l" t="t" r="r" b="b"/>
              <a:pathLst>
                <a:path w="952500" h="3810">
                  <a:moveTo>
                    <a:pt x="0" y="3809"/>
                  </a:moveTo>
                  <a:lnTo>
                    <a:pt x="952500" y="3809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32152" y="4385354"/>
            <a:ext cx="555625" cy="2616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19421" y="3623310"/>
            <a:ext cx="952500" cy="822960"/>
            <a:chOff x="4519421" y="3623310"/>
            <a:chExt cx="952500" cy="8229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4953" y="3623310"/>
              <a:ext cx="824483" cy="8229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9421" y="4402074"/>
              <a:ext cx="952500" cy="5080"/>
            </a:xfrm>
            <a:custGeom>
              <a:avLst/>
              <a:gdLst/>
              <a:ahLst/>
              <a:cxnLst/>
              <a:rect l="l" t="t" r="r" b="b"/>
              <a:pathLst>
                <a:path w="952500" h="5079">
                  <a:moveTo>
                    <a:pt x="0" y="4571"/>
                  </a:moveTo>
                  <a:lnTo>
                    <a:pt x="952500" y="4571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18060" y="4384224"/>
            <a:ext cx="555625" cy="2616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78860" marR="5080" indent="-3477260">
              <a:lnSpc>
                <a:spcPts val="3670"/>
              </a:lnSpc>
              <a:spcBef>
                <a:spcPts val="760"/>
              </a:spcBef>
            </a:pPr>
            <a:r>
              <a:rPr spc="-25" dirty="0"/>
              <a:t>Distributed</a:t>
            </a:r>
            <a:r>
              <a:rPr spc="-190" dirty="0"/>
              <a:t> </a:t>
            </a:r>
            <a:r>
              <a:rPr spc="-185" dirty="0"/>
              <a:t>Systems:</a:t>
            </a:r>
            <a:r>
              <a:rPr spc="-200" dirty="0"/>
              <a:t> </a:t>
            </a:r>
            <a:r>
              <a:rPr spc="-5" dirty="0"/>
              <a:t>Getting</a:t>
            </a:r>
            <a:r>
              <a:rPr spc="-190" dirty="0"/>
              <a:t> </a:t>
            </a:r>
            <a:r>
              <a:rPr spc="15" dirty="0"/>
              <a:t>Work</a:t>
            </a:r>
            <a:r>
              <a:rPr spc="-204" dirty="0"/>
              <a:t> </a:t>
            </a:r>
            <a:r>
              <a:rPr spc="10" dirty="0"/>
              <a:t>Done </a:t>
            </a:r>
            <a:r>
              <a:rPr spc="-1250" dirty="0"/>
              <a:t> </a:t>
            </a:r>
            <a:r>
              <a:rPr spc="-45" dirty="0"/>
              <a:t>(Reliably)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916423" y="2234184"/>
            <a:ext cx="1604645" cy="1316990"/>
            <a:chOff x="4916423" y="2234184"/>
            <a:chExt cx="1604645" cy="131699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8863" y="2481072"/>
              <a:ext cx="821435" cy="8229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6423" y="2234184"/>
              <a:ext cx="514349" cy="5463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23830" y="3196971"/>
              <a:ext cx="288925" cy="291465"/>
            </a:xfrm>
            <a:custGeom>
              <a:avLst/>
              <a:gdLst/>
              <a:ahLst/>
              <a:cxnLst/>
              <a:rect l="l" t="t" r="r" b="b"/>
              <a:pathLst>
                <a:path w="288925" h="291464">
                  <a:moveTo>
                    <a:pt x="288505" y="0"/>
                  </a:moveTo>
                  <a:lnTo>
                    <a:pt x="0" y="290868"/>
                  </a:lnTo>
                </a:path>
              </a:pathLst>
            </a:custGeom>
            <a:ln w="25146">
              <a:solidFill>
                <a:srgbClr val="A62E5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9112" y="3451990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26606" y="0"/>
                  </a:moveTo>
                  <a:lnTo>
                    <a:pt x="0" y="80937"/>
                  </a:lnTo>
                  <a:lnTo>
                    <a:pt x="80708" y="53657"/>
                  </a:lnTo>
                  <a:lnTo>
                    <a:pt x="26606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78676" y="3180969"/>
              <a:ext cx="299720" cy="323850"/>
            </a:xfrm>
            <a:custGeom>
              <a:avLst/>
              <a:gdLst/>
              <a:ahLst/>
              <a:cxnLst/>
              <a:rect l="l" t="t" r="r" b="b"/>
              <a:pathLst>
                <a:path w="299720" h="323850">
                  <a:moveTo>
                    <a:pt x="0" y="0"/>
                  </a:moveTo>
                  <a:lnTo>
                    <a:pt x="299135" y="323380"/>
                  </a:lnTo>
                </a:path>
              </a:pathLst>
            </a:custGeom>
            <a:ln w="25146">
              <a:solidFill>
                <a:srgbClr val="A62E5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41220" y="3469149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09" h="81914">
                  <a:moveTo>
                    <a:pt x="55943" y="0"/>
                  </a:moveTo>
                  <a:lnTo>
                    <a:pt x="0" y="51739"/>
                  </a:lnTo>
                  <a:lnTo>
                    <a:pt x="79717" y="81813"/>
                  </a:lnTo>
                  <a:lnTo>
                    <a:pt x="55943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92566" y="2530525"/>
            <a:ext cx="3094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 marR="5080" indent="-118110">
              <a:lnSpc>
                <a:spcPct val="100000"/>
              </a:lnSpc>
              <a:spcBef>
                <a:spcPts val="95"/>
              </a:spcBef>
            </a:pPr>
            <a:r>
              <a:rPr sz="2000" spc="4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“we</a:t>
            </a:r>
            <a:r>
              <a:rPr sz="2000" spc="-114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cannot</a:t>
            </a:r>
            <a:r>
              <a:rPr sz="2000" spc="-114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afford</a:t>
            </a:r>
            <a:r>
              <a:rPr sz="2000" spc="-1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loss… </a:t>
            </a:r>
            <a:r>
              <a:rPr sz="2000" spc="-69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u="heavy" spc="-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Verdana" panose="020B0604030504040204"/>
                <a:cs typeface="Verdana" panose="020B0604030504040204"/>
              </a:rPr>
              <a:t>three</a:t>
            </a:r>
            <a:r>
              <a:rPr sz="2000" spc="-1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replicas,</a:t>
            </a:r>
            <a:r>
              <a:rPr sz="2000" spc="-9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please”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56353" y="3631691"/>
            <a:ext cx="1280160" cy="1003935"/>
            <a:chOff x="4356353" y="3631691"/>
            <a:chExt cx="1280160" cy="100393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4191" y="3631691"/>
              <a:ext cx="824483" cy="8229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56353" y="4406645"/>
              <a:ext cx="1280160" cy="228600"/>
            </a:xfrm>
            <a:custGeom>
              <a:avLst/>
              <a:gdLst/>
              <a:ahLst/>
              <a:cxnLst/>
              <a:rect l="l" t="t" r="r" b="b"/>
              <a:pathLst>
                <a:path w="1280160" h="228600">
                  <a:moveTo>
                    <a:pt x="1280160" y="0"/>
                  </a:moveTo>
                  <a:lnTo>
                    <a:pt x="0" y="0"/>
                  </a:lnTo>
                  <a:lnTo>
                    <a:pt x="0" y="228599"/>
                  </a:lnTo>
                  <a:lnTo>
                    <a:pt x="1280160" y="228599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56353" y="4377828"/>
            <a:ext cx="1280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LEADER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5106" y="5250941"/>
            <a:ext cx="824483" cy="82295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261097" y="6012941"/>
            <a:ext cx="95250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1800"/>
              </a:lnSpc>
            </a:pPr>
            <a:r>
              <a:rPr sz="16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70" y="5250941"/>
            <a:ext cx="823721" cy="82524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332476" y="6014465"/>
            <a:ext cx="95250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1795"/>
              </a:lnSpc>
            </a:pPr>
            <a:r>
              <a:rPr sz="16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9385" y="5250941"/>
            <a:ext cx="824483" cy="82295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403853" y="6012941"/>
            <a:ext cx="95250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1800"/>
              </a:lnSpc>
            </a:pPr>
            <a:r>
              <a:rPr sz="16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980938" y="3631691"/>
            <a:ext cx="1280160" cy="1003935"/>
            <a:chOff x="5980938" y="3631691"/>
            <a:chExt cx="1280160" cy="100393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0300" y="3631691"/>
              <a:ext cx="821435" cy="82295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80938" y="4406645"/>
              <a:ext cx="1280160" cy="228600"/>
            </a:xfrm>
            <a:custGeom>
              <a:avLst/>
              <a:gdLst/>
              <a:ahLst/>
              <a:cxnLst/>
              <a:rect l="l" t="t" r="r" b="b"/>
              <a:pathLst>
                <a:path w="1280159" h="228600">
                  <a:moveTo>
                    <a:pt x="1280160" y="0"/>
                  </a:moveTo>
                  <a:lnTo>
                    <a:pt x="0" y="0"/>
                  </a:lnTo>
                  <a:lnTo>
                    <a:pt x="0" y="228599"/>
                  </a:lnTo>
                  <a:lnTo>
                    <a:pt x="1280160" y="228599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980938" y="4377828"/>
            <a:ext cx="12801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LEADER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91382" y="4731258"/>
            <a:ext cx="405765" cy="520700"/>
            <a:chOff x="4191382" y="4731258"/>
            <a:chExt cx="405765" cy="520700"/>
          </a:xfrm>
        </p:grpSpPr>
        <p:sp>
          <p:nvSpPr>
            <p:cNvPr id="34" name="object 34"/>
            <p:cNvSpPr/>
            <p:nvPr/>
          </p:nvSpPr>
          <p:spPr>
            <a:xfrm>
              <a:off x="4230259" y="4743831"/>
              <a:ext cx="354330" cy="457834"/>
            </a:xfrm>
            <a:custGeom>
              <a:avLst/>
              <a:gdLst/>
              <a:ahLst/>
              <a:cxnLst/>
              <a:rect l="l" t="t" r="r" b="b"/>
              <a:pathLst>
                <a:path w="354329" h="457835">
                  <a:moveTo>
                    <a:pt x="354152" y="0"/>
                  </a:moveTo>
                  <a:lnTo>
                    <a:pt x="0" y="457365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91382" y="5167825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5" h="83820">
                  <a:moveTo>
                    <a:pt x="16522" y="0"/>
                  </a:moveTo>
                  <a:lnTo>
                    <a:pt x="0" y="83578"/>
                  </a:lnTo>
                  <a:lnTo>
                    <a:pt x="76771" y="46647"/>
                  </a:lnTo>
                  <a:lnTo>
                    <a:pt x="16522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169408" y="4731258"/>
            <a:ext cx="370205" cy="455930"/>
            <a:chOff x="5169408" y="4731258"/>
            <a:chExt cx="370205" cy="455930"/>
          </a:xfrm>
        </p:grpSpPr>
        <p:sp>
          <p:nvSpPr>
            <p:cNvPr id="37" name="object 37"/>
            <p:cNvSpPr/>
            <p:nvPr/>
          </p:nvSpPr>
          <p:spPr>
            <a:xfrm>
              <a:off x="5181981" y="4743831"/>
              <a:ext cx="317500" cy="393700"/>
            </a:xfrm>
            <a:custGeom>
              <a:avLst/>
              <a:gdLst/>
              <a:ahLst/>
              <a:cxnLst/>
              <a:rect l="l" t="t" r="r" b="b"/>
              <a:pathLst>
                <a:path w="317500" h="393700">
                  <a:moveTo>
                    <a:pt x="0" y="0"/>
                  </a:moveTo>
                  <a:lnTo>
                    <a:pt x="317322" y="393484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61674" y="5103510"/>
              <a:ext cx="78105" cy="83820"/>
            </a:xfrm>
            <a:custGeom>
              <a:avLst/>
              <a:gdLst/>
              <a:ahLst/>
              <a:cxnLst/>
              <a:rect l="l" t="t" r="r" b="b"/>
              <a:pathLst>
                <a:path w="78104" h="83820">
                  <a:moveTo>
                    <a:pt x="59321" y="0"/>
                  </a:moveTo>
                  <a:lnTo>
                    <a:pt x="0" y="47828"/>
                  </a:lnTo>
                  <a:lnTo>
                    <a:pt x="77495" y="83235"/>
                  </a:lnTo>
                  <a:lnTo>
                    <a:pt x="59321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077333" y="4688585"/>
            <a:ext cx="346075" cy="498475"/>
            <a:chOff x="6077333" y="4688585"/>
            <a:chExt cx="346075" cy="498475"/>
          </a:xfrm>
        </p:grpSpPr>
        <p:sp>
          <p:nvSpPr>
            <p:cNvPr id="40" name="object 40"/>
            <p:cNvSpPr/>
            <p:nvPr/>
          </p:nvSpPr>
          <p:spPr>
            <a:xfrm>
              <a:off x="6113258" y="4701158"/>
              <a:ext cx="297815" cy="433705"/>
            </a:xfrm>
            <a:custGeom>
              <a:avLst/>
              <a:gdLst/>
              <a:ahLst/>
              <a:cxnLst/>
              <a:rect l="l" t="t" r="r" b="b"/>
              <a:pathLst>
                <a:path w="297814" h="433704">
                  <a:moveTo>
                    <a:pt x="297446" y="0"/>
                  </a:moveTo>
                  <a:lnTo>
                    <a:pt x="0" y="433412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77333" y="5102546"/>
              <a:ext cx="74930" cy="84455"/>
            </a:xfrm>
            <a:custGeom>
              <a:avLst/>
              <a:gdLst/>
              <a:ahLst/>
              <a:cxnLst/>
              <a:rect l="l" t="t" r="r" b="b"/>
              <a:pathLst>
                <a:path w="74929" h="84454">
                  <a:moveTo>
                    <a:pt x="11696" y="0"/>
                  </a:moveTo>
                  <a:lnTo>
                    <a:pt x="0" y="84391"/>
                  </a:lnTo>
                  <a:lnTo>
                    <a:pt x="74523" y="43116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6879335" y="4688585"/>
            <a:ext cx="560705" cy="498475"/>
            <a:chOff x="6879335" y="4688585"/>
            <a:chExt cx="560705" cy="498475"/>
          </a:xfrm>
        </p:grpSpPr>
        <p:sp>
          <p:nvSpPr>
            <p:cNvPr id="43" name="object 43"/>
            <p:cNvSpPr/>
            <p:nvPr/>
          </p:nvSpPr>
          <p:spPr>
            <a:xfrm>
              <a:off x="6891908" y="4701158"/>
              <a:ext cx="500380" cy="443865"/>
            </a:xfrm>
            <a:custGeom>
              <a:avLst/>
              <a:gdLst/>
              <a:ahLst/>
              <a:cxnLst/>
              <a:rect l="l" t="t" r="r" b="b"/>
              <a:pathLst>
                <a:path w="500379" h="443864">
                  <a:moveTo>
                    <a:pt x="0" y="0"/>
                  </a:moveTo>
                  <a:lnTo>
                    <a:pt x="500176" y="443636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57301" y="5107866"/>
              <a:ext cx="82550" cy="79375"/>
            </a:xfrm>
            <a:custGeom>
              <a:avLst/>
              <a:gdLst/>
              <a:ahLst/>
              <a:cxnLst/>
              <a:rect l="l" t="t" r="r" b="b"/>
              <a:pathLst>
                <a:path w="82550" h="79375">
                  <a:moveTo>
                    <a:pt x="50571" y="0"/>
                  </a:moveTo>
                  <a:lnTo>
                    <a:pt x="0" y="57010"/>
                  </a:lnTo>
                  <a:lnTo>
                    <a:pt x="82295" y="79070"/>
                  </a:lnTo>
                  <a:lnTo>
                    <a:pt x="50571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Slide Number Placeholder 4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0959" y="5996888"/>
            <a:ext cx="555625" cy="2616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2353" y="5995619"/>
            <a:ext cx="555625" cy="2616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78860" marR="5080" indent="-3477260">
              <a:lnSpc>
                <a:spcPts val="3670"/>
              </a:lnSpc>
              <a:spcBef>
                <a:spcPts val="760"/>
              </a:spcBef>
            </a:pPr>
            <a:r>
              <a:rPr spc="-25" dirty="0"/>
              <a:t>Distributed</a:t>
            </a:r>
            <a:r>
              <a:rPr spc="-190" dirty="0"/>
              <a:t> </a:t>
            </a:r>
            <a:r>
              <a:rPr spc="-185" dirty="0"/>
              <a:t>Systems:</a:t>
            </a:r>
            <a:r>
              <a:rPr spc="-200" dirty="0"/>
              <a:t> </a:t>
            </a:r>
            <a:r>
              <a:rPr spc="-5" dirty="0"/>
              <a:t>Getting</a:t>
            </a:r>
            <a:r>
              <a:rPr spc="-190" dirty="0"/>
              <a:t> </a:t>
            </a:r>
            <a:r>
              <a:rPr spc="15" dirty="0"/>
              <a:t>Work</a:t>
            </a:r>
            <a:r>
              <a:rPr spc="-204" dirty="0"/>
              <a:t> </a:t>
            </a:r>
            <a:r>
              <a:rPr spc="10" dirty="0"/>
              <a:t>Done </a:t>
            </a:r>
            <a:r>
              <a:rPr spc="-1250" dirty="0"/>
              <a:t> </a:t>
            </a:r>
            <a:r>
              <a:rPr spc="-45" dirty="0"/>
              <a:t>(Reliably)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770" y="5250941"/>
            <a:ext cx="823721" cy="8252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9385" y="5250941"/>
            <a:ext cx="824483" cy="8229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584191" y="2481072"/>
            <a:ext cx="1626235" cy="1973580"/>
            <a:chOff x="4584191" y="2481072"/>
            <a:chExt cx="1626235" cy="19735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8863" y="2481072"/>
              <a:ext cx="821435" cy="8229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4191" y="3631692"/>
              <a:ext cx="824483" cy="82295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09491" y="2668831"/>
            <a:ext cx="19780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”here</a:t>
            </a:r>
            <a:r>
              <a:rPr sz="2000" spc="-1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you</a:t>
            </a:r>
            <a:r>
              <a:rPr sz="2000" spc="-13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go…”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6353" y="4406646"/>
            <a:ext cx="1280160" cy="228600"/>
          </a:xfrm>
          <a:prstGeom prst="rect">
            <a:avLst/>
          </a:prstGeom>
          <a:solidFill>
            <a:srgbClr val="675BA7"/>
          </a:solidFill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1795"/>
              </a:lnSpc>
            </a:pPr>
            <a:r>
              <a:rPr sz="16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LEADER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25106" y="5250941"/>
            <a:ext cx="824483" cy="82295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61097" y="6012941"/>
            <a:ext cx="95250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198120">
              <a:lnSpc>
                <a:spcPts val="1800"/>
              </a:lnSpc>
            </a:pPr>
            <a:r>
              <a:rPr sz="16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PEER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95671" y="6014465"/>
            <a:ext cx="164592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ts val="1795"/>
              </a:lnSpc>
            </a:pPr>
            <a:r>
              <a:rPr sz="16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FOLLOWER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51048" y="6012941"/>
            <a:ext cx="1645920" cy="22860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ts val="1800"/>
              </a:lnSpc>
            </a:pPr>
            <a:r>
              <a:rPr sz="1600" spc="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FOLLOWER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0300" y="3631691"/>
            <a:ext cx="821435" cy="82295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80938" y="4406646"/>
            <a:ext cx="1280160" cy="228600"/>
          </a:xfrm>
          <a:prstGeom prst="rect">
            <a:avLst/>
          </a:prstGeom>
          <a:solidFill>
            <a:srgbClr val="675BA7"/>
          </a:solidFill>
        </p:spPr>
        <p:txBody>
          <a:bodyPr vert="horz" wrap="square" lIns="0" tIns="0" rIns="0" bIns="0" rtlCol="0">
            <a:spAutoFit/>
          </a:bodyPr>
          <a:lstStyle/>
          <a:p>
            <a:pPr marL="207010">
              <a:lnSpc>
                <a:spcPts val="1795"/>
              </a:lnSpc>
            </a:pPr>
            <a:r>
              <a:rPr sz="1600" spc="7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LEADER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97273" y="4731258"/>
            <a:ext cx="530860" cy="807720"/>
            <a:chOff x="4097273" y="4731258"/>
            <a:chExt cx="530860" cy="80772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7273" y="5064252"/>
              <a:ext cx="530351" cy="4747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30259" y="4743831"/>
              <a:ext cx="354330" cy="457834"/>
            </a:xfrm>
            <a:custGeom>
              <a:avLst/>
              <a:gdLst/>
              <a:ahLst/>
              <a:cxnLst/>
              <a:rect l="l" t="t" r="r" b="b"/>
              <a:pathLst>
                <a:path w="354329" h="457835">
                  <a:moveTo>
                    <a:pt x="354152" y="0"/>
                  </a:moveTo>
                  <a:lnTo>
                    <a:pt x="0" y="457365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1382" y="5167825"/>
              <a:ext cx="76835" cy="83820"/>
            </a:xfrm>
            <a:custGeom>
              <a:avLst/>
              <a:gdLst/>
              <a:ahLst/>
              <a:cxnLst/>
              <a:rect l="l" t="t" r="r" b="b"/>
              <a:pathLst>
                <a:path w="76835" h="83820">
                  <a:moveTo>
                    <a:pt x="16522" y="0"/>
                  </a:moveTo>
                  <a:lnTo>
                    <a:pt x="0" y="83578"/>
                  </a:lnTo>
                  <a:lnTo>
                    <a:pt x="76771" y="46647"/>
                  </a:lnTo>
                  <a:lnTo>
                    <a:pt x="16522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169408" y="4688585"/>
            <a:ext cx="1372870" cy="850900"/>
            <a:chOff x="5169408" y="4688585"/>
            <a:chExt cx="1372870" cy="8509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2180" y="5064251"/>
              <a:ext cx="529589" cy="4747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81981" y="4743830"/>
              <a:ext cx="317500" cy="393700"/>
            </a:xfrm>
            <a:custGeom>
              <a:avLst/>
              <a:gdLst/>
              <a:ahLst/>
              <a:cxnLst/>
              <a:rect l="l" t="t" r="r" b="b"/>
              <a:pathLst>
                <a:path w="317500" h="393700">
                  <a:moveTo>
                    <a:pt x="0" y="0"/>
                  </a:moveTo>
                  <a:lnTo>
                    <a:pt x="317322" y="393484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61674" y="5103510"/>
              <a:ext cx="78105" cy="83820"/>
            </a:xfrm>
            <a:custGeom>
              <a:avLst/>
              <a:gdLst/>
              <a:ahLst/>
              <a:cxnLst/>
              <a:rect l="l" t="t" r="r" b="b"/>
              <a:pathLst>
                <a:path w="78104" h="83820">
                  <a:moveTo>
                    <a:pt x="59321" y="0"/>
                  </a:moveTo>
                  <a:lnTo>
                    <a:pt x="0" y="47828"/>
                  </a:lnTo>
                  <a:lnTo>
                    <a:pt x="77495" y="83235"/>
                  </a:lnTo>
                  <a:lnTo>
                    <a:pt x="59321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3258" y="4701158"/>
              <a:ext cx="297815" cy="433705"/>
            </a:xfrm>
            <a:custGeom>
              <a:avLst/>
              <a:gdLst/>
              <a:ahLst/>
              <a:cxnLst/>
              <a:rect l="l" t="t" r="r" b="b"/>
              <a:pathLst>
                <a:path w="297814" h="433704">
                  <a:moveTo>
                    <a:pt x="297446" y="0"/>
                  </a:moveTo>
                  <a:lnTo>
                    <a:pt x="0" y="433412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77333" y="5102546"/>
              <a:ext cx="74930" cy="84455"/>
            </a:xfrm>
            <a:custGeom>
              <a:avLst/>
              <a:gdLst/>
              <a:ahLst/>
              <a:cxnLst/>
              <a:rect l="l" t="t" r="r" b="b"/>
              <a:pathLst>
                <a:path w="74929" h="84454">
                  <a:moveTo>
                    <a:pt x="11696" y="0"/>
                  </a:moveTo>
                  <a:lnTo>
                    <a:pt x="0" y="84391"/>
                  </a:lnTo>
                  <a:lnTo>
                    <a:pt x="74523" y="43116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43850" y="5127497"/>
            <a:ext cx="539495" cy="47548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292189" y="5561805"/>
            <a:ext cx="2477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4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“not</a:t>
            </a:r>
            <a:r>
              <a:rPr sz="2000" spc="-1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ready</a:t>
            </a:r>
            <a:r>
              <a:rPr sz="2000" spc="-1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3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2000" spc="-12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able”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55668" y="3869826"/>
            <a:ext cx="26200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4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“we</a:t>
            </a:r>
            <a:r>
              <a:rPr sz="2000" spc="-12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4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have</a:t>
            </a:r>
            <a:r>
              <a:rPr sz="2000" spc="-11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-30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000" spc="-114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000" spc="15" dirty="0">
                <a:solidFill>
                  <a:srgbClr val="3E3E3E"/>
                </a:solidFill>
                <a:latin typeface="Verdana" panose="020B0604030504040204"/>
                <a:cs typeface="Verdana" panose="020B0604030504040204"/>
              </a:rPr>
              <a:t>quorum”</a:t>
            </a:r>
            <a:endParaRPr sz="20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13042" y="3502914"/>
            <a:ext cx="539495" cy="475487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079112" y="2329433"/>
            <a:ext cx="1611630" cy="1600200"/>
            <a:chOff x="5079112" y="2329433"/>
            <a:chExt cx="1611630" cy="1600200"/>
          </a:xfrm>
        </p:grpSpPr>
        <p:sp>
          <p:nvSpPr>
            <p:cNvPr id="33" name="object 33"/>
            <p:cNvSpPr/>
            <p:nvPr/>
          </p:nvSpPr>
          <p:spPr>
            <a:xfrm>
              <a:off x="5123830" y="3196970"/>
              <a:ext cx="288925" cy="291465"/>
            </a:xfrm>
            <a:custGeom>
              <a:avLst/>
              <a:gdLst/>
              <a:ahLst/>
              <a:cxnLst/>
              <a:rect l="l" t="t" r="r" b="b"/>
              <a:pathLst>
                <a:path w="288925" h="291464">
                  <a:moveTo>
                    <a:pt x="288505" y="0"/>
                  </a:moveTo>
                  <a:lnTo>
                    <a:pt x="0" y="290868"/>
                  </a:lnTo>
                </a:path>
              </a:pathLst>
            </a:custGeom>
            <a:ln w="25146">
              <a:solidFill>
                <a:srgbClr val="A62E5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79112" y="3451990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26606" y="0"/>
                  </a:moveTo>
                  <a:lnTo>
                    <a:pt x="0" y="80937"/>
                  </a:lnTo>
                  <a:lnTo>
                    <a:pt x="80708" y="53657"/>
                  </a:lnTo>
                  <a:lnTo>
                    <a:pt x="26606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9606" y="3454908"/>
              <a:ext cx="529589" cy="4747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3056" y="2329433"/>
              <a:ext cx="527303" cy="461009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879335" y="4688585"/>
            <a:ext cx="560705" cy="498475"/>
            <a:chOff x="6879335" y="4688585"/>
            <a:chExt cx="560705" cy="498475"/>
          </a:xfrm>
        </p:grpSpPr>
        <p:sp>
          <p:nvSpPr>
            <p:cNvPr id="38" name="object 38"/>
            <p:cNvSpPr/>
            <p:nvPr/>
          </p:nvSpPr>
          <p:spPr>
            <a:xfrm>
              <a:off x="6891908" y="4701158"/>
              <a:ext cx="500380" cy="443865"/>
            </a:xfrm>
            <a:custGeom>
              <a:avLst/>
              <a:gdLst/>
              <a:ahLst/>
              <a:cxnLst/>
              <a:rect l="l" t="t" r="r" b="b"/>
              <a:pathLst>
                <a:path w="500379" h="443864">
                  <a:moveTo>
                    <a:pt x="0" y="0"/>
                  </a:moveTo>
                  <a:lnTo>
                    <a:pt x="500176" y="443636"/>
                  </a:lnTo>
                </a:path>
              </a:pathLst>
            </a:custGeom>
            <a:ln w="25146">
              <a:solidFill>
                <a:srgbClr val="675BA7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57301" y="5107866"/>
              <a:ext cx="82550" cy="79375"/>
            </a:xfrm>
            <a:custGeom>
              <a:avLst/>
              <a:gdLst/>
              <a:ahLst/>
              <a:cxnLst/>
              <a:rect l="l" t="t" r="r" b="b"/>
              <a:pathLst>
                <a:path w="82550" h="79375">
                  <a:moveTo>
                    <a:pt x="50571" y="0"/>
                  </a:moveTo>
                  <a:lnTo>
                    <a:pt x="0" y="57010"/>
                  </a:lnTo>
                  <a:lnTo>
                    <a:pt x="82295" y="79070"/>
                  </a:lnTo>
                  <a:lnTo>
                    <a:pt x="50571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Slide Number Placeholder 3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7231" y="3844290"/>
            <a:ext cx="1645920" cy="1274445"/>
            <a:chOff x="9857231" y="3844290"/>
            <a:chExt cx="1645920" cy="1274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8785" y="3956304"/>
              <a:ext cx="1162811" cy="11620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857231" y="3844290"/>
              <a:ext cx="1645920" cy="365760"/>
            </a:xfrm>
            <a:custGeom>
              <a:avLst/>
              <a:gdLst/>
              <a:ahLst/>
              <a:cxnLst/>
              <a:rect l="l" t="t" r="r" b="b"/>
              <a:pathLst>
                <a:path w="1645920" h="365760">
                  <a:moveTo>
                    <a:pt x="164592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645920" y="365760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9191" y="519066"/>
            <a:ext cx="7545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Sources</a:t>
            </a:r>
            <a:r>
              <a:rPr spc="-220" dirty="0"/>
              <a:t> </a:t>
            </a:r>
            <a:r>
              <a:rPr spc="75" dirty="0"/>
              <a:t>of</a:t>
            </a:r>
            <a:r>
              <a:rPr spc="-210" dirty="0"/>
              <a:t> </a:t>
            </a:r>
            <a:r>
              <a:rPr spc="15" dirty="0"/>
              <a:t>Work</a:t>
            </a:r>
            <a:r>
              <a:rPr spc="-220" dirty="0"/>
              <a:t> </a:t>
            </a:r>
            <a:r>
              <a:rPr spc="-85" dirty="0"/>
              <a:t>in</a:t>
            </a:r>
            <a:r>
              <a:rPr spc="-190" dirty="0"/>
              <a:t> </a:t>
            </a:r>
            <a:r>
              <a:rPr spc="80" dirty="0"/>
              <a:t>Apache</a:t>
            </a:r>
            <a:r>
              <a:rPr spc="-210" dirty="0"/>
              <a:t> </a:t>
            </a:r>
            <a:r>
              <a:rPr spc="-55" dirty="0"/>
              <a:t>Kafka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648200" y="3408426"/>
            <a:ext cx="2895600" cy="2474595"/>
            <a:chOff x="4648200" y="3408426"/>
            <a:chExt cx="2895600" cy="24745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282" y="5056632"/>
              <a:ext cx="823721" cy="8260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680" y="4231386"/>
              <a:ext cx="823721" cy="8252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7567" y="3408426"/>
              <a:ext cx="821435" cy="8229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7883" y="4231386"/>
              <a:ext cx="824483" cy="8229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200" y="5058155"/>
              <a:ext cx="824483" cy="8229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9316" y="5052822"/>
              <a:ext cx="824483" cy="82295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8220" y="1808988"/>
            <a:ext cx="374141" cy="46939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7286" y="1808988"/>
            <a:ext cx="757427" cy="46939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9514" y="1808988"/>
            <a:ext cx="604265" cy="4693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602479" y="6026658"/>
            <a:ext cx="298704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069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410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KAFKA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CLUSTER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2479" y="3291078"/>
            <a:ext cx="2987040" cy="2735580"/>
          </a:xfrm>
          <a:custGeom>
            <a:avLst/>
            <a:gdLst/>
            <a:ahLst/>
            <a:cxnLst/>
            <a:rect l="l" t="t" r="r" b="b"/>
            <a:pathLst>
              <a:path w="2987040" h="2735579">
                <a:moveTo>
                  <a:pt x="0" y="0"/>
                </a:moveTo>
                <a:lnTo>
                  <a:pt x="2987039" y="0"/>
                </a:lnTo>
                <a:lnTo>
                  <a:pt x="2987039" y="2735580"/>
                </a:lnTo>
                <a:lnTo>
                  <a:pt x="0" y="273558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88692" y="4786885"/>
            <a:ext cx="1920239" cy="0"/>
          </a:xfrm>
          <a:custGeom>
            <a:avLst/>
            <a:gdLst/>
            <a:ahLst/>
            <a:cxnLst/>
            <a:rect l="l" t="t" r="r" b="b"/>
            <a:pathLst>
              <a:path w="1920239">
                <a:moveTo>
                  <a:pt x="0" y="0"/>
                </a:moveTo>
                <a:lnTo>
                  <a:pt x="1920239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6028" y="2371344"/>
            <a:ext cx="1554479" cy="155752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40308" y="3844290"/>
            <a:ext cx="164592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705" rIns="0" bIns="0" rtlCol="0">
            <a:spAutoFit/>
          </a:bodyPr>
          <a:lstStyle/>
          <a:p>
            <a:pPr marL="220980">
              <a:lnSpc>
                <a:spcPct val="100000"/>
              </a:lnSpc>
              <a:spcBef>
                <a:spcPts val="415"/>
              </a:spcBef>
            </a:pP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PRODUCER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1955" y="4455414"/>
            <a:ext cx="1162811" cy="6629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857231" y="3844290"/>
            <a:ext cx="1645920" cy="3657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415"/>
              </a:spcBef>
            </a:pPr>
            <a:r>
              <a:rPr sz="1600" spc="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CONSUMER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02952" y="2372867"/>
            <a:ext cx="1551431" cy="155447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7783068" y="4786885"/>
            <a:ext cx="1920239" cy="0"/>
          </a:xfrm>
          <a:custGeom>
            <a:avLst/>
            <a:gdLst/>
            <a:ahLst/>
            <a:cxnLst/>
            <a:rect l="l" t="t" r="r" b="b"/>
            <a:pathLst>
              <a:path w="1920240">
                <a:moveTo>
                  <a:pt x="0" y="0"/>
                </a:moveTo>
                <a:lnTo>
                  <a:pt x="1920239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5334" y="157086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146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81813" y="2536773"/>
            <a:ext cx="5949950" cy="217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Worker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membership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400" spc="-1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naming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 marR="1700530">
              <a:lnSpc>
                <a:spcPct val="163000"/>
              </a:lnSpc>
            </a:pP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Configuration</a:t>
            </a:r>
            <a:r>
              <a:rPr sz="2400" spc="-14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management </a:t>
            </a:r>
            <a:r>
              <a:rPr sz="2400" spc="-8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Leader</a:t>
            </a:r>
            <a:r>
              <a:rPr sz="2400" spc="-114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election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Health</a:t>
            </a:r>
            <a:r>
              <a:rPr sz="2400" spc="-15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status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902" y="2118360"/>
            <a:ext cx="3773423" cy="30358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450590" marR="5080" indent="-3438525">
              <a:lnSpc>
                <a:spcPts val="3670"/>
              </a:lnSpc>
              <a:spcBef>
                <a:spcPts val="760"/>
              </a:spcBef>
            </a:pPr>
            <a:r>
              <a:rPr spc="-25" dirty="0"/>
              <a:t>Distributed</a:t>
            </a:r>
            <a:r>
              <a:rPr spc="-190" dirty="0"/>
              <a:t> </a:t>
            </a:r>
            <a:r>
              <a:rPr spc="-185" dirty="0"/>
              <a:t>Systems:</a:t>
            </a:r>
            <a:r>
              <a:rPr spc="-195" dirty="0"/>
              <a:t> </a:t>
            </a:r>
            <a:r>
              <a:rPr spc="-15" dirty="0"/>
              <a:t>Communication</a:t>
            </a:r>
            <a:r>
              <a:rPr spc="-175" dirty="0"/>
              <a:t> </a:t>
            </a:r>
            <a:r>
              <a:rPr spc="-15" dirty="0"/>
              <a:t>and </a:t>
            </a:r>
            <a:r>
              <a:rPr spc="-1250" dirty="0"/>
              <a:t> </a:t>
            </a:r>
            <a:r>
              <a:rPr spc="-35" dirty="0"/>
              <a:t>Consensus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5334" y="157086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146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81661" y="1439492"/>
            <a:ext cx="6320155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9875">
              <a:lnSpc>
                <a:spcPct val="100000"/>
              </a:lnSpc>
              <a:spcBef>
                <a:spcPts val="100"/>
              </a:spcBef>
            </a:pPr>
            <a:r>
              <a:rPr sz="2400" spc="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Centralized </a:t>
            </a:r>
            <a:r>
              <a:rPr sz="2400" spc="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service </a:t>
            </a:r>
            <a:r>
              <a:rPr sz="2400" spc="4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for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maintaining </a:t>
            </a: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metadata</a:t>
            </a:r>
            <a:r>
              <a:rPr sz="2400" spc="-1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about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cluster</a:t>
            </a:r>
            <a:r>
              <a:rPr sz="2400" spc="-114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distributed </a:t>
            </a:r>
            <a:r>
              <a:rPr sz="2400" spc="-8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nodes</a:t>
            </a:r>
            <a:endParaRPr sz="2400" dirty="0">
              <a:latin typeface="Verdana" panose="020B0604030504040204"/>
              <a:cs typeface="Verdana" panose="020B0604030504040204"/>
            </a:endParaRPr>
          </a:p>
          <a:p>
            <a:pPr marL="541655" indent="-289560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541020" algn="l"/>
                <a:tab pos="542290" algn="l"/>
              </a:tabLst>
            </a:pP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Configuration</a:t>
            </a:r>
            <a:r>
              <a:rPr sz="2400" spc="-15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information</a:t>
            </a:r>
            <a:endParaRPr sz="2400" dirty="0">
              <a:latin typeface="Verdana" panose="020B0604030504040204"/>
              <a:cs typeface="Verdana" panose="020B0604030504040204"/>
            </a:endParaRPr>
          </a:p>
          <a:p>
            <a:pPr marL="541655" indent="-289560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541020" algn="l"/>
                <a:tab pos="542290" algn="l"/>
              </a:tabLst>
            </a:pP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Hea</a:t>
            </a:r>
            <a:r>
              <a:rPr lang="en-IN"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l</a:t>
            </a:r>
            <a:r>
              <a:rPr sz="2400" spc="-15" dirty="0" err="1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th</a:t>
            </a:r>
            <a:r>
              <a:rPr sz="2400" spc="-16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status</a:t>
            </a:r>
            <a:endParaRPr sz="2400" dirty="0">
              <a:latin typeface="Verdana" panose="020B0604030504040204"/>
              <a:cs typeface="Verdana" panose="020B0604030504040204"/>
            </a:endParaRPr>
          </a:p>
          <a:p>
            <a:pPr marL="541655" indent="-289560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541020" algn="l"/>
                <a:tab pos="542290" algn="l"/>
              </a:tabLst>
            </a:pPr>
            <a:r>
              <a:rPr sz="2400" spc="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Group</a:t>
            </a:r>
            <a:r>
              <a:rPr sz="2400" spc="-16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membership</a:t>
            </a:r>
            <a:endParaRPr sz="2400" dirty="0">
              <a:latin typeface="Verdana" panose="020B0604030504040204"/>
              <a:cs typeface="Verdana" panose="020B0604030504040204"/>
            </a:endParaRPr>
          </a:p>
          <a:p>
            <a:pPr marL="12700" marR="290195">
              <a:lnSpc>
                <a:spcPct val="100000"/>
              </a:lnSpc>
              <a:spcBef>
                <a:spcPts val="1800"/>
              </a:spcBef>
            </a:pP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Hadoop,</a:t>
            </a:r>
            <a:r>
              <a:rPr sz="2400" spc="-15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H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B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400" spc="-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400" spc="-229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2400" spc="-1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</a:t>
            </a:r>
            <a:r>
              <a:rPr sz="2400" spc="-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400" spc="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400" spc="-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400" spc="-229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2400" spc="-1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10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</a:t>
            </a:r>
            <a:r>
              <a:rPr sz="2400" spc="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</a:t>
            </a: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l</a:t>
            </a:r>
            <a:r>
              <a:rPr sz="2400" spc="-254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400" spc="-229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e</a:t>
            </a:r>
            <a:r>
              <a:rPr sz="2400" spc="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dis</a:t>
            </a:r>
            <a:r>
              <a:rPr sz="2400" spc="-229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,</a:t>
            </a:r>
            <a:r>
              <a:rPr sz="2400" spc="-11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8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d  </a:t>
            </a:r>
            <a:r>
              <a:rPr sz="2400" spc="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Neo4j</a:t>
            </a:r>
            <a:endParaRPr sz="2400" dirty="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Distributed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system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consisting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8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of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multiple </a:t>
            </a:r>
            <a:r>
              <a:rPr sz="2400" spc="-8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nodes</a:t>
            </a:r>
            <a:r>
              <a:rPr sz="2400" spc="-13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in</a:t>
            </a:r>
            <a:r>
              <a:rPr sz="2400" spc="-1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an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“ensemble”</a:t>
            </a:r>
            <a:endParaRPr sz="2400" dirty="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95393" y="519066"/>
            <a:ext cx="4312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Apache</a:t>
            </a:r>
            <a:r>
              <a:rPr spc="-260" dirty="0"/>
              <a:t> </a:t>
            </a:r>
            <a:r>
              <a:rPr spc="-20" dirty="0"/>
              <a:t>Zookeeper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167" y="1812798"/>
            <a:ext cx="2564891" cy="364693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97729" y="3089148"/>
            <a:ext cx="3069590" cy="2824480"/>
            <a:chOff x="4697729" y="3089148"/>
            <a:chExt cx="3069590" cy="2824480"/>
          </a:xfrm>
        </p:grpSpPr>
        <p:sp>
          <p:nvSpPr>
            <p:cNvPr id="3" name="object 3"/>
            <p:cNvSpPr/>
            <p:nvPr/>
          </p:nvSpPr>
          <p:spPr>
            <a:xfrm>
              <a:off x="4778501" y="3090672"/>
              <a:ext cx="2987040" cy="2735580"/>
            </a:xfrm>
            <a:custGeom>
              <a:avLst/>
              <a:gdLst/>
              <a:ahLst/>
              <a:cxnLst/>
              <a:rect l="l" t="t" r="r" b="b"/>
              <a:pathLst>
                <a:path w="2987040" h="2735579">
                  <a:moveTo>
                    <a:pt x="0" y="0"/>
                  </a:moveTo>
                  <a:lnTo>
                    <a:pt x="2987040" y="0"/>
                  </a:lnTo>
                  <a:lnTo>
                    <a:pt x="2987040" y="2735580"/>
                  </a:lnTo>
                  <a:lnTo>
                    <a:pt x="0" y="273558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99253" y="3176016"/>
              <a:ext cx="2987040" cy="2735580"/>
            </a:xfrm>
            <a:custGeom>
              <a:avLst/>
              <a:gdLst/>
              <a:ahLst/>
              <a:cxnLst/>
              <a:rect l="l" t="t" r="r" b="b"/>
              <a:pathLst>
                <a:path w="2987040" h="2735579">
                  <a:moveTo>
                    <a:pt x="2987040" y="0"/>
                  </a:moveTo>
                  <a:lnTo>
                    <a:pt x="0" y="0"/>
                  </a:lnTo>
                  <a:lnTo>
                    <a:pt x="0" y="2735580"/>
                  </a:lnTo>
                  <a:lnTo>
                    <a:pt x="2987040" y="2735580"/>
                  </a:lnTo>
                  <a:lnTo>
                    <a:pt x="2987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99253" y="3176016"/>
              <a:ext cx="2987040" cy="2735580"/>
            </a:xfrm>
            <a:custGeom>
              <a:avLst/>
              <a:gdLst/>
              <a:ahLst/>
              <a:cxnLst/>
              <a:rect l="l" t="t" r="r" b="b"/>
              <a:pathLst>
                <a:path w="2987040" h="2735579">
                  <a:moveTo>
                    <a:pt x="0" y="0"/>
                  </a:moveTo>
                  <a:lnTo>
                    <a:pt x="2987040" y="0"/>
                  </a:lnTo>
                  <a:lnTo>
                    <a:pt x="2987040" y="2735580"/>
                  </a:lnTo>
                  <a:lnTo>
                    <a:pt x="0" y="273558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604702" y="1363154"/>
            <a:ext cx="3204845" cy="1065530"/>
            <a:chOff x="4604702" y="1363154"/>
            <a:chExt cx="3204845" cy="1065530"/>
          </a:xfrm>
        </p:grpSpPr>
        <p:sp>
          <p:nvSpPr>
            <p:cNvPr id="7" name="object 7"/>
            <p:cNvSpPr/>
            <p:nvPr/>
          </p:nvSpPr>
          <p:spPr>
            <a:xfrm>
              <a:off x="4820412" y="1364741"/>
              <a:ext cx="2987040" cy="818515"/>
            </a:xfrm>
            <a:custGeom>
              <a:avLst/>
              <a:gdLst/>
              <a:ahLst/>
              <a:cxnLst/>
              <a:rect l="l" t="t" r="r" b="b"/>
              <a:pathLst>
                <a:path w="2987040" h="818514">
                  <a:moveTo>
                    <a:pt x="0" y="0"/>
                  </a:moveTo>
                  <a:lnTo>
                    <a:pt x="2987040" y="0"/>
                  </a:lnTo>
                  <a:lnTo>
                    <a:pt x="2987040" y="818388"/>
                  </a:lnTo>
                  <a:lnTo>
                    <a:pt x="0" y="8183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4588" y="1486661"/>
              <a:ext cx="2987040" cy="818515"/>
            </a:xfrm>
            <a:custGeom>
              <a:avLst/>
              <a:gdLst/>
              <a:ahLst/>
              <a:cxnLst/>
              <a:rect l="l" t="t" r="r" b="b"/>
              <a:pathLst>
                <a:path w="2987040" h="818514">
                  <a:moveTo>
                    <a:pt x="2987040" y="0"/>
                  </a:moveTo>
                  <a:lnTo>
                    <a:pt x="0" y="0"/>
                  </a:lnTo>
                  <a:lnTo>
                    <a:pt x="0" y="818388"/>
                  </a:lnTo>
                  <a:lnTo>
                    <a:pt x="2987040" y="818388"/>
                  </a:lnTo>
                  <a:lnTo>
                    <a:pt x="2987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04588" y="1486661"/>
              <a:ext cx="2987040" cy="818515"/>
            </a:xfrm>
            <a:custGeom>
              <a:avLst/>
              <a:gdLst/>
              <a:ahLst/>
              <a:cxnLst/>
              <a:rect l="l" t="t" r="r" b="b"/>
              <a:pathLst>
                <a:path w="2987040" h="818514">
                  <a:moveTo>
                    <a:pt x="0" y="0"/>
                  </a:moveTo>
                  <a:lnTo>
                    <a:pt x="2987040" y="0"/>
                  </a:lnTo>
                  <a:lnTo>
                    <a:pt x="2987040" y="818388"/>
                  </a:lnTo>
                  <a:lnTo>
                    <a:pt x="0" y="8183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06290" y="1609343"/>
              <a:ext cx="2987040" cy="817880"/>
            </a:xfrm>
            <a:custGeom>
              <a:avLst/>
              <a:gdLst/>
              <a:ahLst/>
              <a:cxnLst/>
              <a:rect l="l" t="t" r="r" b="b"/>
              <a:pathLst>
                <a:path w="2987040" h="817880">
                  <a:moveTo>
                    <a:pt x="2987040" y="0"/>
                  </a:moveTo>
                  <a:lnTo>
                    <a:pt x="0" y="0"/>
                  </a:lnTo>
                  <a:lnTo>
                    <a:pt x="0" y="817626"/>
                  </a:lnTo>
                  <a:lnTo>
                    <a:pt x="2987040" y="817626"/>
                  </a:lnTo>
                  <a:lnTo>
                    <a:pt x="2987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6290" y="1609343"/>
              <a:ext cx="2987040" cy="817880"/>
            </a:xfrm>
            <a:custGeom>
              <a:avLst/>
              <a:gdLst/>
              <a:ahLst/>
              <a:cxnLst/>
              <a:rect l="l" t="t" r="r" b="b"/>
              <a:pathLst>
                <a:path w="2987040" h="817880">
                  <a:moveTo>
                    <a:pt x="0" y="0"/>
                  </a:moveTo>
                  <a:lnTo>
                    <a:pt x="2987040" y="0"/>
                  </a:lnTo>
                  <a:lnTo>
                    <a:pt x="2987040" y="817626"/>
                  </a:lnTo>
                  <a:lnTo>
                    <a:pt x="0" y="81762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30145" y="519066"/>
            <a:ext cx="9043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Apache</a:t>
            </a:r>
            <a:r>
              <a:rPr spc="-204" dirty="0"/>
              <a:t> </a:t>
            </a:r>
            <a:r>
              <a:rPr spc="-90" dirty="0"/>
              <a:t>Kafka’s</a:t>
            </a:r>
            <a:r>
              <a:rPr spc="-204" dirty="0"/>
              <a:t> </a:t>
            </a:r>
            <a:r>
              <a:rPr spc="-25" dirty="0"/>
              <a:t>Distributed</a:t>
            </a:r>
            <a:r>
              <a:rPr spc="-195" dirty="0"/>
              <a:t> </a:t>
            </a:r>
            <a:r>
              <a:rPr dirty="0"/>
              <a:t>Architecture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9857231" y="3844290"/>
            <a:ext cx="1645920" cy="1274445"/>
            <a:chOff x="9857231" y="3844290"/>
            <a:chExt cx="1645920" cy="12744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8785" y="3956304"/>
              <a:ext cx="1162811" cy="11620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57231" y="3844290"/>
              <a:ext cx="1645920" cy="365760"/>
            </a:xfrm>
            <a:custGeom>
              <a:avLst/>
              <a:gdLst/>
              <a:ahLst/>
              <a:cxnLst/>
              <a:rect l="l" t="t" r="r" b="b"/>
              <a:pathLst>
                <a:path w="1645920" h="365760">
                  <a:moveTo>
                    <a:pt x="164592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645920" y="365760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02479" y="6026658"/>
            <a:ext cx="298704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069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410"/>
              </a:spcBef>
            </a:pPr>
            <a:r>
              <a:rPr sz="1600" spc="10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KAFKA</a:t>
            </a:r>
            <a:r>
              <a:rPr sz="1600" spc="-1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CLUSTER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00955" y="3289553"/>
            <a:ext cx="2990215" cy="2738755"/>
            <a:chOff x="4600955" y="3289553"/>
            <a:chExt cx="2990215" cy="2738755"/>
          </a:xfrm>
        </p:grpSpPr>
        <p:sp>
          <p:nvSpPr>
            <p:cNvPr id="18" name="object 18"/>
            <p:cNvSpPr/>
            <p:nvPr/>
          </p:nvSpPr>
          <p:spPr>
            <a:xfrm>
              <a:off x="4602479" y="3291077"/>
              <a:ext cx="2987040" cy="2735580"/>
            </a:xfrm>
            <a:custGeom>
              <a:avLst/>
              <a:gdLst/>
              <a:ahLst/>
              <a:cxnLst/>
              <a:rect l="l" t="t" r="r" b="b"/>
              <a:pathLst>
                <a:path w="2987040" h="2735579">
                  <a:moveTo>
                    <a:pt x="2987039" y="0"/>
                  </a:moveTo>
                  <a:lnTo>
                    <a:pt x="0" y="0"/>
                  </a:lnTo>
                  <a:lnTo>
                    <a:pt x="0" y="2735580"/>
                  </a:lnTo>
                  <a:lnTo>
                    <a:pt x="2987039" y="2735580"/>
                  </a:lnTo>
                  <a:lnTo>
                    <a:pt x="29870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02479" y="3291077"/>
              <a:ext cx="2987040" cy="2735580"/>
            </a:xfrm>
            <a:custGeom>
              <a:avLst/>
              <a:gdLst/>
              <a:ahLst/>
              <a:cxnLst/>
              <a:rect l="l" t="t" r="r" b="b"/>
              <a:pathLst>
                <a:path w="2987040" h="2735579">
                  <a:moveTo>
                    <a:pt x="0" y="0"/>
                  </a:moveTo>
                  <a:lnTo>
                    <a:pt x="2987039" y="0"/>
                  </a:lnTo>
                  <a:lnTo>
                    <a:pt x="2987039" y="2735580"/>
                  </a:lnTo>
                  <a:lnTo>
                    <a:pt x="0" y="273558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282" y="5056631"/>
              <a:ext cx="823721" cy="82600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680" y="4231385"/>
              <a:ext cx="823721" cy="8252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7567" y="3408425"/>
              <a:ext cx="821435" cy="8229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7883" y="4231385"/>
              <a:ext cx="824483" cy="8229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199" y="5058155"/>
              <a:ext cx="824483" cy="8229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9316" y="5052821"/>
              <a:ext cx="824483" cy="822959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2488692" y="4786885"/>
            <a:ext cx="1920239" cy="0"/>
          </a:xfrm>
          <a:custGeom>
            <a:avLst/>
            <a:gdLst/>
            <a:ahLst/>
            <a:cxnLst/>
            <a:rect l="l" t="t" r="r" b="b"/>
            <a:pathLst>
              <a:path w="1920239">
                <a:moveTo>
                  <a:pt x="0" y="0"/>
                </a:moveTo>
                <a:lnTo>
                  <a:pt x="1920239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6028" y="2371344"/>
            <a:ext cx="1554479" cy="155752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940308" y="3844290"/>
            <a:ext cx="1645920" cy="365760"/>
          </a:xfrm>
          <a:prstGeom prst="rect">
            <a:avLst/>
          </a:prstGeom>
          <a:solidFill>
            <a:srgbClr val="3E3E3E"/>
          </a:solidFill>
        </p:spPr>
        <p:txBody>
          <a:bodyPr vert="horz" wrap="square" lIns="0" tIns="52705" rIns="0" bIns="0" rtlCol="0">
            <a:spAutoFit/>
          </a:bodyPr>
          <a:lstStyle/>
          <a:p>
            <a:pPr marL="220980">
              <a:lnSpc>
                <a:spcPct val="100000"/>
              </a:lnSpc>
              <a:spcBef>
                <a:spcPts val="415"/>
              </a:spcBef>
            </a:pPr>
            <a:r>
              <a:rPr sz="1600" spc="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PRODUCER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1955" y="4455414"/>
            <a:ext cx="1162811" cy="66293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857231" y="3844290"/>
            <a:ext cx="1645920" cy="3657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415"/>
              </a:spcBef>
            </a:pPr>
            <a:r>
              <a:rPr sz="1600" spc="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CONSUMER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2952" y="2372867"/>
            <a:ext cx="1551431" cy="1554479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783068" y="4786885"/>
            <a:ext cx="1920239" cy="0"/>
          </a:xfrm>
          <a:custGeom>
            <a:avLst/>
            <a:gdLst/>
            <a:ahLst/>
            <a:cxnLst/>
            <a:rect l="l" t="t" r="r" b="b"/>
            <a:pathLst>
              <a:path w="1920240">
                <a:moveTo>
                  <a:pt x="0" y="0"/>
                </a:moveTo>
                <a:lnTo>
                  <a:pt x="1920239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6000" y="2833110"/>
            <a:ext cx="0" cy="248920"/>
          </a:xfrm>
          <a:custGeom>
            <a:avLst/>
            <a:gdLst/>
            <a:ahLst/>
            <a:cxnLst/>
            <a:rect l="l" t="t" r="r" b="b"/>
            <a:pathLst>
              <a:path h="248919">
                <a:moveTo>
                  <a:pt x="0" y="248297"/>
                </a:moveTo>
                <a:lnTo>
                  <a:pt x="0" y="0"/>
                </a:lnTo>
              </a:path>
            </a:pathLst>
          </a:custGeom>
          <a:ln w="38100">
            <a:solidFill>
              <a:srgbClr val="B4B5B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606290" y="2425445"/>
            <a:ext cx="2987040" cy="368935"/>
          </a:xfrm>
          <a:prstGeom prst="rect">
            <a:avLst/>
          </a:prstGeom>
          <a:solidFill>
            <a:srgbClr val="3E3E3E"/>
          </a:solidFill>
          <a:ln w="3175">
            <a:solidFill>
              <a:srgbClr val="3E3E3E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430"/>
              </a:spcBef>
            </a:pPr>
            <a:r>
              <a:rPr sz="1600" spc="6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APACHE</a:t>
            </a:r>
            <a:r>
              <a:rPr sz="1600" spc="-12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ZOOKEEPER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08220" y="1808988"/>
            <a:ext cx="2575560" cy="469900"/>
            <a:chOff x="4808220" y="1808988"/>
            <a:chExt cx="2575560" cy="469900"/>
          </a:xfrm>
        </p:grpSpPr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8220" y="1808988"/>
              <a:ext cx="374141" cy="46939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17286" y="1808988"/>
              <a:ext cx="757427" cy="46939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79514" y="1808988"/>
              <a:ext cx="604265" cy="469391"/>
            </a:xfrm>
            <a:prstGeom prst="rect">
              <a:avLst/>
            </a:prstGeom>
          </p:spPr>
        </p:pic>
      </p:grpSp>
      <p:sp>
        <p:nvSpPr>
          <p:cNvPr id="39" name="Slide Number Placeholder 3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5246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26048" y="1050650"/>
            <a:ext cx="5893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F05A28"/>
                </a:solidFill>
              </a:rPr>
              <a:t>Apache</a:t>
            </a:r>
            <a:r>
              <a:rPr sz="2400" spc="-130" dirty="0">
                <a:solidFill>
                  <a:srgbClr val="F05A28"/>
                </a:solidFill>
              </a:rPr>
              <a:t> </a:t>
            </a:r>
            <a:r>
              <a:rPr sz="2400" spc="5" dirty="0">
                <a:solidFill>
                  <a:srgbClr val="F05A28"/>
                </a:solidFill>
              </a:rPr>
              <a:t>Kafka</a:t>
            </a:r>
            <a:r>
              <a:rPr sz="2400" spc="-125" dirty="0">
                <a:solidFill>
                  <a:srgbClr val="F05A28"/>
                </a:solidFill>
              </a:rPr>
              <a:t> </a:t>
            </a:r>
            <a:r>
              <a:rPr sz="2400" spc="-15" dirty="0">
                <a:solidFill>
                  <a:srgbClr val="F05A28"/>
                </a:solidFill>
              </a:rPr>
              <a:t>is</a:t>
            </a:r>
            <a:r>
              <a:rPr sz="2400" spc="-130" dirty="0">
                <a:solidFill>
                  <a:srgbClr val="F05A28"/>
                </a:solidFill>
              </a:rPr>
              <a:t> </a:t>
            </a:r>
            <a:r>
              <a:rPr sz="2400" spc="-35" dirty="0">
                <a:solidFill>
                  <a:srgbClr val="F05A28"/>
                </a:solidFill>
              </a:rPr>
              <a:t>a</a:t>
            </a:r>
            <a:r>
              <a:rPr sz="2400" spc="-125" dirty="0">
                <a:solidFill>
                  <a:srgbClr val="F05A28"/>
                </a:solidFill>
              </a:rPr>
              <a:t> </a:t>
            </a:r>
            <a:r>
              <a:rPr sz="2400" spc="10" dirty="0">
                <a:solidFill>
                  <a:srgbClr val="F05A28"/>
                </a:solidFill>
              </a:rPr>
              <a:t>Pub-Sub</a:t>
            </a:r>
            <a:r>
              <a:rPr sz="2400" spc="-125" dirty="0">
                <a:solidFill>
                  <a:srgbClr val="F05A28"/>
                </a:solidFill>
              </a:rPr>
              <a:t> </a:t>
            </a:r>
            <a:r>
              <a:rPr sz="2400" dirty="0">
                <a:solidFill>
                  <a:srgbClr val="F05A28"/>
                </a:solidFill>
              </a:rPr>
              <a:t>messaging </a:t>
            </a:r>
            <a:r>
              <a:rPr sz="2400" spc="-830" dirty="0">
                <a:solidFill>
                  <a:srgbClr val="F05A28"/>
                </a:solidFill>
              </a:rPr>
              <a:t> </a:t>
            </a:r>
            <a:r>
              <a:rPr sz="2400" spc="-70" dirty="0">
                <a:solidFill>
                  <a:srgbClr val="F05A28"/>
                </a:solidFill>
              </a:rPr>
              <a:t>system,</a:t>
            </a:r>
            <a:r>
              <a:rPr sz="2400" spc="-130" dirty="0">
                <a:solidFill>
                  <a:srgbClr val="F05A28"/>
                </a:solidFill>
              </a:rPr>
              <a:t> </a:t>
            </a:r>
            <a:r>
              <a:rPr sz="2400" spc="20" dirty="0">
                <a:solidFill>
                  <a:srgbClr val="F05A28"/>
                </a:solidFill>
              </a:rPr>
              <a:t>consisting</a:t>
            </a:r>
            <a:r>
              <a:rPr sz="2400" spc="-110" dirty="0">
                <a:solidFill>
                  <a:srgbClr val="F05A28"/>
                </a:solidFill>
              </a:rPr>
              <a:t> </a:t>
            </a:r>
            <a:r>
              <a:rPr sz="2400" spc="-85" dirty="0">
                <a:solidFill>
                  <a:srgbClr val="F05A28"/>
                </a:solidFill>
              </a:rPr>
              <a:t>of: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5466078" y="1782170"/>
            <a:ext cx="428815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700"/>
              </a:spcBef>
              <a:buSzPct val="75000"/>
              <a:buFont typeface="Arial MT"/>
              <a:buChar char="-"/>
              <a:tabLst>
                <a:tab pos="300990" algn="l"/>
                <a:tab pos="301625" algn="l"/>
              </a:tabLst>
            </a:pPr>
            <a:r>
              <a:rPr sz="2400" spc="1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Producers</a:t>
            </a:r>
            <a:r>
              <a:rPr sz="2400" spc="-14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and</a:t>
            </a:r>
            <a:r>
              <a:rPr sz="2400" spc="-16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Consumers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300990" indent="-288925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300990" algn="l"/>
                <a:tab pos="301625" algn="l"/>
              </a:tabLst>
            </a:pPr>
            <a:r>
              <a:rPr sz="2400" spc="-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Brokers</a:t>
            </a:r>
            <a:r>
              <a:rPr sz="2400" spc="-12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within</a:t>
            </a:r>
            <a:r>
              <a:rPr sz="2400" spc="-1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55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14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20" dirty="0">
                <a:solidFill>
                  <a:srgbClr val="F05A28"/>
                </a:solidFill>
                <a:latin typeface="Verdana" panose="020B0604030504040204"/>
                <a:cs typeface="Verdana" panose="020B0604030504040204"/>
              </a:rPr>
              <a:t>Cluster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134746" y="2818490"/>
            <a:ext cx="9922507" cy="2766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03370">
              <a:lnSpc>
                <a:spcPct val="100000"/>
              </a:lnSpc>
              <a:spcBef>
                <a:spcPts val="700"/>
              </a:spcBef>
            </a:pPr>
            <a:r>
              <a:rPr spc="10" dirty="0"/>
              <a:t>Characteristics</a:t>
            </a:r>
            <a:r>
              <a:rPr spc="-114" dirty="0"/>
              <a:t> </a:t>
            </a:r>
            <a:r>
              <a:rPr spc="85" dirty="0"/>
              <a:t>of</a:t>
            </a:r>
            <a:r>
              <a:rPr spc="-114" dirty="0"/>
              <a:t> </a:t>
            </a:r>
            <a:r>
              <a:rPr spc="30" dirty="0"/>
              <a:t>distributed</a:t>
            </a:r>
            <a:r>
              <a:rPr spc="-110" dirty="0"/>
              <a:t> </a:t>
            </a:r>
            <a:r>
              <a:rPr spc="-25" dirty="0"/>
              <a:t>systems</a:t>
            </a:r>
          </a:p>
          <a:p>
            <a:pPr marL="4631690" marR="591185" indent="-288925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4632325" algn="l"/>
                <a:tab pos="4632960" algn="l"/>
              </a:tabLst>
            </a:pPr>
            <a:r>
              <a:rPr spc="125" dirty="0"/>
              <a:t>W</a:t>
            </a:r>
            <a:r>
              <a:rPr spc="85" dirty="0"/>
              <a:t>o</a:t>
            </a:r>
            <a:r>
              <a:rPr spc="-45" dirty="0"/>
              <a:t>r</a:t>
            </a:r>
            <a:r>
              <a:rPr spc="-125" dirty="0"/>
              <a:t>k</a:t>
            </a:r>
            <a:r>
              <a:rPr spc="-35" dirty="0"/>
              <a:t>er</a:t>
            </a:r>
            <a:r>
              <a:rPr spc="-110" dirty="0"/>
              <a:t> </a:t>
            </a:r>
            <a:r>
              <a:rPr spc="-50" dirty="0"/>
              <a:t>n</a:t>
            </a:r>
            <a:r>
              <a:rPr spc="85" dirty="0"/>
              <a:t>o</a:t>
            </a:r>
            <a:r>
              <a:rPr spc="95" dirty="0"/>
              <a:t>d</a:t>
            </a:r>
            <a:r>
              <a:rPr spc="-10" dirty="0"/>
              <a:t>e</a:t>
            </a:r>
            <a:r>
              <a:rPr spc="-125" dirty="0"/>
              <a:t> </a:t>
            </a:r>
            <a:r>
              <a:rPr spc="-110" dirty="0"/>
              <a:t>r</a:t>
            </a:r>
            <a:r>
              <a:rPr spc="85" dirty="0"/>
              <a:t>o</a:t>
            </a:r>
            <a:r>
              <a:rPr spc="-35" dirty="0"/>
              <a:t>les</a:t>
            </a:r>
            <a:r>
              <a:rPr spc="-484" dirty="0"/>
              <a:t>:</a:t>
            </a:r>
            <a:r>
              <a:rPr spc="-110" dirty="0"/>
              <a:t> </a:t>
            </a:r>
            <a:r>
              <a:rPr spc="80" dirty="0"/>
              <a:t>C</a:t>
            </a:r>
            <a:r>
              <a:rPr spc="85" dirty="0"/>
              <a:t>o</a:t>
            </a:r>
            <a:r>
              <a:rPr spc="-50" dirty="0"/>
              <a:t>n</a:t>
            </a:r>
            <a:r>
              <a:rPr spc="20" dirty="0"/>
              <a:t>t</a:t>
            </a:r>
            <a:r>
              <a:rPr spc="-110" dirty="0"/>
              <a:t>r</a:t>
            </a:r>
            <a:r>
              <a:rPr spc="85" dirty="0"/>
              <a:t>o</a:t>
            </a:r>
            <a:r>
              <a:rPr spc="-35" dirty="0"/>
              <a:t>ll</a:t>
            </a:r>
            <a:r>
              <a:rPr spc="-40" dirty="0"/>
              <a:t>er</a:t>
            </a:r>
            <a:r>
              <a:rPr spc="-45" dirty="0"/>
              <a:t>s</a:t>
            </a:r>
            <a:r>
              <a:rPr spc="-280" dirty="0"/>
              <a:t>,  </a:t>
            </a:r>
            <a:r>
              <a:rPr spc="-35" dirty="0"/>
              <a:t>Leaders,</a:t>
            </a:r>
            <a:r>
              <a:rPr spc="-125" dirty="0"/>
              <a:t> </a:t>
            </a:r>
            <a:r>
              <a:rPr lang="en-US" spc="-125" dirty="0"/>
              <a:t>Peers </a:t>
            </a:r>
            <a:r>
              <a:rPr dirty="0"/>
              <a:t>and</a:t>
            </a:r>
            <a:r>
              <a:rPr spc="-135" dirty="0"/>
              <a:t> </a:t>
            </a:r>
            <a:r>
              <a:rPr spc="10" dirty="0"/>
              <a:t>Followers</a:t>
            </a:r>
          </a:p>
          <a:p>
            <a:pPr marL="4631690" indent="-289560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4632325" algn="l"/>
                <a:tab pos="4632960" algn="l"/>
              </a:tabLst>
            </a:pPr>
            <a:r>
              <a:rPr spc="-10" dirty="0"/>
              <a:t>Reliability</a:t>
            </a:r>
            <a:r>
              <a:rPr spc="-160" dirty="0"/>
              <a:t> </a:t>
            </a:r>
            <a:r>
              <a:rPr spc="-5" dirty="0"/>
              <a:t>through</a:t>
            </a:r>
            <a:r>
              <a:rPr spc="-145" dirty="0"/>
              <a:t> </a:t>
            </a:r>
            <a:r>
              <a:rPr dirty="0"/>
              <a:t>replication</a:t>
            </a:r>
          </a:p>
          <a:p>
            <a:pPr marL="4631690" indent="-289560">
              <a:lnSpc>
                <a:spcPct val="100000"/>
              </a:lnSpc>
              <a:spcBef>
                <a:spcPts val="600"/>
              </a:spcBef>
              <a:buSzPct val="75000"/>
              <a:buFont typeface="Arial MT"/>
              <a:buChar char="-"/>
              <a:tabLst>
                <a:tab pos="4632325" algn="l"/>
                <a:tab pos="4632960" algn="l"/>
              </a:tabLst>
            </a:pPr>
            <a:r>
              <a:rPr spc="-15" dirty="0"/>
              <a:t>Consensus-based</a:t>
            </a:r>
            <a:r>
              <a:rPr spc="-155" dirty="0"/>
              <a:t> </a:t>
            </a:r>
            <a:r>
              <a:rPr dirty="0"/>
              <a:t>communication</a:t>
            </a:r>
          </a:p>
          <a:p>
            <a:pPr marL="4103370">
              <a:lnSpc>
                <a:spcPct val="100000"/>
              </a:lnSpc>
              <a:spcBef>
                <a:spcPts val="1800"/>
              </a:spcBef>
            </a:pPr>
            <a:r>
              <a:rPr spc="55" dirty="0"/>
              <a:t>Role</a:t>
            </a:r>
            <a:r>
              <a:rPr spc="-120" dirty="0"/>
              <a:t> </a:t>
            </a:r>
            <a:r>
              <a:rPr spc="85" dirty="0"/>
              <a:t>of</a:t>
            </a:r>
            <a:r>
              <a:rPr spc="-120" dirty="0"/>
              <a:t> </a:t>
            </a:r>
            <a:r>
              <a:rPr spc="70" dirty="0"/>
              <a:t>Apache</a:t>
            </a:r>
            <a:r>
              <a:rPr spc="-114" dirty="0"/>
              <a:t> </a:t>
            </a:r>
            <a:r>
              <a:rPr spc="40" dirty="0"/>
              <a:t>Zookeeper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8658" y="1916483"/>
            <a:ext cx="2178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Summ</a:t>
            </a:r>
            <a:r>
              <a:rPr sz="3600" spc="-8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3600" spc="-5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ry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470</Words>
  <Application>Microsoft Office PowerPoint</Application>
  <PresentationFormat>Widescreen</PresentationFormat>
  <Paragraphs>173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MT</vt:lpstr>
      <vt:lpstr>Calibri</vt:lpstr>
      <vt:lpstr>Times New Roman</vt:lpstr>
      <vt:lpstr>Verdana</vt:lpstr>
      <vt:lpstr>Office Theme</vt:lpstr>
      <vt:lpstr>Getting to Know Apache Kafka’s  Architecture</vt:lpstr>
      <vt:lpstr>PowerPoint Presentation</vt:lpstr>
      <vt:lpstr>Apache Kafka as a Messaging System</vt:lpstr>
      <vt:lpstr>Apache Kafka as a Messaging System</vt:lpstr>
      <vt:lpstr>Apache Kafka as a Messaging System</vt:lpstr>
      <vt:lpstr>How Apache Kafka Starts to Differentiate</vt:lpstr>
      <vt:lpstr>The Apache Kafka Cluster</vt:lpstr>
      <vt:lpstr>The Apache Kafka Cluster</vt:lpstr>
      <vt:lpstr>The Apache Kafka Cluster</vt:lpstr>
      <vt:lpstr>The Apache Kafka Cluster</vt:lpstr>
      <vt:lpstr>The Apache Kafka Cluster</vt:lpstr>
      <vt:lpstr>Distributed Systems</vt:lpstr>
      <vt:lpstr>Distributed Systems: Controller Election</vt:lpstr>
      <vt:lpstr>Distributed Systems: The Cluster</vt:lpstr>
      <vt:lpstr>Distributed Systems: Getting Work Done</vt:lpstr>
      <vt:lpstr>Worker availability and health Task redundancy</vt:lpstr>
      <vt:lpstr>Distributed Systems: Getting Work Done  (Reliably)</vt:lpstr>
      <vt:lpstr>Distributed Systems: Getting Work Done  (Reliably)</vt:lpstr>
      <vt:lpstr>Sources of Work in Apache Kafka</vt:lpstr>
      <vt:lpstr>Distributed Systems: Communication and  Consensus</vt:lpstr>
      <vt:lpstr>Apache Zookeeper</vt:lpstr>
      <vt:lpstr>Apache Kafka’s Distributed Architecture</vt:lpstr>
      <vt:lpstr>Apache Kafka is a Pub-Sub messaging  system, consisting of: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Apache Kafka’s  Architecture</dc:title>
  <dc:creator>Ryan Plant</dc:creator>
  <cp:lastModifiedBy>Stephen Joseph Samuels</cp:lastModifiedBy>
  <cp:revision>4</cp:revision>
  <dcterms:created xsi:type="dcterms:W3CDTF">2022-10-22T17:53:00Z</dcterms:created>
  <dcterms:modified xsi:type="dcterms:W3CDTF">2026-01-19T10:17:29Z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2016-10-10T11:00:00Z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2022-10-22T11:00:00Z</vt:filetime>
  </property>
  <property fmtid="{D5CDD505-2E9C-101B-9397-08002B2CF9AE}" pid="5" name="ICV">
    <vt:lpwstr>193F835CA4F642EFB6FD026AFA4A6EF7</vt:lpwstr>
  </property>
  <property fmtid="{D5CDD505-2E9C-101B-9397-08002B2CF9AE}" pid="6" name="KSOProductBuildVer">
    <vt:lpwstr>1033-11.2.0.11380</vt:lpwstr>
  </property>
</Properties>
</file>