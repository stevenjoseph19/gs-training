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7.webp" ContentType="image/webp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7" r:id="rId3"/>
    <p:sldId id="25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69" r:id="rId17"/>
    <p:sldId id="271" r:id="rId18"/>
    <p:sldId id="272" r:id="rId19"/>
    <p:sldId id="273" r:id="rId20"/>
    <p:sldId id="275" r:id="rId21"/>
    <p:sldId id="274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72" d="100"/>
          <a:sy n="72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notesMaster" Target="notesMasters/notesMaster1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GI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GI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webp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11694" y="2977579"/>
            <a:ext cx="10768615" cy="38101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51384" y="2009647"/>
            <a:ext cx="770255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500" spc="-75" dirty="0">
                <a:solidFill>
                  <a:srgbClr val="171717"/>
                </a:solidFill>
              </a:rPr>
              <a:t>Design Patterns of Microservices</a:t>
            </a:r>
            <a:endParaRPr sz="450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1721" y="350492"/>
            <a:ext cx="9488557" cy="675861"/>
          </a:xfrm>
        </p:spPr>
        <p:txBody>
          <a:bodyPr>
            <a:normAutofit fontScale="90000"/>
          </a:bodyPr>
          <a:lstStyle/>
          <a:p>
            <a:r>
              <a:rPr lang="en-US" sz="4500" spc="-75" dirty="0">
                <a:solidFill>
                  <a:srgbClr val="171717"/>
                </a:solidFill>
              </a:rPr>
              <a:t>How Do Microservices Architectures Work?</a:t>
            </a:r>
            <a:endParaRPr lang="en-US" sz="4500" spc="-75" dirty="0">
              <a:solidFill>
                <a:srgbClr val="171717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1026" name="Picture 2" descr="Microservices Architecture Diagram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8203" y="1411770"/>
            <a:ext cx="8475593" cy="4637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514599" y="6075144"/>
            <a:ext cx="84755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Microservices Architecture Diagram: </a:t>
            </a:r>
            <a:endParaRPr lang="en-US" b="0" i="0" dirty="0">
              <a:solidFill>
                <a:srgbClr val="000000"/>
              </a:solidFill>
              <a:effectLst/>
              <a:latin typeface="Open Sans" panose="020B0606030504020204" pitchFamily="34" charset="0"/>
            </a:endParaRPr>
          </a:p>
          <a:p>
            <a:pPr algn="ctr"/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Microservices Architecture vs Monolithic Architecture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100" dirty="0"/>
              <a:t>Principles Used to Design Microservice Architecture</a:t>
            </a:r>
            <a:endParaRPr lang="en-US" sz="41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7" name="object 3"/>
          <p:cNvSpPr txBox="1"/>
          <p:nvPr/>
        </p:nvSpPr>
        <p:spPr>
          <a:xfrm>
            <a:off x="2663202" y="1620078"/>
            <a:ext cx="7766259" cy="513524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536575" indent="-289560">
              <a:lnSpc>
                <a:spcPct val="100000"/>
              </a:lnSpc>
              <a:spcBef>
                <a:spcPts val="530"/>
              </a:spcBef>
              <a:buSzPct val="75000"/>
              <a:buFont typeface="Lucida Sans Unicode" panose="020B0602030504020204"/>
              <a:buChar char="-"/>
              <a:tabLst>
                <a:tab pos="536575" algn="l"/>
                <a:tab pos="537210" algn="l"/>
              </a:tabLst>
            </a:pPr>
            <a:r>
              <a:rPr lang="en-US" sz="2400" spc="-10" dirty="0">
                <a:solidFill>
                  <a:srgbClr val="F05A28"/>
                </a:solidFill>
                <a:latin typeface="Verdana" panose="020B0604030504040204"/>
              </a:rPr>
              <a:t>Independent &amp; Autonomous Services</a:t>
            </a:r>
            <a:endParaRPr lang="en-US" sz="2400" spc="-10" dirty="0">
              <a:solidFill>
                <a:srgbClr val="F05A28"/>
              </a:solidFill>
              <a:latin typeface="Verdana" panose="020B0604030504040204"/>
            </a:endParaRPr>
          </a:p>
          <a:p>
            <a:pPr marL="536575" indent="-289560">
              <a:lnSpc>
                <a:spcPct val="100000"/>
              </a:lnSpc>
              <a:spcBef>
                <a:spcPts val="530"/>
              </a:spcBef>
              <a:buSzPct val="75000"/>
              <a:buFont typeface="Lucida Sans Unicode" panose="020B0602030504020204"/>
              <a:buChar char="-"/>
              <a:tabLst>
                <a:tab pos="536575" algn="l"/>
                <a:tab pos="537210" algn="l"/>
              </a:tabLst>
            </a:pPr>
            <a:r>
              <a:rPr lang="en-US" sz="2400" spc="-10" dirty="0">
                <a:solidFill>
                  <a:srgbClr val="F05A28"/>
                </a:solidFill>
                <a:latin typeface="Verdana" panose="020B0604030504040204"/>
              </a:rPr>
              <a:t>Scalability</a:t>
            </a:r>
            <a:endParaRPr lang="en-US" sz="2400" spc="-10" dirty="0">
              <a:solidFill>
                <a:srgbClr val="F05A28"/>
              </a:solidFill>
              <a:latin typeface="Verdana" panose="020B0604030504040204"/>
            </a:endParaRPr>
          </a:p>
          <a:p>
            <a:pPr marL="536575" indent="-289560">
              <a:lnSpc>
                <a:spcPct val="100000"/>
              </a:lnSpc>
              <a:spcBef>
                <a:spcPts val="530"/>
              </a:spcBef>
              <a:buSzPct val="75000"/>
              <a:buFont typeface="Lucida Sans Unicode" panose="020B0602030504020204"/>
              <a:buChar char="-"/>
              <a:tabLst>
                <a:tab pos="536575" algn="l"/>
                <a:tab pos="537210" algn="l"/>
              </a:tabLst>
            </a:pPr>
            <a:r>
              <a:rPr lang="en-US" sz="2400" spc="-10" dirty="0">
                <a:solidFill>
                  <a:srgbClr val="F05A28"/>
                </a:solidFill>
                <a:latin typeface="Verdana" panose="020B0604030504040204"/>
              </a:rPr>
              <a:t>Decentralization</a:t>
            </a:r>
            <a:endParaRPr lang="en-US" sz="2400" spc="-10" dirty="0">
              <a:solidFill>
                <a:srgbClr val="F05A28"/>
              </a:solidFill>
              <a:latin typeface="Verdana" panose="020B0604030504040204"/>
            </a:endParaRPr>
          </a:p>
          <a:p>
            <a:pPr marL="536575" indent="-289560">
              <a:lnSpc>
                <a:spcPct val="100000"/>
              </a:lnSpc>
              <a:spcBef>
                <a:spcPts val="530"/>
              </a:spcBef>
              <a:buSzPct val="75000"/>
              <a:buFont typeface="Lucida Sans Unicode" panose="020B0602030504020204"/>
              <a:buChar char="-"/>
              <a:tabLst>
                <a:tab pos="536575" algn="l"/>
                <a:tab pos="537210" algn="l"/>
              </a:tabLst>
            </a:pPr>
            <a:r>
              <a:rPr lang="en-US" sz="2400" spc="-10" dirty="0">
                <a:solidFill>
                  <a:srgbClr val="F05A28"/>
                </a:solidFill>
                <a:latin typeface="Verdana" panose="020B0604030504040204"/>
              </a:rPr>
              <a:t>Resilient Services</a:t>
            </a:r>
            <a:endParaRPr lang="en-US" sz="2400" spc="-10" dirty="0">
              <a:solidFill>
                <a:srgbClr val="F05A28"/>
              </a:solidFill>
              <a:latin typeface="Verdana" panose="020B0604030504040204"/>
            </a:endParaRPr>
          </a:p>
          <a:p>
            <a:pPr marL="536575" indent="-289560">
              <a:lnSpc>
                <a:spcPct val="100000"/>
              </a:lnSpc>
              <a:spcBef>
                <a:spcPts val="530"/>
              </a:spcBef>
              <a:buSzPct val="75000"/>
              <a:buFont typeface="Lucida Sans Unicode" panose="020B0602030504020204"/>
              <a:buChar char="-"/>
              <a:tabLst>
                <a:tab pos="536575" algn="l"/>
                <a:tab pos="537210" algn="l"/>
              </a:tabLst>
            </a:pPr>
            <a:r>
              <a:rPr lang="en-US" sz="2400" spc="-10" dirty="0">
                <a:solidFill>
                  <a:srgbClr val="F05A28"/>
                </a:solidFill>
                <a:latin typeface="Verdana" panose="020B0604030504040204"/>
              </a:rPr>
              <a:t>Real-Time Load Balancing</a:t>
            </a:r>
            <a:endParaRPr lang="en-US" sz="2400" spc="-10" dirty="0">
              <a:solidFill>
                <a:srgbClr val="F05A28"/>
              </a:solidFill>
              <a:latin typeface="Verdana" panose="020B0604030504040204"/>
            </a:endParaRPr>
          </a:p>
          <a:p>
            <a:pPr marL="536575" indent="-289560">
              <a:lnSpc>
                <a:spcPct val="100000"/>
              </a:lnSpc>
              <a:spcBef>
                <a:spcPts val="530"/>
              </a:spcBef>
              <a:buSzPct val="75000"/>
              <a:buFont typeface="Lucida Sans Unicode" panose="020B0602030504020204"/>
              <a:buChar char="-"/>
              <a:tabLst>
                <a:tab pos="536575" algn="l"/>
                <a:tab pos="537210" algn="l"/>
              </a:tabLst>
            </a:pPr>
            <a:r>
              <a:rPr lang="en-US" sz="2400" spc="-10" dirty="0">
                <a:solidFill>
                  <a:srgbClr val="F05A28"/>
                </a:solidFill>
                <a:latin typeface="Verdana" panose="020B0604030504040204"/>
              </a:rPr>
              <a:t>Availability</a:t>
            </a:r>
            <a:endParaRPr lang="en-US" sz="2400" spc="-10" dirty="0">
              <a:solidFill>
                <a:srgbClr val="F05A28"/>
              </a:solidFill>
              <a:latin typeface="Verdana" panose="020B0604030504040204"/>
            </a:endParaRPr>
          </a:p>
          <a:p>
            <a:pPr marL="536575" indent="-289560">
              <a:lnSpc>
                <a:spcPct val="100000"/>
              </a:lnSpc>
              <a:spcBef>
                <a:spcPts val="530"/>
              </a:spcBef>
              <a:buSzPct val="75000"/>
              <a:buFont typeface="Lucida Sans Unicode" panose="020B0602030504020204"/>
              <a:buChar char="-"/>
              <a:tabLst>
                <a:tab pos="536575" algn="l"/>
                <a:tab pos="537210" algn="l"/>
              </a:tabLst>
            </a:pPr>
            <a:r>
              <a:rPr lang="en-US" sz="2400" spc="-10" dirty="0">
                <a:solidFill>
                  <a:srgbClr val="F05A28"/>
                </a:solidFill>
                <a:latin typeface="Verdana" panose="020B0604030504040204"/>
              </a:rPr>
              <a:t>Continuous delivery through DevOps Integration</a:t>
            </a:r>
            <a:endParaRPr lang="en-US" sz="2400" spc="-10" dirty="0">
              <a:solidFill>
                <a:srgbClr val="F05A28"/>
              </a:solidFill>
              <a:latin typeface="Verdana" panose="020B0604030504040204"/>
            </a:endParaRPr>
          </a:p>
          <a:p>
            <a:pPr marL="536575" indent="-289560">
              <a:lnSpc>
                <a:spcPct val="100000"/>
              </a:lnSpc>
              <a:spcBef>
                <a:spcPts val="530"/>
              </a:spcBef>
              <a:buSzPct val="75000"/>
              <a:buFont typeface="Lucida Sans Unicode" panose="020B0602030504020204"/>
              <a:buChar char="-"/>
              <a:tabLst>
                <a:tab pos="536575" algn="l"/>
                <a:tab pos="537210" algn="l"/>
              </a:tabLst>
            </a:pPr>
            <a:r>
              <a:rPr lang="en-US" sz="2400" spc="-10" dirty="0">
                <a:solidFill>
                  <a:srgbClr val="F05A28"/>
                </a:solidFill>
                <a:latin typeface="Verdana" panose="020B0604030504040204"/>
              </a:rPr>
              <a:t>Seamless API Integration and Continuous Monitoring</a:t>
            </a:r>
            <a:endParaRPr lang="en-US" sz="2400" spc="-10" dirty="0">
              <a:solidFill>
                <a:srgbClr val="F05A28"/>
              </a:solidFill>
              <a:latin typeface="Verdana" panose="020B0604030504040204"/>
            </a:endParaRPr>
          </a:p>
          <a:p>
            <a:pPr marL="536575" indent="-289560">
              <a:lnSpc>
                <a:spcPct val="100000"/>
              </a:lnSpc>
              <a:spcBef>
                <a:spcPts val="530"/>
              </a:spcBef>
              <a:buSzPct val="75000"/>
              <a:buFont typeface="Lucida Sans Unicode" panose="020B0602030504020204"/>
              <a:buChar char="-"/>
              <a:tabLst>
                <a:tab pos="536575" algn="l"/>
                <a:tab pos="537210" algn="l"/>
              </a:tabLst>
            </a:pPr>
            <a:r>
              <a:rPr lang="en-US" sz="2400" spc="-10" dirty="0">
                <a:solidFill>
                  <a:srgbClr val="F05A28"/>
                </a:solidFill>
                <a:latin typeface="Verdana" panose="020B0604030504040204"/>
              </a:rPr>
              <a:t>Isolation from Failures</a:t>
            </a:r>
            <a:endParaRPr lang="en-US" sz="2400" spc="-10" dirty="0">
              <a:solidFill>
                <a:srgbClr val="F05A28"/>
              </a:solidFill>
              <a:latin typeface="Verdana" panose="020B0604030504040204"/>
            </a:endParaRPr>
          </a:p>
          <a:p>
            <a:pPr marL="536575" indent="-289560">
              <a:lnSpc>
                <a:spcPct val="100000"/>
              </a:lnSpc>
              <a:spcBef>
                <a:spcPts val="530"/>
              </a:spcBef>
              <a:buSzPct val="75000"/>
              <a:buFont typeface="Lucida Sans Unicode" panose="020B0602030504020204"/>
              <a:buChar char="-"/>
              <a:tabLst>
                <a:tab pos="536575" algn="l"/>
                <a:tab pos="537210" algn="l"/>
              </a:tabLst>
            </a:pPr>
            <a:r>
              <a:rPr lang="en-US" sz="2400" spc="-10" dirty="0">
                <a:solidFill>
                  <a:srgbClr val="F05A28"/>
                </a:solidFill>
                <a:latin typeface="Verdana" panose="020B0604030504040204"/>
              </a:rPr>
              <a:t>Auto-Provisioning</a:t>
            </a:r>
            <a:endParaRPr sz="2400" spc="-10" dirty="0">
              <a:solidFill>
                <a:srgbClr val="F05A28"/>
              </a:solidFill>
              <a:latin typeface="Verdana" panose="020B060403050404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Aggregator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5818" y="1755357"/>
            <a:ext cx="7407137" cy="45363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API Gateway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7378" y="1895819"/>
            <a:ext cx="7786066" cy="44605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Chained or Chain of Responsibility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93624"/>
            <a:ext cx="12192000" cy="3162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93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Asynchronous Messaging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8925" y="1044437"/>
            <a:ext cx="6534150" cy="33909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00" y="4729162"/>
            <a:ext cx="6734175" cy="18097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1591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Database or Shared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41475"/>
            <a:ext cx="12192000" cy="47148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 Event Sourcing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3097" y="1486727"/>
            <a:ext cx="6365806" cy="52738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Branch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1026" name="Picture 2" descr="Branch Microservices Design Pattern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2516" y="2144575"/>
            <a:ext cx="7736253" cy="3938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Command Query Responsibility Segregator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9409" y="2041361"/>
            <a:ext cx="7758113" cy="431498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Circuit</a:t>
            </a:r>
            <a:r>
              <a:rPr lang="en-US" sz="1800" b="1" kern="0" dirty="0">
                <a:solidFill>
                  <a:srgbClr val="365F91"/>
                </a:solidFill>
                <a:effectLst/>
                <a:latin typeface="Cambria" panose="020405030504060302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dirty="0"/>
              <a:t>Breaker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2052" name="Picture 4" descr="Hystrix Circuit Breake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7755" y="1779588"/>
            <a:ext cx="6912821" cy="4713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Decomposition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4026" y="1870075"/>
            <a:ext cx="8089293" cy="396716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96520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ClrTx/>
              <a:buSzTx/>
              <a:buFontTx/>
            </a:pPr>
            <a:r>
              <a:rPr lang="en-US" dirty="0"/>
              <a:t>Bulkhead Pattern</a:t>
            </a:r>
            <a:endParaRPr lang="en-US" dirty="0"/>
          </a:p>
        </p:txBody>
      </p:sp>
      <p:pic>
        <p:nvPicPr>
          <p:cNvPr id="6" name="Picture 5"/>
          <p:cNvPicPr/>
          <p:nvPr/>
        </p:nvPicPr>
        <p:blipFill>
          <a:blip r:embed="rId1"/>
          <a:stretch>
            <a:fillRect/>
          </a:stretch>
        </p:blipFill>
        <p:spPr>
          <a:xfrm>
            <a:off x="2611755" y="1181735"/>
            <a:ext cx="7907020" cy="54546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>
              <a:buClrTx/>
              <a:buSzTx/>
              <a:buFontTx/>
            </a:pPr>
            <a:r>
              <a:rPr lang="en-US" dirty="0"/>
              <a:t>Bulkhead Pattern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5" name="Picture 4" descr="0_H-G0yevquR_gVsj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6775" y="1520825"/>
            <a:ext cx="8195945" cy="52006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>
              <a:buClrTx/>
              <a:buSzTx/>
              <a:buFontTx/>
            </a:pPr>
            <a:r>
              <a:rPr lang="en-US" dirty="0"/>
              <a:t>Bulkhead Pattern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3" name="Picture 2" descr="0_HF6-ctxg7rIz_Im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9900" y="714375"/>
            <a:ext cx="6172200" cy="54292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>
              <a:buClrTx/>
              <a:buSzTx/>
              <a:buFontTx/>
            </a:pPr>
            <a:r>
              <a:rPr lang="en-US" dirty="0"/>
              <a:t>Sidecar Pattern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1820" y="1691005"/>
            <a:ext cx="8777605" cy="4495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Service Mesh</a:t>
            </a:r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71930" y="1825625"/>
            <a:ext cx="9247505" cy="435165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/>
              <a:t>Strangler Pattern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52600" y="1825625"/>
            <a:ext cx="868553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>
                <a:sym typeface="+mn-ea"/>
              </a:rPr>
              <a:t>Strangler Pattern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44345" y="1825625"/>
            <a:ext cx="870267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/>
              <a:t>Backend for frontend (BFF)</a:t>
            </a:r>
            <a:endParaRPr lang="en-US" alt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242310" y="1825625"/>
            <a:ext cx="5706110" cy="435165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/>
              <a:t>Backend for frontend (BFF)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128010" y="1825625"/>
            <a:ext cx="593471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/>
              <a:t>Backend for frontend (BFF)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78940" y="1825625"/>
            <a:ext cx="883285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55420" y="1346200"/>
            <a:ext cx="10050780" cy="47244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117090" y="365125"/>
            <a:ext cx="8245475" cy="589597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54990" y="461010"/>
            <a:ext cx="11082020" cy="554101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5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1014095" y="636905"/>
            <a:ext cx="10163175" cy="554037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96415" y="175260"/>
            <a:ext cx="8854440" cy="633158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865</Words>
  <Application>WPS Presentation</Application>
  <PresentationFormat>Widescreen</PresentationFormat>
  <Paragraphs>116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2" baseType="lpstr">
      <vt:lpstr>Arial</vt:lpstr>
      <vt:lpstr>SimSun</vt:lpstr>
      <vt:lpstr>Wingdings</vt:lpstr>
      <vt:lpstr>Open Sans</vt:lpstr>
      <vt:lpstr>Segoe Print</vt:lpstr>
      <vt:lpstr>Lucida Sans Unicode</vt:lpstr>
      <vt:lpstr>Verdana</vt:lpstr>
      <vt:lpstr>Cambria</vt:lpstr>
      <vt:lpstr>Times New Roman</vt:lpstr>
      <vt:lpstr>Calibri Light</vt:lpstr>
      <vt:lpstr>Calibri</vt:lpstr>
      <vt:lpstr>Microsoft YaHei</vt:lpstr>
      <vt:lpstr>Arial Unicode MS</vt:lpstr>
      <vt:lpstr>Office Theme</vt:lpstr>
      <vt:lpstr>Design Patterns of Microservices</vt:lpstr>
      <vt:lpstr>How Do Microservices Architectures Work?</vt:lpstr>
      <vt:lpstr>Principles Used to Design Microservice Architecture</vt:lpstr>
      <vt:lpstr>Aggregator</vt:lpstr>
      <vt:lpstr>API Gateway</vt:lpstr>
      <vt:lpstr>Chained or Chain of Responsibility</vt:lpstr>
      <vt:lpstr>Asynchronous Messaging</vt:lpstr>
      <vt:lpstr>Database or Shared Data</vt:lpstr>
      <vt:lpstr> Event Sourcing</vt:lpstr>
      <vt:lpstr>Branch</vt:lpstr>
      <vt:lpstr>Command Query Responsibility Segregator</vt:lpstr>
      <vt:lpstr>Circuit Breaker</vt:lpstr>
      <vt:lpstr>Decomposition</vt:lpstr>
      <vt:lpstr>Bulkhead Pattern</vt:lpstr>
      <vt:lpstr>PowerPoint 演示文稿</vt:lpstr>
      <vt:lpstr>Bulkhead Pattern</vt:lpstr>
      <vt:lpstr>Bulkhead Pattern</vt:lpstr>
      <vt:lpstr>PowerPoint 演示文稿</vt:lpstr>
      <vt:lpstr>Service Mesh</vt:lpstr>
      <vt:lpstr>Service Mesh</vt:lpstr>
      <vt:lpstr>PowerPoint 演示文稿</vt:lpstr>
      <vt:lpstr>Backend for frontend (BFF)</vt:lpstr>
      <vt:lpstr>Backend for frontend (BFF)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Microservices Fundamentals</dc:title>
  <dc:creator/>
  <cp:lastModifiedBy>Steve Sam</cp:lastModifiedBy>
  <cp:revision>24</cp:revision>
  <dcterms:created xsi:type="dcterms:W3CDTF">2022-03-07T16:14:00Z</dcterms:created>
  <dcterms:modified xsi:type="dcterms:W3CDTF">2025-10-26T15:04:35Z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25BE33E75E8A49B48057D9564418EB48</vt:lpwstr>
  </property>
  <property fmtid="{D5CDD505-2E9C-101B-9397-08002B2CF9AE}" pid="3" name="KSOProductBuildVer">
    <vt:lpwstr>1033-12.2.0.23131</vt:lpwstr>
  </property>
</Properties>
</file>