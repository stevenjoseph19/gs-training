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60" r:id="rId5"/>
    <p:sldId id="263" r:id="rId6"/>
    <p:sldId id="264" r:id="rId7"/>
    <p:sldId id="272" r:id="rId8"/>
    <p:sldId id="274" r:id="rId9"/>
    <p:sldId id="268" r:id="rId10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69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36" d="100"/>
          <a:sy n="36" d="100"/>
        </p:scale>
        <p:origin x="1140" y="60"/>
      </p:cViewPr>
      <p:guideLst>
        <p:guide orient="horz" pos="2869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39AE41-6E72-4A24-A266-1879CE137EAD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6FD7A7-9EE9-43C4-AE8D-5516C6DA394F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g object 17"/>
          <p:cNvSpPr/>
          <p:nvPr/>
        </p:nvSpPr>
        <p:spPr>
          <a:xfrm>
            <a:off x="6913880" y="703581"/>
            <a:ext cx="0" cy="8879840"/>
          </a:xfrm>
          <a:custGeom>
            <a:avLst/>
            <a:gdLst/>
            <a:ahLst/>
            <a:cxnLst/>
            <a:rect l="l" t="t" r="r" b="b"/>
            <a:pathLst>
              <a:path h="8879840">
                <a:moveTo>
                  <a:pt x="0" y="0"/>
                </a:moveTo>
                <a:lnTo>
                  <a:pt x="1" y="8879842"/>
                </a:lnTo>
              </a:path>
            </a:pathLst>
          </a:custGeom>
          <a:ln w="50800">
            <a:solidFill>
              <a:srgbClr val="F15B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686040" y="3136899"/>
            <a:ext cx="5182870" cy="31222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15B2A"/>
                </a:solidFill>
                <a:latin typeface="Arial Black" panose="020B0A04020102020204"/>
                <a:cs typeface="Arial Black" panose="020B0A040201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51BD68-DA8D-4AA8-87F1-91C168BA370A}" type="datetime1">
              <a:rPr lang="en-US" smtClean="0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F15B2A"/>
                </a:solidFill>
                <a:latin typeface="Arial Black" panose="020B0A04020102020204"/>
                <a:cs typeface="Arial Black" panose="020B0A040201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E994FB-CC5E-43BF-83B4-444AAB3E53DB}" type="datetime1">
              <a:rPr lang="en-US" smtClean="0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374A6C-E57C-46BA-8C72-6F4877181ADC}" type="datetime1">
              <a:rPr lang="en-US" smtClean="0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9C0C1F-3C31-4E53-87B9-BE35C2C9E1C0}" type="datetime1">
              <a:rPr lang="en-US" smtClean="0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88E0E2-AC2F-4AD5-BB1C-918015B6CAAF}" type="datetime1">
              <a:rPr lang="en-US" smtClean="0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6999"/>
                </a:lnTo>
                <a:lnTo>
                  <a:pt x="18288000" y="10286999"/>
                </a:lnTo>
                <a:lnTo>
                  <a:pt x="18288000" y="0"/>
                </a:lnTo>
                <a:close/>
              </a:path>
            </a:pathLst>
          </a:custGeom>
          <a:solidFill>
            <a:srgbClr val="2A9F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84505" y="3740403"/>
            <a:ext cx="11718988" cy="2393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454265" y="4331715"/>
            <a:ext cx="8665210" cy="24485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15B2A"/>
                </a:solidFill>
                <a:latin typeface="Arial Black" panose="020B0A04020102020204"/>
                <a:cs typeface="Arial Black" panose="020B0A040201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8991DE-1AD3-462C-A4DC-4EC4919A7E91}" type="datetime1">
              <a:rPr lang="en-US" smtClean="0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92820" y="4510975"/>
            <a:ext cx="16066010" cy="571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76171" y="3543046"/>
            <a:ext cx="12164924" cy="704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  <a:buClrTx/>
              <a:buSzTx/>
              <a:buFontTx/>
            </a:pPr>
            <a:r>
              <a:rPr lang="en-US" altLang="en-US" sz="4500">
                <a:solidFill>
                  <a:schemeClr val="tx1"/>
                </a:solidFill>
                <a:latin typeface="Tahoma" panose="020B0604030504040204"/>
                <a:ea typeface="Arial" panose="020B0604020202020204" pitchFamily="34" charset="0"/>
                <a:cs typeface="Tahoma" panose="020B0604030504040204"/>
              </a:rPr>
              <a:t>Integration &amp; Wrap-up</a:t>
            </a:r>
            <a:endParaRPr lang="en-US" altLang="en-US" sz="4500">
              <a:solidFill>
                <a:schemeClr val="tx1"/>
              </a:solidFill>
              <a:latin typeface="Tahoma" panose="020B0604030504040204"/>
              <a:ea typeface="Arial" panose="020B0604020202020204" pitchFamily="34" charset="0"/>
              <a:cs typeface="Tahoma" panose="020B0604030504040204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600" y="4693285"/>
            <a:ext cx="6743065" cy="628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en-US" sz="4000">
                <a:latin typeface="Tahoma" panose="020B0604030504040204"/>
                <a:cs typeface="Tahoma" panose="020B0604030504040204"/>
              </a:rPr>
              <a:t>Integration with TypeScript</a:t>
            </a:r>
            <a:endParaRPr lang="en-US" altLang="en-US" sz="4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7686040" y="4000500"/>
            <a:ext cx="8465820" cy="2044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en-US" sz="4400" spc="-290" dirty="0">
                <a:solidFill>
                  <a:srgbClr val="F15B2A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lang="en-US" altLang="en-US" sz="4400" spc="-270" dirty="0">
                <a:solidFill>
                  <a:srgbClr val="F15B2A"/>
                </a:solidFill>
                <a:latin typeface="Arial Black" panose="020B0A04020102020204"/>
                <a:cs typeface="Arial Black" panose="020B0A04020102020204"/>
              </a:rPr>
              <a:t>RootState</a:t>
            </a:r>
            <a:br>
              <a:rPr lang="en-US" altLang="en-US" sz="4400" spc="-270" dirty="0">
                <a:solidFill>
                  <a:srgbClr val="F15B2A"/>
                </a:solidFill>
                <a:latin typeface="Arial Black" panose="020B0A04020102020204"/>
                <a:cs typeface="Arial Black" panose="020B0A04020102020204"/>
              </a:rPr>
            </a:br>
            <a:br>
              <a:rPr lang="en-US" altLang="en-US" sz="4400" spc="-270" dirty="0">
                <a:solidFill>
                  <a:srgbClr val="F15B2A"/>
                </a:solidFill>
                <a:latin typeface="Arial Black" panose="020B0A04020102020204"/>
                <a:cs typeface="Arial Black" panose="020B0A04020102020204"/>
              </a:rPr>
            </a:br>
            <a:r>
              <a:rPr lang="en-US" altLang="en-US" sz="4400" spc="-270" dirty="0">
                <a:solidFill>
                  <a:srgbClr val="F15B2A"/>
                </a:solidFill>
                <a:latin typeface="Arial Black" panose="020B0A04020102020204"/>
                <a:cs typeface="Arial Black" panose="020B0A04020102020204"/>
              </a:rPr>
              <a:t>AppDispatch</a:t>
            </a:r>
            <a:endParaRPr lang="en-US" altLang="en-US" sz="4400" spc="-270" dirty="0">
              <a:solidFill>
                <a:srgbClr val="F15B2A"/>
              </a:solidFill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9400" y="342900"/>
            <a:ext cx="14864080" cy="1374140"/>
          </a:xfrm>
          <a:prstGeom prst="rect">
            <a:avLst/>
          </a:prstGeom>
        </p:spPr>
        <p:txBody>
          <a:bodyPr vert="horz" wrap="square" lIns="0" tIns="349630" rIns="0" bIns="0" rtlCol="0">
            <a:spAutoFit/>
          </a:bodyPr>
          <a:lstStyle/>
          <a:p>
            <a:pPr marL="3072130" marR="5080" indent="-3015615" algn="ctr">
              <a:lnSpc>
                <a:spcPct val="101000"/>
              </a:lnSpc>
              <a:spcBef>
                <a:spcPts val="25"/>
              </a:spcBef>
            </a:pPr>
            <a:r>
              <a:rPr lang="en-US" altLang="en-US" sz="6600"/>
              <a:t>Testing Redux Logic</a:t>
            </a:r>
            <a:endParaRPr lang="en-US" altLang="en-US" sz="660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</a:fld>
            <a:endParaRPr lang="en-IN"/>
          </a:p>
        </p:txBody>
      </p:sp>
      <p:sp>
        <p:nvSpPr>
          <p:cNvPr id="4" name="Text Box 3"/>
          <p:cNvSpPr txBox="1"/>
          <p:nvPr/>
        </p:nvSpPr>
        <p:spPr>
          <a:xfrm>
            <a:off x="7239000" y="3009900"/>
            <a:ext cx="9147810" cy="4425950"/>
          </a:xfrm>
          <a:prstGeom prst="rect">
            <a:avLst/>
          </a:prstGeom>
        </p:spPr>
        <p:txBody>
          <a:bodyPr wrap="square">
            <a:spAutoFit/>
          </a:bodyPr>
          <a:p>
            <a:pPr marL="1371600" indent="-4572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4000">
                <a:solidFill>
                  <a:schemeClr val="bg2"/>
                </a:solidFill>
                <a:latin typeface="Times New Roman" panose="02020603050405020304"/>
                <a:ea typeface="SimSun" panose="02010600030101010101" pitchFamily="2" charset="-122"/>
              </a:rPr>
              <a:t>Testing Reducers</a:t>
            </a:r>
            <a:endParaRPr lang="en-US" altLang="en-US" sz="4000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1371600" indent="-4572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en-US" sz="4000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1371600" indent="-4572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4000">
                <a:solidFill>
                  <a:schemeClr val="bg2"/>
                </a:solidFill>
                <a:latin typeface="Times New Roman" panose="02020603050405020304"/>
                <a:ea typeface="SimSun" panose="02010600030101010101" pitchFamily="2" charset="-122"/>
              </a:rPr>
              <a:t>Testing Actions</a:t>
            </a:r>
            <a:endParaRPr lang="en-US" altLang="en-US" sz="4000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1371600" indent="-4572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en-US" sz="4000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1371600" indent="-4572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4000">
                <a:solidFill>
                  <a:schemeClr val="bg2"/>
                </a:solidFill>
                <a:latin typeface="Times New Roman" panose="02020603050405020304"/>
                <a:ea typeface="SimSun" panose="02010600030101010101" pitchFamily="2" charset="-122"/>
              </a:rPr>
              <a:t>Testing Selectors</a:t>
            </a:r>
            <a:endParaRPr lang="en-US" altLang="en-US" sz="4000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914400" indent="0" algn="l" defTabSz="266700">
              <a:spcBef>
                <a:spcPts val="500"/>
              </a:spcBef>
              <a:spcAft>
                <a:spcPts val="500"/>
              </a:spcAft>
              <a:buNone/>
            </a:pPr>
            <a:endParaRPr lang="en-US" altLang="en-US" sz="4000" b="1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276600" y="3695700"/>
            <a:ext cx="14474825" cy="4780915"/>
          </a:xfrm>
          <a:prstGeom prst="rect">
            <a:avLst/>
          </a:prstGeom>
        </p:spPr>
        <p:txBody>
          <a:bodyPr vert="horz" wrap="square" lIns="0" tIns="349630" rIns="0" bIns="0" rtlCol="0" anchor="t" anchorCtr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 lvl="0" algn="l">
              <a:spcBef>
                <a:spcPts val="100"/>
              </a:spcBef>
              <a:buClrTx/>
              <a:buSzTx/>
              <a:buFontTx/>
            </a:pPr>
            <a:br>
              <a:rPr lang="en-US" altLang="en-US" sz="3200">
                <a:gradFill>
                  <a:gsLst>
                    <a:gs pos="50000">
                      <a:schemeClr val="accent5"/>
                    </a:gs>
                    <a:gs pos="0">
                      <a:schemeClr val="accent5">
                        <a:lumMod val="25000"/>
                        <a:lumOff val="75000"/>
                      </a:schemeClr>
                    </a:gs>
                    <a:gs pos="100000">
                      <a:schemeClr val="accent5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  <a:sym typeface="+mn-ea"/>
              </a:rPr>
            </a:br>
            <a:r>
              <a:rPr lang="en-US" altLang="en-US" sz="320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Arial Black" panose="020B0A04020102020204"/>
                <a:cs typeface="Arial Black" panose="020B0A04020102020204"/>
                <a:sym typeface="+mn-ea"/>
              </a:rPr>
              <a:t>1. The updateSingleProduct reducer works correctly.</a:t>
            </a:r>
            <a:br>
              <a:rPr lang="en-US" altLang="en-US" sz="320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Arial Black" panose="020B0A04020102020204"/>
                <a:cs typeface="Arial Black" panose="020B0A04020102020204"/>
                <a:sym typeface="+mn-ea"/>
              </a:rPr>
            </a:br>
            <a:br>
              <a:rPr lang="en-US" altLang="en-US" sz="320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Arial Black" panose="020B0A04020102020204"/>
                <a:cs typeface="Arial Black" panose="020B0A04020102020204"/>
                <a:sym typeface="+mn-ea"/>
              </a:rPr>
            </a:br>
            <a:r>
              <a:rPr lang="en-US" altLang="en-US" sz="320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Arial Black" panose="020B0A04020102020204"/>
                <a:cs typeface="Arial Black" panose="020B0A04020102020204"/>
                <a:sym typeface="+mn-ea"/>
              </a:rPr>
              <a:t>2. The selectAllProducts selector correctly extracts data.</a:t>
            </a:r>
            <a:br>
              <a:rPr lang="en-US" altLang="en-US" sz="320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Arial Black" panose="020B0A04020102020204"/>
                <a:cs typeface="Arial Black" panose="020B0A04020102020204"/>
                <a:sym typeface="+mn-ea"/>
              </a:rPr>
            </a:br>
            <a:br>
              <a:rPr lang="en-US" altLang="en-US" sz="320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Arial Black" panose="020B0A04020102020204"/>
                <a:cs typeface="Arial Black" panose="020B0A04020102020204"/>
                <a:sym typeface="+mn-ea"/>
              </a:rPr>
            </a:br>
            <a:r>
              <a:rPr lang="en-US" altLang="en-US" sz="320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Arial Black" panose="020B0A04020102020204"/>
                <a:cs typeface="Arial Black" panose="020B0A04020102020204"/>
                <a:sym typeface="+mn-ea"/>
              </a:rPr>
              <a:t>3. The fetchProducts async thunk dispatches actions and updates the state as expected.</a:t>
            </a:r>
            <a:br>
              <a:rPr lang="en-US" altLang="en-US" sz="3200">
                <a:gradFill>
                  <a:gsLst>
                    <a:gs pos="50000">
                      <a:schemeClr val="accent5"/>
                    </a:gs>
                    <a:gs pos="0">
                      <a:schemeClr val="accent5">
                        <a:lumMod val="25000"/>
                        <a:lumOff val="75000"/>
                      </a:schemeClr>
                    </a:gs>
                    <a:gs pos="100000">
                      <a:schemeClr val="accent5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  <a:sym typeface="+mn-ea"/>
              </a:rPr>
            </a:br>
            <a:br>
              <a:rPr lang="en-US" altLang="en-US" sz="3200">
                <a:gradFill>
                  <a:gsLst>
                    <a:gs pos="50000">
                      <a:schemeClr val="accent5"/>
                    </a:gs>
                    <a:gs pos="0">
                      <a:schemeClr val="accent5">
                        <a:lumMod val="25000"/>
                        <a:lumOff val="75000"/>
                      </a:schemeClr>
                    </a:gs>
                    <a:gs pos="100000">
                      <a:schemeClr val="accent5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  <a:sym typeface="+mn-ea"/>
              </a:rPr>
            </a:br>
            <a:endParaRPr lang="en-US" altLang="en-US" sz="3200">
              <a:gradFill>
                <a:gsLst>
                  <a:gs pos="50000">
                    <a:schemeClr val="accent5"/>
                  </a:gs>
                  <a:gs pos="0">
                    <a:schemeClr val="accent5">
                      <a:lumMod val="25000"/>
                      <a:lumOff val="75000"/>
                    </a:schemeClr>
                  </a:gs>
                  <a:gs pos="100000">
                    <a:schemeClr val="accent5">
                      <a:lumMod val="85000"/>
                    </a:schemeClr>
                  </a:gs>
                </a:gsLst>
                <a:lin ang="5400000" scaled="1"/>
              </a:gradFill>
              <a:latin typeface="Arial Black" panose="020B0A04020102020204"/>
              <a:cs typeface="Arial Black" panose="020B0A04020102020204"/>
              <a:sym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</a:fld>
            <a:endParaRPr lang="en-IN"/>
          </a:p>
        </p:txBody>
      </p:sp>
      <p:sp>
        <p:nvSpPr>
          <p:cNvPr id="7" name="object 2"/>
          <p:cNvSpPr txBox="1">
            <a:spLocks noGrp="1"/>
          </p:cNvSpPr>
          <p:nvPr/>
        </p:nvSpPr>
        <p:spPr>
          <a:xfrm>
            <a:off x="914400" y="342900"/>
            <a:ext cx="14894560" cy="1026160"/>
          </a:xfrm>
          <a:prstGeom prst="rect">
            <a:avLst/>
          </a:prstGeom>
        </p:spPr>
        <p:txBody>
          <a:bodyPr vert="horz" wrap="square" lIns="0" tIns="349630" rIns="0" bIns="0" rtlCol="0" anchor="t" anchorCtr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  <a:buClrTx/>
              <a:buSzTx/>
              <a:buFontTx/>
            </a:pPr>
            <a:r>
              <a:rPr lang="en-US" altLang="en-US" sz="4400">
                <a:gradFill>
                  <a:gsLst>
                    <a:gs pos="50000">
                      <a:schemeClr val="accent5"/>
                    </a:gs>
                    <a:gs pos="0">
                      <a:schemeClr val="accent5">
                        <a:lumMod val="25000"/>
                        <a:lumOff val="75000"/>
                      </a:schemeClr>
                    </a:gs>
                    <a:gs pos="100000">
                      <a:schemeClr val="accent5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</a:rPr>
              <a:t>Hands-on Lab 5.1</a:t>
            </a:r>
            <a:endParaRPr lang="en-US" altLang="en-US" sz="4400">
              <a:gradFill>
                <a:gsLst>
                  <a:gs pos="50000">
                    <a:schemeClr val="accent5"/>
                  </a:gs>
                  <a:gs pos="0">
                    <a:schemeClr val="accent5">
                      <a:lumMod val="25000"/>
                      <a:lumOff val="75000"/>
                    </a:schemeClr>
                  </a:gs>
                  <a:gs pos="100000">
                    <a:schemeClr val="accent5">
                      <a:lumMod val="85000"/>
                    </a:schemeClr>
                  </a:gs>
                </a:gsLst>
                <a:lin ang="5400000" scaled="1"/>
              </a:gradFill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2" name="object 4"/>
          <p:cNvSpPr txBox="1">
            <a:spLocks noGrp="1"/>
          </p:cNvSpPr>
          <p:nvPr/>
        </p:nvSpPr>
        <p:spPr>
          <a:xfrm>
            <a:off x="381000" y="3009900"/>
            <a:ext cx="14474825" cy="841375"/>
          </a:xfrm>
          <a:prstGeom prst="rect">
            <a:avLst/>
          </a:prstGeom>
        </p:spPr>
        <p:txBody>
          <a:bodyPr vert="horz" wrap="square" lIns="0" tIns="349630" rIns="0" bIns="0" rtlCol="0" anchor="t" anchorCtr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 lvl="0" algn="l">
              <a:spcBef>
                <a:spcPts val="100"/>
              </a:spcBef>
              <a:buClrTx/>
              <a:buSzTx/>
              <a:buFontTx/>
            </a:pPr>
            <a:r>
              <a:rPr lang="en-US" altLang="en-US" sz="3200">
                <a:gradFill>
                  <a:gsLst>
                    <a:gs pos="50000">
                      <a:schemeClr val="accent5"/>
                    </a:gs>
                    <a:gs pos="0">
                      <a:schemeClr val="accent5">
                        <a:lumMod val="25000"/>
                        <a:lumOff val="75000"/>
                      </a:schemeClr>
                    </a:gs>
                    <a:gs pos="100000">
                      <a:schemeClr val="accent5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  <a:sym typeface="+mn-ea"/>
              </a:rPr>
              <a:t>Testing Redux logic (reducers, selectors, and thunks).</a:t>
            </a:r>
            <a:endParaRPr lang="en-US" altLang="en-US" sz="3200">
              <a:gradFill>
                <a:gsLst>
                  <a:gs pos="50000">
                    <a:schemeClr val="accent5"/>
                  </a:gs>
                  <a:gs pos="0">
                    <a:schemeClr val="accent5">
                      <a:lumMod val="25000"/>
                      <a:lumOff val="75000"/>
                    </a:schemeClr>
                  </a:gs>
                  <a:gs pos="100000">
                    <a:schemeClr val="accent5">
                      <a:lumMod val="85000"/>
                    </a:schemeClr>
                  </a:gs>
                </a:gsLst>
                <a:lin ang="5400000" scaled="1"/>
              </a:gradFill>
              <a:latin typeface="Arial Black" panose="020B0A04020102020204"/>
              <a:cs typeface="Arial Black" panose="020B0A04020102020204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0400" y="342900"/>
            <a:ext cx="14864080" cy="1374140"/>
          </a:xfrm>
          <a:prstGeom prst="rect">
            <a:avLst/>
          </a:prstGeom>
        </p:spPr>
        <p:txBody>
          <a:bodyPr vert="horz" wrap="square" lIns="0" tIns="349630" rIns="0" bIns="0" rtlCol="0">
            <a:spAutoFit/>
          </a:bodyPr>
          <a:lstStyle/>
          <a:p>
            <a:pPr marL="3072130" marR="5080" indent="-3015615" algn="ctr">
              <a:lnSpc>
                <a:spcPct val="101000"/>
              </a:lnSpc>
              <a:spcBef>
                <a:spcPts val="25"/>
              </a:spcBef>
            </a:pPr>
            <a:r>
              <a:rPr lang="en-US" altLang="en-US" sz="6600"/>
              <a:t>Key Benefits of Redux Toolkit</a:t>
            </a:r>
            <a:endParaRPr lang="en-US" altLang="en-US" sz="660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</a:fld>
            <a:endParaRPr lang="en-IN"/>
          </a:p>
        </p:txBody>
      </p:sp>
      <p:sp>
        <p:nvSpPr>
          <p:cNvPr id="4" name="Text Box 3"/>
          <p:cNvSpPr txBox="1"/>
          <p:nvPr/>
        </p:nvSpPr>
        <p:spPr>
          <a:xfrm>
            <a:off x="4648200" y="2287270"/>
            <a:ext cx="13037185" cy="6465570"/>
          </a:xfrm>
          <a:prstGeom prst="rect">
            <a:avLst/>
          </a:prstGeom>
        </p:spPr>
        <p:txBody>
          <a:bodyPr wrap="square">
            <a:noAutofit/>
          </a:bodyPr>
          <a:p>
            <a:pPr marL="1485900" indent="-5715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4000" b="1">
                <a:solidFill>
                  <a:schemeClr val="bg2"/>
                </a:solidFill>
                <a:latin typeface="Times New Roman" panose="02020603050405020304"/>
                <a:ea typeface="SimSun" panose="02010600030101010101" pitchFamily="2" charset="-122"/>
              </a:rPr>
              <a:t>configureStore</a:t>
            </a:r>
            <a:endParaRPr lang="en-US" altLang="en-US" sz="4000" b="1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1485900" indent="-5715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en-US" sz="4000" b="1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1371600" indent="-4572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4000" b="1">
                <a:solidFill>
                  <a:schemeClr val="bg2"/>
                </a:solidFill>
                <a:latin typeface="Times New Roman" panose="02020603050405020304"/>
                <a:ea typeface="SimSun" panose="02010600030101010101" pitchFamily="2" charset="-122"/>
              </a:rPr>
              <a:t>createSlice</a:t>
            </a:r>
            <a:endParaRPr lang="en-US" altLang="en-US" sz="4000" b="1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1371600" indent="-4572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en-US" sz="4000" b="1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1371600" indent="-4572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4000" b="1">
                <a:solidFill>
                  <a:schemeClr val="bg2"/>
                </a:solidFill>
                <a:latin typeface="Times New Roman" panose="02020603050405020304"/>
                <a:ea typeface="SimSun" panose="02010600030101010101" pitchFamily="2" charset="-122"/>
              </a:rPr>
              <a:t>createAsyncThunk</a:t>
            </a:r>
            <a:endParaRPr lang="en-US" altLang="en-US" sz="4000" b="1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1371600" indent="-4572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en-US" sz="4000" b="1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1371600" indent="-4572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4000" b="1">
                <a:solidFill>
                  <a:schemeClr val="bg2"/>
                </a:solidFill>
                <a:latin typeface="Times New Roman" panose="02020603050405020304"/>
                <a:ea typeface="SimSun" panose="02010600030101010101" pitchFamily="2" charset="-122"/>
              </a:rPr>
              <a:t>createEntityAdapter</a:t>
            </a:r>
            <a:endParaRPr lang="en-US" altLang="en-US" sz="4000" b="1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1371600" indent="-4572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en-US" sz="4000" b="1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1371600" indent="-4572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4000" b="1">
                <a:solidFill>
                  <a:schemeClr val="bg2"/>
                </a:solidFill>
                <a:latin typeface="Times New Roman" panose="02020603050405020304"/>
                <a:ea typeface="SimSun" panose="02010600030101010101" pitchFamily="2" charset="-122"/>
              </a:rPr>
              <a:t>RTK Query</a:t>
            </a:r>
            <a:endParaRPr lang="en-US" altLang="en-US" sz="4000" b="1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0400" y="342900"/>
            <a:ext cx="14864080" cy="1374140"/>
          </a:xfrm>
          <a:prstGeom prst="rect">
            <a:avLst/>
          </a:prstGeom>
        </p:spPr>
        <p:txBody>
          <a:bodyPr vert="horz" wrap="square" lIns="0" tIns="349630" rIns="0" bIns="0" rtlCol="0">
            <a:spAutoFit/>
          </a:bodyPr>
          <a:lstStyle/>
          <a:p>
            <a:pPr marL="3072130" marR="5080" indent="-3015615" algn="ctr">
              <a:lnSpc>
                <a:spcPct val="101000"/>
              </a:lnSpc>
              <a:spcBef>
                <a:spcPts val="25"/>
              </a:spcBef>
            </a:pPr>
            <a:r>
              <a:rPr lang="en-US" altLang="en-US" sz="6600"/>
              <a:t>Common Questions and Challenges</a:t>
            </a:r>
            <a:endParaRPr lang="en-US" altLang="en-US" sz="660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</a:fld>
            <a:endParaRPr lang="en-IN"/>
          </a:p>
        </p:txBody>
      </p:sp>
      <p:sp>
        <p:nvSpPr>
          <p:cNvPr id="4" name="Text Box 3"/>
          <p:cNvSpPr txBox="1"/>
          <p:nvPr/>
        </p:nvSpPr>
        <p:spPr>
          <a:xfrm>
            <a:off x="2590800" y="2552700"/>
            <a:ext cx="13965555" cy="4425950"/>
          </a:xfrm>
          <a:prstGeom prst="rect">
            <a:avLst/>
          </a:prstGeom>
        </p:spPr>
        <p:txBody>
          <a:bodyPr wrap="square">
            <a:spAutoFit/>
          </a:bodyPr>
          <a:p>
            <a:pPr marL="914400" indent="0" algn="l" defTabSz="266700">
              <a:spcBef>
                <a:spcPts val="500"/>
              </a:spcBef>
              <a:spcAft>
                <a:spcPts val="500"/>
              </a:spcAft>
              <a:buNone/>
            </a:pPr>
            <a:endParaRPr lang="en-US" altLang="en-US" sz="4000" b="1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2571750" lvl="2" indent="-74295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AutoNum type="arabicPeriod"/>
            </a:pPr>
            <a:r>
              <a:rPr lang="en-US" altLang="en-US" sz="4000" b="1">
                <a:solidFill>
                  <a:schemeClr val="bg2"/>
                </a:solidFill>
                <a:latin typeface="Times New Roman" panose="02020603050405020304"/>
                <a:ea typeface="SimSun" panose="02010600030101010101" pitchFamily="2" charset="-122"/>
              </a:rPr>
              <a:t>When should I use Redux vs. React's Context API?</a:t>
            </a:r>
            <a:endParaRPr lang="en-US" altLang="en-US" sz="4000" b="1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2571750" lvl="2" indent="-74295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AutoNum type="arabicPeriod"/>
            </a:pPr>
            <a:endParaRPr lang="en-US" altLang="en-US" sz="4000" b="1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2571750" lvl="2" indent="-742950" algn="l" defTabSz="266700">
              <a:spcBef>
                <a:spcPts val="500"/>
              </a:spcBef>
              <a:spcAft>
                <a:spcPts val="500"/>
              </a:spcAft>
              <a:buFont typeface="+mj-lt"/>
              <a:buAutoNum type="arabicPeriod"/>
            </a:pPr>
            <a:r>
              <a:rPr kumimoji="0" lang="en-US" altLang="en-US" sz="4000" b="1" i="0" u="none" strike="noStrike" kern="0" cap="none" spc="0" normalizeH="0" baseline="0" noProof="1">
                <a:solidFill>
                  <a:schemeClr val="bg2"/>
                </a:solidFill>
                <a:latin typeface="Times New Roman" panose="02020603050405020304"/>
                <a:ea typeface="SimSun" panose="02010600030101010101" pitchFamily="2" charset="-122"/>
                <a:cs typeface="+mn-ea"/>
              </a:rPr>
              <a:t>How do I manage side effects that aren't API calls?</a:t>
            </a:r>
            <a:endParaRPr kumimoji="0" lang="en-US" altLang="en-US" sz="4000" b="1" i="0" u="none" strike="noStrike" kern="0" cap="none" spc="0" normalizeH="0" baseline="0" noProof="1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  <a:cs typeface="+mn-ea"/>
            </a:endParaRPr>
          </a:p>
          <a:p>
            <a:pPr marL="2571750" lvl="2" indent="-74295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AutoNum type="arabicPeriod"/>
            </a:pPr>
            <a:endParaRPr kumimoji="0" lang="en-US" altLang="en-US" sz="4000" b="1" i="0" u="none" strike="noStrike" kern="0" cap="none" spc="0" normalizeH="0" baseline="0" noProof="1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  <a:cs typeface="+mn-ea"/>
            </a:endParaRPr>
          </a:p>
          <a:p>
            <a:pPr marL="2571750" lvl="2" indent="-74295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AutoNum type="arabicPeriod"/>
            </a:pPr>
            <a:r>
              <a:rPr lang="en-US" altLang="en-US" sz="4000" b="1">
                <a:solidFill>
                  <a:schemeClr val="bg2"/>
                </a:solidFill>
                <a:latin typeface="Times New Roman" panose="02020603050405020304"/>
                <a:ea typeface="SimSun" panose="02010600030101010101" pitchFamily="2" charset="-122"/>
              </a:rPr>
              <a:t>What's the best way to handle forms with Redux?</a:t>
            </a:r>
            <a:endParaRPr lang="en-US" altLang="en-US" sz="4000" b="1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8800" y="3771900"/>
            <a:ext cx="14862175" cy="1243330"/>
          </a:xfrm>
          <a:prstGeom prst="rect">
            <a:avLst/>
          </a:prstGeom>
        </p:spPr>
        <p:txBody>
          <a:bodyPr vert="horz" wrap="square" lIns="0" tIns="508508" rIns="0" bIns="0" rtlCol="0">
            <a:spAutoFit/>
          </a:bodyPr>
          <a:lstStyle/>
          <a:p>
            <a:pPr algn="ctr">
              <a:lnSpc>
                <a:spcPts val="5735"/>
              </a:lnSpc>
              <a:spcBef>
                <a:spcPts val="100"/>
              </a:spcBef>
            </a:pPr>
            <a:r>
              <a:rPr lang="en-US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101600">
                    <a:schemeClr val="accent5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</a:rPr>
              <a:t>Thank You!</a:t>
            </a:r>
            <a:endParaRPr lang="en-US" sz="660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glow rad="101600">
                  <a:schemeClr val="accent5">
                    <a:satMod val="175000"/>
                    <a:alpha val="40000"/>
                  </a:schemeClr>
                </a:glow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0404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703</Words>
  <Application>WPS Presentation</Application>
  <PresentationFormat>Custom</PresentationFormat>
  <Paragraphs>57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1" baseType="lpstr">
      <vt:lpstr>Arial</vt:lpstr>
      <vt:lpstr>SimSun</vt:lpstr>
      <vt:lpstr>Wingdings</vt:lpstr>
      <vt:lpstr>Arial MT</vt:lpstr>
      <vt:lpstr>Arial Black</vt:lpstr>
      <vt:lpstr>Tahoma</vt:lpstr>
      <vt:lpstr>Times New Roman</vt:lpstr>
      <vt:lpstr>Wingdings</vt:lpstr>
      <vt:lpstr>Microsoft YaHei</vt:lpstr>
      <vt:lpstr>Arial Unicode MS</vt:lpstr>
      <vt:lpstr>Aptos</vt:lpstr>
      <vt:lpstr>Segoe UI</vt:lpstr>
      <vt:lpstr>Calibri</vt:lpstr>
      <vt:lpstr>Office Theme</vt:lpstr>
      <vt:lpstr>Advanced Concepts &amp; Best Practices</vt:lpstr>
      <vt:lpstr> The problem with nested data from APIs  The Solution: Normalization  createEntityAdapter</vt:lpstr>
      <vt:lpstr>Code Structure &amp; Organization</vt:lpstr>
      <vt:lpstr>We'll focus on testing the productsSlice by verifying that:  The updateSingleProduct reducer works correctly.  The selectAllProducts selector correctly extracts data.  The fetchProducts async thunk dispatches actions and updates the state as expected.  </vt:lpstr>
      <vt:lpstr>Folder-by-Type</vt:lpstr>
      <vt:lpstr>Middleware and Store Configuration</vt:lpstr>
      <vt:lpstr>Integration &amp; Wrap-up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Steve Sam</cp:lastModifiedBy>
  <cp:revision>27</cp:revision>
  <dcterms:created xsi:type="dcterms:W3CDTF">2024-10-25T14:24:00Z</dcterms:created>
  <dcterms:modified xsi:type="dcterms:W3CDTF">2025-09-21T06:56:33Z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2022-08-30T09:00:00Z</vt:filetime>
  </property>
  <property fmtid="{D5CDD505-2E9C-101B-9397-08002B2CF9AE}" pid="3" name="LastSaved">
    <vt:filetime>2024-10-26T09:00:00Z</vt:filetime>
  </property>
  <property fmtid="{D5CDD505-2E9C-101B-9397-08002B2CF9AE}" pid="4" name="Producer">
    <vt:lpwstr>macOS Version 11.6.8 (Build 20G730) Quartz PDFContext</vt:lpwstr>
  </property>
  <property fmtid="{D5CDD505-2E9C-101B-9397-08002B2CF9AE}" pid="5" name="ICV">
    <vt:lpwstr>8FC22B2F2FB2404283AF29D55C84BB11_12</vt:lpwstr>
  </property>
  <property fmtid="{D5CDD505-2E9C-101B-9397-08002B2CF9AE}" pid="6" name="KSOProductBuildVer">
    <vt:lpwstr>1033-12.2.0.22549</vt:lpwstr>
  </property>
</Properties>
</file>